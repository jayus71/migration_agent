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5925800" cy="896302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4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Input panel background">
            <a:extLst>
              <a:ext uri="{FF2B5EF4-FFF2-40B4-BE49-F238E27FC236}">
                <a16:creationId xmlns:a16="http://schemas.microsoft.com/office/drawing/2014/main" id="{A7195936-7FB3-44C1-8AF9-673F8C9E1695}"/>
              </a:ext>
            </a:extLst>
          </p:cNvPr>
          <p:cNvSpPr>
            <a:spLocks noGrp="1"/>
          </p:cNvSpPr>
          <p:nvPr/>
        </p:nvSpPr>
        <p:spPr>
          <a:xfrm>
            <a:off x="171450" y="457200"/>
            <a:ext cx="3143250" cy="8086725"/>
          </a:xfrm>
          <a:prstGeom prst="roundRect">
            <a:avLst>
              <a:gd name="adj" fmla="val 6364"/>
            </a:avLst>
          </a:prstGeom>
          <a:gradFill>
            <a:gsLst>
              <a:gs pos="0">
                <a:srgbClr val="F1F6F9"/>
              </a:gs>
              <a:gs pos="100000">
                <a:srgbClr val="EAF1F5"/>
              </a:gs>
            </a:gsLst>
            <a:lin ang="5400000"/>
          </a:gradFill>
          <a:ln w="28575">
            <a:solidFill>
              <a:srgbClr val="C7D5E1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" name="MARS outer frame">
            <a:extLst>
              <a:ext uri="{FF2B5EF4-FFF2-40B4-BE49-F238E27FC236}">
                <a16:creationId xmlns:a16="http://schemas.microsoft.com/office/drawing/2014/main" id="{E0F51AE0-5C68-407D-9494-8841422C4C17}"/>
              </a:ext>
            </a:extLst>
          </p:cNvPr>
          <p:cNvSpPr>
            <a:spLocks noGrp="1"/>
          </p:cNvSpPr>
          <p:nvPr/>
        </p:nvSpPr>
        <p:spPr>
          <a:xfrm>
            <a:off x="3476625" y="457200"/>
            <a:ext cx="8972550" cy="8086725"/>
          </a:xfrm>
          <a:prstGeom prst="roundRect">
            <a:avLst>
              <a:gd name="adj" fmla="val 5654"/>
            </a:avLst>
          </a:prstGeom>
          <a:gradFill>
            <a:gsLst>
              <a:gs pos="0">
                <a:srgbClr val="F3FAFF"/>
              </a:gs>
              <a:gs pos="100000">
                <a:srgbClr val="E4F3FD"/>
              </a:gs>
            </a:gsLst>
            <a:lin ang="5400000"/>
          </a:gradFill>
          <a:ln w="38100">
            <a:solidFill>
              <a:srgbClr val="6EAAD0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Target frameworks background">
            <a:extLst>
              <a:ext uri="{FF2B5EF4-FFF2-40B4-BE49-F238E27FC236}">
                <a16:creationId xmlns:a16="http://schemas.microsoft.com/office/drawing/2014/main" id="{12858877-FE9D-4C87-A6F7-C20AC24DDA30}"/>
              </a:ext>
            </a:extLst>
          </p:cNvPr>
          <p:cNvSpPr>
            <a:spLocks noGrp="1"/>
          </p:cNvSpPr>
          <p:nvPr/>
        </p:nvSpPr>
        <p:spPr>
          <a:xfrm>
            <a:off x="12611100" y="457200"/>
            <a:ext cx="3143250" cy="5972175"/>
          </a:xfrm>
          <a:prstGeom prst="roundRect">
            <a:avLst>
              <a:gd name="adj" fmla="val 7273"/>
            </a:avLst>
          </a:prstGeom>
          <a:gradFill>
            <a:gsLst>
              <a:gs pos="0">
                <a:srgbClr val="D9EEEE"/>
              </a:gs>
              <a:gs pos="100000">
                <a:srgbClr val="CFE7E8"/>
              </a:gs>
            </a:gsLst>
            <a:lin ang="5400000"/>
          </a:gradFill>
          <a:ln w="23813">
            <a:solidFill>
              <a:srgbClr val="96CBD1"/>
            </a:solidFill>
          </a:ln>
        </p:spPr>
      </p:sp>
      <p:sp>
        <p:nvSpPr>
          <p:cNvPr id="4" name="Verified output background">
            <a:extLst>
              <a:ext uri="{FF2B5EF4-FFF2-40B4-BE49-F238E27FC236}">
                <a16:creationId xmlns:a16="http://schemas.microsoft.com/office/drawing/2014/main" id="{1175541F-EF3F-4636-831A-157C70178D29}"/>
              </a:ext>
            </a:extLst>
          </p:cNvPr>
          <p:cNvSpPr>
            <a:spLocks noGrp="1"/>
          </p:cNvSpPr>
          <p:nvPr/>
        </p:nvSpPr>
        <p:spPr>
          <a:xfrm>
            <a:off x="12620625" y="6743700"/>
            <a:ext cx="3133725" cy="1800225"/>
          </a:xfrm>
          <a:prstGeom prst="roundRect">
            <a:avLst>
              <a:gd name="adj" fmla="val 13260"/>
            </a:avLst>
          </a:prstGeom>
          <a:gradFill>
            <a:gsLst>
              <a:gs pos="0">
                <a:srgbClr val="F2FCF7"/>
              </a:gs>
              <a:gs pos="100000">
                <a:srgbClr val="EAF6F2"/>
              </a:gs>
            </a:gsLst>
            <a:lin ang="5400000"/>
          </a:gradFill>
          <a:ln w="23813">
            <a:solidFill>
              <a:srgbClr val="A2CFD1"/>
            </a:solidFill>
          </a:ln>
        </p:spPr>
      </p:sp>
      <p:grpSp>
        <p:nvGrpSpPr>
          <p:cNvPr id="359" name="System title"/>
          <p:cNvGrpSpPr/>
          <p:nvPr/>
        </p:nvGrpSpPr>
        <p:grpSpPr>
          <a:xfrm>
            <a:off x="3924300" y="542925"/>
            <a:ext cx="8321675" cy="619125"/>
            <a:chOff x="3924300" y="542925"/>
            <a:chExt cx="8321675" cy="619125"/>
          </a:xfrm>
        </p:grpSpPr>
        <p:sp>
          <p:nvSpPr>
            <p:cNvPr id="5" name="MARS wordmark">
              <a:extLst>
                <a:ext uri="{FF2B5EF4-FFF2-40B4-BE49-F238E27FC236}">
                  <a16:creationId xmlns:a16="http://schemas.microsoft.com/office/drawing/2014/main" id="{F92088E2-B9C0-477D-AA7B-63B9BC1874FE}"/>
                </a:ext>
              </a:extLst>
            </p:cNvPr>
            <p:cNvSpPr>
              <a:spLocks noGrp="1"/>
            </p:cNvSpPr>
            <p:nvPr/>
          </p:nvSpPr>
          <p:spPr>
            <a:xfrm>
              <a:off x="3924300" y="542925"/>
              <a:ext cx="1704975" cy="619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4200" b="1">
                  <a:solidFill>
                    <a:srgbClr val="06345A"/>
                  </a:solidFill>
                  <a:latin typeface="Arial Black"/>
                  <a:ea typeface="Arial Black"/>
                  <a:cs typeface="Arial Black"/>
                </a:defRPr>
              </a:pPr>
              <a:r>
                <a:rPr sz="4200" b="1">
                  <a:solidFill>
                    <a:srgbClr val="06345A"/>
                  </a:solidFill>
                  <a:latin typeface="Times New Roman" panose="02020603050405020304" pitchFamily="18" charset="0"/>
                  <a:ea typeface="Arial Black"/>
                  <a:cs typeface="Times New Roman" panose="02020603050405020304" pitchFamily="18" charset="0"/>
                </a:rPr>
                <a:t>MARS</a:t>
              </a:r>
            </a:p>
          </p:txBody>
        </p:sp>
        <p:sp>
          <p:nvSpPr>
            <p:cNvPr id="6" name="System full name">
              <a:extLst>
                <a:ext uri="{FF2B5EF4-FFF2-40B4-BE49-F238E27FC236}">
                  <a16:creationId xmlns:a16="http://schemas.microsoft.com/office/drawing/2014/main" id="{F3EB9810-B0BC-4C35-960E-F055D512CC7F}"/>
                </a:ext>
              </a:extLst>
            </p:cNvPr>
            <p:cNvSpPr>
              <a:spLocks noGrp="1"/>
            </p:cNvSpPr>
            <p:nvPr/>
          </p:nvSpPr>
          <p:spPr>
            <a:xfrm>
              <a:off x="5695950" y="723900"/>
              <a:ext cx="3228975" cy="3714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2100" b="1">
                  <a:solidFill>
                    <a:srgbClr val="0B2A60"/>
                  </a:solidFill>
                  <a:latin typeface="Arial Narrow"/>
                  <a:ea typeface="Arial Narrow"/>
                  <a:cs typeface="Arial Narrow"/>
                </a:defRPr>
              </a:pPr>
              <a:r>
                <a:rPr sz="2100" b="1">
                  <a:solidFill>
                    <a:srgbClr val="0B2A60"/>
                  </a:solidFill>
                  <a:latin typeface="Times New Roman" panose="02020603050405020304" pitchFamily="18" charset="0"/>
                  <a:ea typeface="Arial Narrow"/>
                  <a:cs typeface="Times New Roman" panose="02020603050405020304" pitchFamily="18" charset="0"/>
                </a:rPr>
                <a:t>Multi-Agent Repair System</a:t>
              </a:r>
            </a:p>
          </p:txBody>
        </p:sp>
        <p:sp>
          <p:nvSpPr>
            <p:cNvPr id="7" name="Migration subtitle border">
              <a:extLst>
                <a:ext uri="{FF2B5EF4-FFF2-40B4-BE49-F238E27FC236}">
                  <a16:creationId xmlns:a16="http://schemas.microsoft.com/office/drawing/2014/main" id="{D4C22664-A0A4-4368-96BD-88FBDF1ADAC3}"/>
                </a:ext>
              </a:extLst>
            </p:cNvPr>
            <p:cNvSpPr>
              <a:spLocks noGrp="1"/>
            </p:cNvSpPr>
            <p:nvPr/>
          </p:nvSpPr>
          <p:spPr>
            <a:xfrm>
              <a:off x="8963025" y="695325"/>
              <a:ext cx="3282950" cy="361950"/>
            </a:xfrm>
            <a:prstGeom prst="roundRect">
              <a:avLst>
                <a:gd name="adj" fmla="val 34211"/>
              </a:avLst>
            </a:prstGeom>
            <a:solidFill>
              <a:srgbClr val="F1F8FE"/>
            </a:solidFill>
            <a:ln w="14288">
              <a:solidFill>
                <a:srgbClr val="BACFE2"/>
              </a:solidFill>
            </a:ln>
          </p:spPr>
        </p:sp>
        <p:sp>
          <p:nvSpPr>
            <p:cNvPr id="8" name="Migration subtitle">
              <a:extLst>
                <a:ext uri="{FF2B5EF4-FFF2-40B4-BE49-F238E27FC236}">
                  <a16:creationId xmlns:a16="http://schemas.microsoft.com/office/drawing/2014/main" id="{5E3AEB1F-3C81-4F6B-A926-54E18172AF52}"/>
                </a:ext>
              </a:extLst>
            </p:cNvPr>
            <p:cNvSpPr>
              <a:spLocks noGrp="1"/>
            </p:cNvSpPr>
            <p:nvPr/>
          </p:nvSpPr>
          <p:spPr>
            <a:xfrm>
              <a:off x="9077325" y="781050"/>
              <a:ext cx="3082925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>
                <a:defRPr sz="1275" b="0">
                  <a:solidFill>
                    <a:srgbClr val="0A2455"/>
                  </a:solidFill>
                  <a:latin typeface="Arial Narrow"/>
                  <a:ea typeface="Arial Narrow"/>
                  <a:cs typeface="Arial Narrow"/>
                </a:defRPr>
              </a:pPr>
              <a:r>
                <a:rPr sz="1275" b="0" dirty="0">
                  <a:solidFill>
                    <a:srgbClr val="0A2455"/>
                  </a:solidFill>
                  <a:latin typeface="Times New Roman" panose="02020603050405020304" pitchFamily="18" charset="0"/>
                  <a:ea typeface="Arial Narrow"/>
                  <a:cs typeface="Times New Roman" panose="02020603050405020304" pitchFamily="18" charset="0"/>
                </a:rPr>
                <a:t>Iterative Repair for Cross-Framework Migration</a:t>
              </a:r>
            </a:p>
          </p:txBody>
        </p:sp>
      </p:grpSp>
      <p:pic>
        <p:nvPicPr>
          <p:cNvPr id="375" name="pytorch official logo" descr="https://raw.githubusercontent.com/pytorch/pytorch/main/docs/source/_static/img/pytorch-logo-dark.svg | Original SVG bytes; proportional crop of the official symbol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231310" y="647700"/>
            <a:ext cx="390525" cy="475620"/>
          </a:xfrm>
          <a:prstGeom prst="rect">
            <a:avLst/>
          </a:prstGeom>
        </p:spPr>
      </p:pic>
      <p:sp>
        <p:nvSpPr>
          <p:cNvPr id="10" name="Input title">
            <a:extLst>
              <a:ext uri="{FF2B5EF4-FFF2-40B4-BE49-F238E27FC236}">
                <a16:creationId xmlns:a16="http://schemas.microsoft.com/office/drawing/2014/main" id="{AEFF93D4-57D7-4904-A9FF-6F3772C03327}"/>
              </a:ext>
            </a:extLst>
          </p:cNvPr>
          <p:cNvSpPr>
            <a:spLocks noGrp="1"/>
          </p:cNvSpPr>
          <p:nvPr/>
        </p:nvSpPr>
        <p:spPr>
          <a:xfrm>
            <a:off x="745660" y="771525"/>
            <a:ext cx="239077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1">
                <a:solidFill>
                  <a:srgbClr val="091322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 dirty="0">
                <a:solidFill>
                  <a:srgbClr val="091322"/>
                </a:solidFill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</a:rPr>
              <a:t>Input: </a:t>
            </a:r>
            <a:r>
              <a:rPr sz="1875" b="1" dirty="0" err="1">
                <a:solidFill>
                  <a:srgbClr val="091322"/>
                </a:solidFill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</a:rPr>
              <a:t>PyTorch</a:t>
            </a:r>
            <a:r>
              <a:rPr sz="1875" b="1" dirty="0">
                <a:solidFill>
                  <a:srgbClr val="091322"/>
                </a:solidFill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</a:rPr>
              <a:t> Program</a:t>
            </a:r>
          </a:p>
        </p:txBody>
      </p:sp>
      <p:sp>
        <p:nvSpPr>
          <p:cNvPr id="11" name="Source program card">
            <a:extLst>
              <a:ext uri="{FF2B5EF4-FFF2-40B4-BE49-F238E27FC236}">
                <a16:creationId xmlns:a16="http://schemas.microsoft.com/office/drawing/2014/main" id="{3BC0C808-11C7-47A3-8FEC-249D97D84518}"/>
              </a:ext>
            </a:extLst>
          </p:cNvPr>
          <p:cNvSpPr>
            <a:spLocks noGrp="1"/>
          </p:cNvSpPr>
          <p:nvPr/>
        </p:nvSpPr>
        <p:spPr>
          <a:xfrm>
            <a:off x="304800" y="1209675"/>
            <a:ext cx="2876550" cy="5305425"/>
          </a:xfrm>
          <a:prstGeom prst="roundRect">
            <a:avLst>
              <a:gd name="adj" fmla="val 3974"/>
            </a:avLst>
          </a:prstGeom>
          <a:solidFill>
            <a:srgbClr val="FCFEFF"/>
          </a:solidFill>
          <a:ln w="17145">
            <a:solidFill>
              <a:srgbClr val="CDDCE7"/>
            </a:solidFill>
          </a:ln>
        </p:spPr>
      </p:sp>
      <p:sp>
        <p:nvSpPr>
          <p:cNvPr id="12" name="Source program heading">
            <a:extLst>
              <a:ext uri="{FF2B5EF4-FFF2-40B4-BE49-F238E27FC236}">
                <a16:creationId xmlns:a16="http://schemas.microsoft.com/office/drawing/2014/main" id="{B7FA53B9-FA75-4FC8-BD19-D8BF27EA042B}"/>
              </a:ext>
            </a:extLst>
          </p:cNvPr>
          <p:cNvSpPr>
            <a:spLocks noGrp="1"/>
          </p:cNvSpPr>
          <p:nvPr/>
        </p:nvSpPr>
        <p:spPr>
          <a:xfrm>
            <a:off x="447675" y="1295400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575" b="1">
                <a:solidFill>
                  <a:srgbClr val="091322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1">
                <a:solidFill>
                  <a:srgbClr val="091322"/>
                </a:solidFill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</a:rPr>
              <a:t>Source Program (PyTorch)</a:t>
            </a:r>
          </a:p>
        </p:txBody>
      </p:sp>
      <p:sp>
        <p:nvSpPr>
          <p:cNvPr id="13" name="Source code well">
            <a:extLst>
              <a:ext uri="{FF2B5EF4-FFF2-40B4-BE49-F238E27FC236}">
                <a16:creationId xmlns:a16="http://schemas.microsoft.com/office/drawing/2014/main" id="{67AAC538-6906-45B8-8A5A-A84A1107E6C5}"/>
              </a:ext>
            </a:extLst>
          </p:cNvPr>
          <p:cNvSpPr>
            <a:spLocks noGrp="1"/>
          </p:cNvSpPr>
          <p:nvPr/>
        </p:nvSpPr>
        <p:spPr>
          <a:xfrm>
            <a:off x="400050" y="1562100"/>
            <a:ext cx="2686050" cy="4838700"/>
          </a:xfrm>
          <a:prstGeom prst="roundRect">
            <a:avLst>
              <a:gd name="adj" fmla="val 3546"/>
            </a:avLst>
          </a:prstGeom>
          <a:gradFill>
            <a:gsLst>
              <a:gs pos="0">
                <a:srgbClr val="F5F7F9"/>
              </a:gs>
              <a:gs pos="100000">
                <a:srgbClr val="F2F5F7"/>
              </a:gs>
            </a:gsLst>
            <a:lin ang="5400000"/>
          </a:gradFill>
          <a:ln w="0">
            <a:noFill/>
          </a:ln>
        </p:spPr>
      </p:sp>
      <p:sp>
        <p:nvSpPr>
          <p:cNvPr id="14" name="PyTorch source line 1">
            <a:extLst>
              <a:ext uri="{FF2B5EF4-FFF2-40B4-BE49-F238E27FC236}">
                <a16:creationId xmlns:a16="http://schemas.microsoft.com/office/drawing/2014/main" id="{19B7AA75-11C2-439E-B9DF-195E14B878B7}"/>
              </a:ext>
            </a:extLst>
          </p:cNvPr>
          <p:cNvSpPr>
            <a:spLocks noGrp="1"/>
          </p:cNvSpPr>
          <p:nvPr/>
        </p:nvSpPr>
        <p:spPr>
          <a:xfrm>
            <a:off x="567421" y="1657350"/>
            <a:ext cx="25812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88" b="0">
                <a:solidFill>
                  <a:srgbClr val="131846"/>
                </a:solidFill>
                <a:latin typeface="Consolas"/>
                <a:ea typeface="Consolas"/>
                <a:cs typeface="Consolas"/>
              </a:defRPr>
            </a:pPr>
            <a:r>
              <a:rPr dirty="0">
                <a:solidFill>
                  <a:srgbClr val="C800D4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import</a:t>
            </a:r>
            <a:r>
              <a:rPr dirty="0">
                <a:solidFill>
                  <a:srgbClr val="111638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torch</a:t>
            </a:r>
          </a:p>
        </p:txBody>
      </p:sp>
      <p:sp>
        <p:nvSpPr>
          <p:cNvPr id="15" name="PyTorch source line 2">
            <a:extLst>
              <a:ext uri="{FF2B5EF4-FFF2-40B4-BE49-F238E27FC236}">
                <a16:creationId xmlns:a16="http://schemas.microsoft.com/office/drawing/2014/main" id="{D260738E-9D52-4208-9E45-BBF363BAFA40}"/>
              </a:ext>
            </a:extLst>
          </p:cNvPr>
          <p:cNvSpPr>
            <a:spLocks noGrp="1"/>
          </p:cNvSpPr>
          <p:nvPr/>
        </p:nvSpPr>
        <p:spPr>
          <a:xfrm>
            <a:off x="567421" y="1952625"/>
            <a:ext cx="25812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88" b="0">
                <a:solidFill>
                  <a:srgbClr val="131846"/>
                </a:solidFill>
                <a:latin typeface="Consolas"/>
                <a:ea typeface="Consolas"/>
                <a:cs typeface="Consolas"/>
              </a:defRPr>
            </a:pPr>
            <a:r>
              <a:rPr dirty="0">
                <a:solidFill>
                  <a:srgbClr val="C800D4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import</a:t>
            </a:r>
            <a:r>
              <a:rPr dirty="0">
                <a:solidFill>
                  <a:srgbClr val="111638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rgbClr val="111638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torch.nn</a:t>
            </a:r>
            <a:r>
              <a:rPr dirty="0">
                <a:solidFill>
                  <a:srgbClr val="111638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C800D4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as</a:t>
            </a:r>
            <a:r>
              <a:rPr dirty="0">
                <a:solidFill>
                  <a:srgbClr val="111638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rgbClr val="111638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nn</a:t>
            </a:r>
            <a:endParaRPr dirty="0">
              <a:solidFill>
                <a:srgbClr val="111638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6" name="PyTorch source line 3">
            <a:extLst>
              <a:ext uri="{FF2B5EF4-FFF2-40B4-BE49-F238E27FC236}">
                <a16:creationId xmlns:a16="http://schemas.microsoft.com/office/drawing/2014/main" id="{F2A50BB8-CB3C-46A9-8F61-1F56EC5EED2D}"/>
              </a:ext>
            </a:extLst>
          </p:cNvPr>
          <p:cNvSpPr>
            <a:spLocks noGrp="1"/>
          </p:cNvSpPr>
          <p:nvPr/>
        </p:nvSpPr>
        <p:spPr>
          <a:xfrm>
            <a:off x="523875" y="2247900"/>
            <a:ext cx="25812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88" b="0">
                <a:solidFill>
                  <a:srgbClr val="131846"/>
                </a:solidFill>
                <a:latin typeface="Consolas"/>
                <a:ea typeface="Consolas"/>
                <a:cs typeface="Consola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PyTorch source line 4">
            <a:extLst>
              <a:ext uri="{FF2B5EF4-FFF2-40B4-BE49-F238E27FC236}">
                <a16:creationId xmlns:a16="http://schemas.microsoft.com/office/drawing/2014/main" id="{0C85FFFE-87AB-438C-BFFF-4EC72B5E94CC}"/>
              </a:ext>
            </a:extLst>
          </p:cNvPr>
          <p:cNvSpPr>
            <a:spLocks noGrp="1"/>
          </p:cNvSpPr>
          <p:nvPr/>
        </p:nvSpPr>
        <p:spPr>
          <a:xfrm>
            <a:off x="567421" y="2543175"/>
            <a:ext cx="25812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88" b="0">
                <a:solidFill>
                  <a:srgbClr val="13184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C800D4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class</a:t>
            </a:r>
            <a:r>
              <a:rPr>
                <a:solidFill>
                  <a:srgbClr val="111638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>
                <a:solidFill>
                  <a:srgbClr val="005BDE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Net</a:t>
            </a:r>
            <a:r>
              <a:rPr>
                <a:solidFill>
                  <a:srgbClr val="111638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(nn.Module):</a:t>
            </a:r>
          </a:p>
        </p:txBody>
      </p:sp>
      <p:sp>
        <p:nvSpPr>
          <p:cNvPr id="18" name="PyTorch source line 5">
            <a:extLst>
              <a:ext uri="{FF2B5EF4-FFF2-40B4-BE49-F238E27FC236}">
                <a16:creationId xmlns:a16="http://schemas.microsoft.com/office/drawing/2014/main" id="{AC39078F-DF64-4E59-82E3-0957DC4CA180}"/>
              </a:ext>
            </a:extLst>
          </p:cNvPr>
          <p:cNvSpPr>
            <a:spLocks noGrp="1"/>
          </p:cNvSpPr>
          <p:nvPr/>
        </p:nvSpPr>
        <p:spPr>
          <a:xfrm>
            <a:off x="567421" y="2838450"/>
            <a:ext cx="25812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88" b="0">
                <a:solidFill>
                  <a:srgbClr val="13184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11638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 </a:t>
            </a:r>
            <a:r>
              <a:rPr>
                <a:solidFill>
                  <a:srgbClr val="C800D4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def</a:t>
            </a:r>
            <a:r>
              <a:rPr>
                <a:solidFill>
                  <a:srgbClr val="111638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__init__(</a:t>
            </a:r>
            <a:r>
              <a:rPr>
                <a:solidFill>
                  <a:srgbClr val="005BDE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self</a:t>
            </a:r>
            <a:r>
              <a:rPr>
                <a:solidFill>
                  <a:srgbClr val="111638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):</a:t>
            </a:r>
          </a:p>
        </p:txBody>
      </p:sp>
      <p:sp>
        <p:nvSpPr>
          <p:cNvPr id="19" name="PyTorch source line 6">
            <a:extLst>
              <a:ext uri="{FF2B5EF4-FFF2-40B4-BE49-F238E27FC236}">
                <a16:creationId xmlns:a16="http://schemas.microsoft.com/office/drawing/2014/main" id="{6D3C340C-6713-4EF5-8460-58FE03BC17D7}"/>
              </a:ext>
            </a:extLst>
          </p:cNvPr>
          <p:cNvSpPr>
            <a:spLocks noGrp="1"/>
          </p:cNvSpPr>
          <p:nvPr/>
        </p:nvSpPr>
        <p:spPr>
          <a:xfrm>
            <a:off x="567421" y="3133725"/>
            <a:ext cx="25812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88" b="0">
                <a:solidFill>
                  <a:srgbClr val="131846"/>
                </a:solidFill>
                <a:latin typeface="Consolas"/>
                <a:ea typeface="Consolas"/>
                <a:cs typeface="Consolas"/>
              </a:defRPr>
            </a:pPr>
            <a:r>
              <a:rPr dirty="0">
                <a:solidFill>
                  <a:srgbClr val="111638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   </a:t>
            </a:r>
            <a:r>
              <a:rPr dirty="0">
                <a:solidFill>
                  <a:srgbClr val="005BDE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super</a:t>
            </a:r>
            <a:r>
              <a:rPr dirty="0">
                <a:solidFill>
                  <a:srgbClr val="111638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().__</a:t>
            </a:r>
            <a:r>
              <a:rPr dirty="0" err="1">
                <a:solidFill>
                  <a:srgbClr val="111638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init</a:t>
            </a:r>
            <a:r>
              <a:rPr dirty="0">
                <a:solidFill>
                  <a:srgbClr val="111638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__()</a:t>
            </a:r>
          </a:p>
        </p:txBody>
      </p:sp>
      <p:sp>
        <p:nvSpPr>
          <p:cNvPr id="20" name="PyTorch source line 7">
            <a:extLst>
              <a:ext uri="{FF2B5EF4-FFF2-40B4-BE49-F238E27FC236}">
                <a16:creationId xmlns:a16="http://schemas.microsoft.com/office/drawing/2014/main" id="{462C9EE7-A2DE-4DA9-97C4-0C5631B993E5}"/>
              </a:ext>
            </a:extLst>
          </p:cNvPr>
          <p:cNvSpPr>
            <a:spLocks noGrp="1"/>
          </p:cNvSpPr>
          <p:nvPr/>
        </p:nvSpPr>
        <p:spPr>
          <a:xfrm>
            <a:off x="567421" y="3429000"/>
            <a:ext cx="25812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88" b="0">
                <a:solidFill>
                  <a:srgbClr val="13184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11638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   </a:t>
            </a:r>
            <a:r>
              <a:rPr>
                <a:solidFill>
                  <a:srgbClr val="005BDE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self</a:t>
            </a:r>
            <a:r>
              <a:rPr>
                <a:solidFill>
                  <a:srgbClr val="111638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.fc = nn.Linear(</a:t>
            </a:r>
            <a:r>
              <a:rPr>
                <a:solidFill>
                  <a:srgbClr val="007787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128</a:t>
            </a:r>
            <a:r>
              <a:rPr>
                <a:solidFill>
                  <a:srgbClr val="111638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, </a:t>
            </a:r>
            <a:r>
              <a:rPr>
                <a:solidFill>
                  <a:srgbClr val="007787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10</a:t>
            </a:r>
            <a:r>
              <a:rPr>
                <a:solidFill>
                  <a:srgbClr val="111638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1" name="PyTorch source line 8">
            <a:extLst>
              <a:ext uri="{FF2B5EF4-FFF2-40B4-BE49-F238E27FC236}">
                <a16:creationId xmlns:a16="http://schemas.microsoft.com/office/drawing/2014/main" id="{DC82EC51-213E-414D-A99E-7634A0AA60BB}"/>
              </a:ext>
            </a:extLst>
          </p:cNvPr>
          <p:cNvSpPr>
            <a:spLocks noGrp="1"/>
          </p:cNvSpPr>
          <p:nvPr/>
        </p:nvSpPr>
        <p:spPr>
          <a:xfrm>
            <a:off x="567421" y="3724275"/>
            <a:ext cx="25812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88" b="0">
                <a:solidFill>
                  <a:srgbClr val="13184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11638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 </a:t>
            </a:r>
            <a:r>
              <a:rPr>
                <a:solidFill>
                  <a:srgbClr val="C800D4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def</a:t>
            </a:r>
            <a:r>
              <a:rPr>
                <a:solidFill>
                  <a:srgbClr val="111638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>
                <a:solidFill>
                  <a:srgbClr val="005BDE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forward</a:t>
            </a:r>
            <a:r>
              <a:rPr>
                <a:solidFill>
                  <a:srgbClr val="111638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(</a:t>
            </a:r>
            <a:r>
              <a:rPr>
                <a:solidFill>
                  <a:srgbClr val="005BDE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self</a:t>
            </a:r>
            <a:r>
              <a:rPr>
                <a:solidFill>
                  <a:srgbClr val="111638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, x):</a:t>
            </a:r>
          </a:p>
        </p:txBody>
      </p:sp>
      <p:sp>
        <p:nvSpPr>
          <p:cNvPr id="22" name="PyTorch source line 9">
            <a:extLst>
              <a:ext uri="{FF2B5EF4-FFF2-40B4-BE49-F238E27FC236}">
                <a16:creationId xmlns:a16="http://schemas.microsoft.com/office/drawing/2014/main" id="{7D4D384E-7886-41AF-95A7-7211E196B4EE}"/>
              </a:ext>
            </a:extLst>
          </p:cNvPr>
          <p:cNvSpPr>
            <a:spLocks noGrp="1"/>
          </p:cNvSpPr>
          <p:nvPr/>
        </p:nvSpPr>
        <p:spPr>
          <a:xfrm>
            <a:off x="567421" y="4019550"/>
            <a:ext cx="25812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88" b="0">
                <a:solidFill>
                  <a:srgbClr val="13184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11638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   </a:t>
            </a:r>
            <a:r>
              <a:rPr>
                <a:solidFill>
                  <a:srgbClr val="C800D4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return</a:t>
            </a:r>
            <a:r>
              <a:rPr>
                <a:solidFill>
                  <a:srgbClr val="111638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>
                <a:solidFill>
                  <a:srgbClr val="005BDE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self</a:t>
            </a:r>
            <a:r>
              <a:rPr>
                <a:solidFill>
                  <a:srgbClr val="111638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.fc(x)</a:t>
            </a:r>
          </a:p>
        </p:txBody>
      </p:sp>
      <p:sp>
        <p:nvSpPr>
          <p:cNvPr id="23" name="PyTorch source line 10">
            <a:extLst>
              <a:ext uri="{FF2B5EF4-FFF2-40B4-BE49-F238E27FC236}">
                <a16:creationId xmlns:a16="http://schemas.microsoft.com/office/drawing/2014/main" id="{1B2EA93F-F447-4C82-8C1D-F3DD0B2FF976}"/>
              </a:ext>
            </a:extLst>
          </p:cNvPr>
          <p:cNvSpPr>
            <a:spLocks noGrp="1"/>
          </p:cNvSpPr>
          <p:nvPr/>
        </p:nvSpPr>
        <p:spPr>
          <a:xfrm>
            <a:off x="523875" y="4314825"/>
            <a:ext cx="25812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88" b="0">
                <a:solidFill>
                  <a:srgbClr val="131846"/>
                </a:solidFill>
                <a:latin typeface="Consolas"/>
                <a:ea typeface="Consolas"/>
                <a:cs typeface="Consolas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PyTorch source line 11">
            <a:extLst>
              <a:ext uri="{FF2B5EF4-FFF2-40B4-BE49-F238E27FC236}">
                <a16:creationId xmlns:a16="http://schemas.microsoft.com/office/drawing/2014/main" id="{D669C572-15E1-4509-AB86-715E51F05E7D}"/>
              </a:ext>
            </a:extLst>
          </p:cNvPr>
          <p:cNvSpPr>
            <a:spLocks noGrp="1"/>
          </p:cNvSpPr>
          <p:nvPr/>
        </p:nvSpPr>
        <p:spPr>
          <a:xfrm>
            <a:off x="567421" y="4610100"/>
            <a:ext cx="25812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88" b="0">
                <a:solidFill>
                  <a:srgbClr val="13184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257B86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# training loop</a:t>
            </a:r>
          </a:p>
        </p:txBody>
      </p:sp>
      <p:sp>
        <p:nvSpPr>
          <p:cNvPr id="25" name="PyTorch source line 12">
            <a:extLst>
              <a:ext uri="{FF2B5EF4-FFF2-40B4-BE49-F238E27FC236}">
                <a16:creationId xmlns:a16="http://schemas.microsoft.com/office/drawing/2014/main" id="{00F44B11-F3B0-46BC-B417-C9E6A7368F85}"/>
              </a:ext>
            </a:extLst>
          </p:cNvPr>
          <p:cNvSpPr>
            <a:spLocks noGrp="1"/>
          </p:cNvSpPr>
          <p:nvPr/>
        </p:nvSpPr>
        <p:spPr>
          <a:xfrm>
            <a:off x="567421" y="4905375"/>
            <a:ext cx="25812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88" b="0">
                <a:solidFill>
                  <a:srgbClr val="13184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11638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model = </a:t>
            </a:r>
            <a:r>
              <a:rPr>
                <a:solidFill>
                  <a:srgbClr val="005BDE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Net</a:t>
            </a:r>
            <a:r>
              <a:rPr>
                <a:solidFill>
                  <a:srgbClr val="111638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().to(device)</a:t>
            </a:r>
          </a:p>
        </p:txBody>
      </p:sp>
      <p:sp>
        <p:nvSpPr>
          <p:cNvPr id="26" name="PyTorch source line 13">
            <a:extLst>
              <a:ext uri="{FF2B5EF4-FFF2-40B4-BE49-F238E27FC236}">
                <a16:creationId xmlns:a16="http://schemas.microsoft.com/office/drawing/2014/main" id="{6381B4AC-67D4-46AD-9F97-17C71AF0A032}"/>
              </a:ext>
            </a:extLst>
          </p:cNvPr>
          <p:cNvSpPr>
            <a:spLocks noGrp="1"/>
          </p:cNvSpPr>
          <p:nvPr/>
        </p:nvSpPr>
        <p:spPr>
          <a:xfrm>
            <a:off x="567421" y="5200650"/>
            <a:ext cx="25812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88" b="0">
                <a:solidFill>
                  <a:srgbClr val="13184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11638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for x, y in loader:</a:t>
            </a:r>
          </a:p>
        </p:txBody>
      </p:sp>
      <p:sp>
        <p:nvSpPr>
          <p:cNvPr id="27" name="PyTorch source line 14">
            <a:extLst>
              <a:ext uri="{FF2B5EF4-FFF2-40B4-BE49-F238E27FC236}">
                <a16:creationId xmlns:a16="http://schemas.microsoft.com/office/drawing/2014/main" id="{91B3631D-FB2E-4433-B66F-A0039170D450}"/>
              </a:ext>
            </a:extLst>
          </p:cNvPr>
          <p:cNvSpPr>
            <a:spLocks noGrp="1"/>
          </p:cNvSpPr>
          <p:nvPr/>
        </p:nvSpPr>
        <p:spPr>
          <a:xfrm>
            <a:off x="567421" y="5495925"/>
            <a:ext cx="25812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88" b="0">
                <a:solidFill>
                  <a:srgbClr val="13184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11638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 loss = criterion(model(x), y)</a:t>
            </a:r>
          </a:p>
        </p:txBody>
      </p:sp>
      <p:sp>
        <p:nvSpPr>
          <p:cNvPr id="28" name="PyTorch source line 15">
            <a:extLst>
              <a:ext uri="{FF2B5EF4-FFF2-40B4-BE49-F238E27FC236}">
                <a16:creationId xmlns:a16="http://schemas.microsoft.com/office/drawing/2014/main" id="{879788A5-0A9E-4C12-A11A-797D52B688A5}"/>
              </a:ext>
            </a:extLst>
          </p:cNvPr>
          <p:cNvSpPr>
            <a:spLocks noGrp="1"/>
          </p:cNvSpPr>
          <p:nvPr/>
        </p:nvSpPr>
        <p:spPr>
          <a:xfrm>
            <a:off x="567421" y="5791200"/>
            <a:ext cx="25812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88" b="0">
                <a:solidFill>
                  <a:srgbClr val="13184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11638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 loss.backward()</a:t>
            </a:r>
          </a:p>
        </p:txBody>
      </p:sp>
      <p:sp>
        <p:nvSpPr>
          <p:cNvPr id="29" name="PyTorch source line 16">
            <a:extLst>
              <a:ext uri="{FF2B5EF4-FFF2-40B4-BE49-F238E27FC236}">
                <a16:creationId xmlns:a16="http://schemas.microsoft.com/office/drawing/2014/main" id="{665D1A04-F15C-4010-B634-59B9B457C7E4}"/>
              </a:ext>
            </a:extLst>
          </p:cNvPr>
          <p:cNvSpPr>
            <a:spLocks noGrp="1"/>
          </p:cNvSpPr>
          <p:nvPr/>
        </p:nvSpPr>
        <p:spPr>
          <a:xfrm>
            <a:off x="567421" y="6086475"/>
            <a:ext cx="25812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88" b="0">
                <a:solidFill>
                  <a:srgbClr val="131846"/>
                </a:solidFill>
                <a:latin typeface="Consolas"/>
                <a:ea typeface="Consolas"/>
                <a:cs typeface="Consolas"/>
              </a:defRPr>
            </a:pPr>
            <a:r>
              <a:rPr dirty="0">
                <a:solidFill>
                  <a:srgbClr val="111638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 </a:t>
            </a:r>
            <a:r>
              <a:rPr dirty="0" err="1">
                <a:solidFill>
                  <a:srgbClr val="111638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optimizer.step</a:t>
            </a:r>
            <a:r>
              <a:rPr dirty="0">
                <a:solidFill>
                  <a:srgbClr val="111638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()</a:t>
            </a:r>
          </a:p>
        </p:txBody>
      </p:sp>
      <p:grpSp>
        <p:nvGrpSpPr>
          <p:cNvPr id="361" name="Task requirements"/>
          <p:cNvGrpSpPr/>
          <p:nvPr/>
        </p:nvGrpSpPr>
        <p:grpSpPr>
          <a:xfrm>
            <a:off x="304800" y="6743700"/>
            <a:ext cx="2876550" cy="1571625"/>
            <a:chOff x="304800" y="6743700"/>
            <a:chExt cx="2876550" cy="1571625"/>
          </a:xfrm>
        </p:grpSpPr>
        <p:sp>
          <p:nvSpPr>
            <p:cNvPr id="30" name="Task card">
              <a:extLst>
                <a:ext uri="{FF2B5EF4-FFF2-40B4-BE49-F238E27FC236}">
                  <a16:creationId xmlns:a16="http://schemas.microsoft.com/office/drawing/2014/main" id="{E71628C7-1F0C-4BAB-8DB1-22837F5D5516}"/>
                </a:ext>
              </a:extLst>
            </p:cNvPr>
            <p:cNvSpPr>
              <a:spLocks noGrp="1"/>
            </p:cNvSpPr>
            <p:nvPr/>
          </p:nvSpPr>
          <p:spPr>
            <a:xfrm>
              <a:off x="304800" y="6743700"/>
              <a:ext cx="2876550" cy="1571625"/>
            </a:xfrm>
            <a:prstGeom prst="roundRect">
              <a:avLst>
                <a:gd name="adj" fmla="val 10067"/>
              </a:avLst>
            </a:prstGeom>
            <a:solidFill>
              <a:srgbClr val="FCFEFF"/>
            </a:solidFill>
            <a:ln w="19050">
              <a:solidFill>
                <a:srgbClr val="CADAE8"/>
              </a:solidFill>
            </a:ln>
          </p:spPr>
        </p:sp>
        <p:sp>
          <p:nvSpPr>
            <p:cNvPr id="31" name="Task document 0">
              <a:extLst>
                <a:ext uri="{FF2B5EF4-FFF2-40B4-BE49-F238E27FC236}">
                  <a16:creationId xmlns:a16="http://schemas.microsoft.com/office/drawing/2014/main" id="{E8F6855E-B4E1-4B5B-880A-5F7C397A6690}"/>
                </a:ext>
              </a:extLst>
            </p:cNvPr>
            <p:cNvSpPr>
              <a:spLocks noGrp="1"/>
            </p:cNvSpPr>
            <p:nvPr/>
          </p:nvSpPr>
          <p:spPr>
            <a:xfrm>
              <a:off x="511175" y="6933406"/>
              <a:ext cx="254000" cy="373063"/>
            </a:xfrm>
            <a:custGeom>
              <a:avLst/>
              <a:gdLst/>
              <a:ahLst/>
              <a:cxnLst/>
              <a:rect l="0" t="0" r="0" b="0"/>
              <a:pathLst>
                <a:path w="254000" h="373063">
                  <a:moveTo>
                    <a:pt x="31750" y="373063"/>
                  </a:moveTo>
                  <a:lnTo>
                    <a:pt x="23918" y="371919"/>
                  </a:lnTo>
                  <a:lnTo>
                    <a:pt x="16572" y="368532"/>
                  </a:lnTo>
                  <a:lnTo>
                    <a:pt x="10166" y="363116"/>
                  </a:lnTo>
                  <a:lnTo>
                    <a:pt x="5087" y="356018"/>
                  </a:lnTo>
                  <a:lnTo>
                    <a:pt x="1653" y="347669"/>
                  </a:lnTo>
                  <a:lnTo>
                    <a:pt x="90" y="338580"/>
                  </a:lnTo>
                  <a:lnTo>
                    <a:pt x="0" y="329286"/>
                  </a:lnTo>
                  <a:lnTo>
                    <a:pt x="0" y="319989"/>
                  </a:lnTo>
                  <a:lnTo>
                    <a:pt x="0" y="310692"/>
                  </a:lnTo>
                  <a:lnTo>
                    <a:pt x="0" y="301395"/>
                  </a:lnTo>
                  <a:lnTo>
                    <a:pt x="0" y="292098"/>
                  </a:lnTo>
                  <a:lnTo>
                    <a:pt x="0" y="282801"/>
                  </a:lnTo>
                  <a:lnTo>
                    <a:pt x="0" y="273504"/>
                  </a:lnTo>
                  <a:lnTo>
                    <a:pt x="0" y="264207"/>
                  </a:lnTo>
                  <a:lnTo>
                    <a:pt x="0" y="254910"/>
                  </a:lnTo>
                  <a:lnTo>
                    <a:pt x="0" y="245612"/>
                  </a:lnTo>
                  <a:lnTo>
                    <a:pt x="0" y="236315"/>
                  </a:lnTo>
                  <a:lnTo>
                    <a:pt x="0" y="227018"/>
                  </a:lnTo>
                  <a:lnTo>
                    <a:pt x="0" y="217721"/>
                  </a:lnTo>
                  <a:lnTo>
                    <a:pt x="0" y="208424"/>
                  </a:lnTo>
                  <a:lnTo>
                    <a:pt x="0" y="199127"/>
                  </a:lnTo>
                  <a:lnTo>
                    <a:pt x="0" y="189830"/>
                  </a:lnTo>
                  <a:lnTo>
                    <a:pt x="0" y="180533"/>
                  </a:lnTo>
                  <a:lnTo>
                    <a:pt x="0" y="171236"/>
                  </a:lnTo>
                  <a:lnTo>
                    <a:pt x="0" y="161939"/>
                  </a:lnTo>
                  <a:lnTo>
                    <a:pt x="0" y="152642"/>
                  </a:lnTo>
                  <a:lnTo>
                    <a:pt x="0" y="143345"/>
                  </a:lnTo>
                  <a:lnTo>
                    <a:pt x="0" y="134048"/>
                  </a:lnTo>
                  <a:lnTo>
                    <a:pt x="0" y="124751"/>
                  </a:lnTo>
                  <a:lnTo>
                    <a:pt x="0" y="115454"/>
                  </a:lnTo>
                  <a:lnTo>
                    <a:pt x="0" y="106157"/>
                  </a:lnTo>
                  <a:lnTo>
                    <a:pt x="0" y="96860"/>
                  </a:lnTo>
                  <a:lnTo>
                    <a:pt x="0" y="87563"/>
                  </a:lnTo>
                  <a:lnTo>
                    <a:pt x="0" y="78266"/>
                  </a:lnTo>
                  <a:lnTo>
                    <a:pt x="0" y="68969"/>
                  </a:lnTo>
                  <a:lnTo>
                    <a:pt x="0" y="59672"/>
                  </a:lnTo>
                  <a:lnTo>
                    <a:pt x="0" y="50375"/>
                  </a:lnTo>
                  <a:lnTo>
                    <a:pt x="0" y="41078"/>
                  </a:lnTo>
                  <a:lnTo>
                    <a:pt x="343" y="31800"/>
                  </a:lnTo>
                  <a:lnTo>
                    <a:pt x="2465" y="22869"/>
                  </a:lnTo>
                  <a:lnTo>
                    <a:pt x="6404" y="14834"/>
                  </a:lnTo>
                  <a:lnTo>
                    <a:pt x="11905" y="8184"/>
                  </a:lnTo>
                  <a:lnTo>
                    <a:pt x="18627" y="3326"/>
                  </a:lnTo>
                  <a:lnTo>
                    <a:pt x="26163" y="576"/>
                  </a:lnTo>
                  <a:lnTo>
                    <a:pt x="34047" y="0"/>
                  </a:lnTo>
                  <a:lnTo>
                    <a:pt x="41960" y="0"/>
                  </a:lnTo>
                  <a:lnTo>
                    <a:pt x="49872" y="0"/>
                  </a:lnTo>
                  <a:lnTo>
                    <a:pt x="57784" y="0"/>
                  </a:lnTo>
                  <a:lnTo>
                    <a:pt x="65697" y="0"/>
                  </a:lnTo>
                  <a:lnTo>
                    <a:pt x="73609" y="0"/>
                  </a:lnTo>
                  <a:lnTo>
                    <a:pt x="81521" y="0"/>
                  </a:lnTo>
                  <a:lnTo>
                    <a:pt x="89434" y="0"/>
                  </a:lnTo>
                  <a:lnTo>
                    <a:pt x="97346" y="0"/>
                  </a:lnTo>
                  <a:lnTo>
                    <a:pt x="105259" y="0"/>
                  </a:lnTo>
                  <a:lnTo>
                    <a:pt x="113171" y="0"/>
                  </a:lnTo>
                  <a:lnTo>
                    <a:pt x="121083" y="0"/>
                  </a:lnTo>
                  <a:lnTo>
                    <a:pt x="128996" y="0"/>
                  </a:lnTo>
                  <a:lnTo>
                    <a:pt x="136908" y="0"/>
                  </a:lnTo>
                  <a:lnTo>
                    <a:pt x="144820" y="0"/>
                  </a:lnTo>
                  <a:lnTo>
                    <a:pt x="152733" y="0"/>
                  </a:lnTo>
                  <a:lnTo>
                    <a:pt x="160644" y="52"/>
                  </a:lnTo>
                  <a:lnTo>
                    <a:pt x="168452" y="1457"/>
                  </a:lnTo>
                  <a:lnTo>
                    <a:pt x="175844" y="4723"/>
                  </a:lnTo>
                  <a:lnTo>
                    <a:pt x="182505" y="9709"/>
                  </a:lnTo>
                  <a:lnTo>
                    <a:pt x="188269" y="16069"/>
                  </a:lnTo>
                  <a:lnTo>
                    <a:pt x="193864" y="22643"/>
                  </a:lnTo>
                  <a:lnTo>
                    <a:pt x="199459" y="29217"/>
                  </a:lnTo>
                  <a:lnTo>
                    <a:pt x="205054" y="35791"/>
                  </a:lnTo>
                  <a:lnTo>
                    <a:pt x="210649" y="42365"/>
                  </a:lnTo>
                  <a:lnTo>
                    <a:pt x="216244" y="48939"/>
                  </a:lnTo>
                  <a:lnTo>
                    <a:pt x="221839" y="55513"/>
                  </a:lnTo>
                  <a:lnTo>
                    <a:pt x="227433" y="62087"/>
                  </a:lnTo>
                  <a:lnTo>
                    <a:pt x="233028" y="68661"/>
                  </a:lnTo>
                  <a:lnTo>
                    <a:pt x="238623" y="75235"/>
                  </a:lnTo>
                  <a:lnTo>
                    <a:pt x="244182" y="81850"/>
                  </a:lnTo>
                  <a:lnTo>
                    <a:pt x="248838" y="89346"/>
                  </a:lnTo>
                  <a:lnTo>
                    <a:pt x="252079" y="97809"/>
                  </a:lnTo>
                  <a:lnTo>
                    <a:pt x="253765" y="106876"/>
                  </a:lnTo>
                  <a:lnTo>
                    <a:pt x="254000" y="116163"/>
                  </a:lnTo>
                  <a:lnTo>
                    <a:pt x="254000" y="125460"/>
                  </a:lnTo>
                  <a:lnTo>
                    <a:pt x="254000" y="134757"/>
                  </a:lnTo>
                  <a:lnTo>
                    <a:pt x="254000" y="144054"/>
                  </a:lnTo>
                  <a:lnTo>
                    <a:pt x="254000" y="153351"/>
                  </a:lnTo>
                  <a:lnTo>
                    <a:pt x="254000" y="162648"/>
                  </a:lnTo>
                  <a:lnTo>
                    <a:pt x="254000" y="171945"/>
                  </a:lnTo>
                  <a:lnTo>
                    <a:pt x="254000" y="181242"/>
                  </a:lnTo>
                  <a:lnTo>
                    <a:pt x="254000" y="190539"/>
                  </a:lnTo>
                  <a:lnTo>
                    <a:pt x="254000" y="199836"/>
                  </a:lnTo>
                  <a:lnTo>
                    <a:pt x="254000" y="209133"/>
                  </a:lnTo>
                  <a:lnTo>
                    <a:pt x="254000" y="218430"/>
                  </a:lnTo>
                  <a:lnTo>
                    <a:pt x="254000" y="227727"/>
                  </a:lnTo>
                  <a:lnTo>
                    <a:pt x="254000" y="237024"/>
                  </a:lnTo>
                  <a:lnTo>
                    <a:pt x="254000" y="246321"/>
                  </a:lnTo>
                  <a:lnTo>
                    <a:pt x="254000" y="255618"/>
                  </a:lnTo>
                  <a:lnTo>
                    <a:pt x="254000" y="264915"/>
                  </a:lnTo>
                  <a:lnTo>
                    <a:pt x="254000" y="274212"/>
                  </a:lnTo>
                  <a:lnTo>
                    <a:pt x="254000" y="283509"/>
                  </a:lnTo>
                  <a:lnTo>
                    <a:pt x="254000" y="292806"/>
                  </a:lnTo>
                  <a:lnTo>
                    <a:pt x="254000" y="302103"/>
                  </a:lnTo>
                  <a:lnTo>
                    <a:pt x="254000" y="311400"/>
                  </a:lnTo>
                  <a:lnTo>
                    <a:pt x="254000" y="320697"/>
                  </a:lnTo>
                  <a:lnTo>
                    <a:pt x="254000" y="329994"/>
                  </a:lnTo>
                  <a:lnTo>
                    <a:pt x="253860" y="339286"/>
                  </a:lnTo>
                  <a:lnTo>
                    <a:pt x="252149" y="348339"/>
                  </a:lnTo>
                  <a:lnTo>
                    <a:pt x="248581" y="356609"/>
                  </a:lnTo>
                  <a:lnTo>
                    <a:pt x="243388" y="363593"/>
                  </a:lnTo>
                  <a:lnTo>
                    <a:pt x="236896" y="368865"/>
                  </a:lnTo>
                  <a:lnTo>
                    <a:pt x="229496" y="372086"/>
                  </a:lnTo>
                  <a:lnTo>
                    <a:pt x="221647" y="373063"/>
                  </a:lnTo>
                  <a:lnTo>
                    <a:pt x="213735" y="373063"/>
                  </a:lnTo>
                  <a:lnTo>
                    <a:pt x="205822" y="373063"/>
                  </a:lnTo>
                  <a:lnTo>
                    <a:pt x="197910" y="373063"/>
                  </a:lnTo>
                  <a:lnTo>
                    <a:pt x="189997" y="373063"/>
                  </a:lnTo>
                  <a:lnTo>
                    <a:pt x="182085" y="373063"/>
                  </a:lnTo>
                  <a:lnTo>
                    <a:pt x="174173" y="373063"/>
                  </a:lnTo>
                  <a:lnTo>
                    <a:pt x="166260" y="373063"/>
                  </a:lnTo>
                  <a:lnTo>
                    <a:pt x="158348" y="373063"/>
                  </a:lnTo>
                  <a:lnTo>
                    <a:pt x="150436" y="373063"/>
                  </a:lnTo>
                  <a:lnTo>
                    <a:pt x="142523" y="373063"/>
                  </a:lnTo>
                  <a:lnTo>
                    <a:pt x="134611" y="373063"/>
                  </a:lnTo>
                  <a:lnTo>
                    <a:pt x="126698" y="373063"/>
                  </a:lnTo>
                  <a:lnTo>
                    <a:pt x="118786" y="373063"/>
                  </a:lnTo>
                  <a:lnTo>
                    <a:pt x="110874" y="373063"/>
                  </a:lnTo>
                  <a:lnTo>
                    <a:pt x="102961" y="373063"/>
                  </a:lnTo>
                  <a:lnTo>
                    <a:pt x="95049" y="373063"/>
                  </a:lnTo>
                  <a:lnTo>
                    <a:pt x="87137" y="373063"/>
                  </a:lnTo>
                  <a:lnTo>
                    <a:pt x="79224" y="373063"/>
                  </a:lnTo>
                  <a:lnTo>
                    <a:pt x="71312" y="373063"/>
                  </a:lnTo>
                  <a:lnTo>
                    <a:pt x="63399" y="373063"/>
                  </a:lnTo>
                  <a:lnTo>
                    <a:pt x="55487" y="373063"/>
                  </a:lnTo>
                  <a:lnTo>
                    <a:pt x="47575" y="373063"/>
                  </a:lnTo>
                  <a:lnTo>
                    <a:pt x="39662" y="373063"/>
                  </a:lnTo>
                  <a:lnTo>
                    <a:pt x="31750" y="373063"/>
                  </a:lnTo>
                  <a:close/>
                </a:path>
              </a:pathLst>
            </a:custGeom>
            <a:noFill/>
            <a:ln w="31750">
              <a:solidFill>
                <a:srgbClr val="35597D"/>
              </a:solidFill>
            </a:ln>
          </p:spPr>
        </p:sp>
        <p:sp>
          <p:nvSpPr>
            <p:cNvPr id="32" name="Task document 1">
              <a:extLst>
                <a:ext uri="{FF2B5EF4-FFF2-40B4-BE49-F238E27FC236}">
                  <a16:creationId xmlns:a16="http://schemas.microsoft.com/office/drawing/2014/main" id="{B8FB72AC-0498-479D-B3B9-451354694A28}"/>
                </a:ext>
              </a:extLst>
            </p:cNvPr>
            <p:cNvSpPr>
              <a:spLocks noGrp="1"/>
            </p:cNvSpPr>
            <p:nvPr/>
          </p:nvSpPr>
          <p:spPr>
            <a:xfrm>
              <a:off x="669925" y="6933406"/>
              <a:ext cx="95250" cy="111919"/>
            </a:xfrm>
            <a:custGeom>
              <a:avLst/>
              <a:gdLst/>
              <a:ahLst/>
              <a:cxnLst/>
              <a:rect l="0" t="0" r="0" b="0"/>
              <a:pathLst>
                <a:path w="95250" h="111919">
                  <a:moveTo>
                    <a:pt x="0" y="0"/>
                  </a:moveTo>
                  <a:lnTo>
                    <a:pt x="0" y="8993"/>
                  </a:lnTo>
                  <a:lnTo>
                    <a:pt x="0" y="17986"/>
                  </a:lnTo>
                  <a:lnTo>
                    <a:pt x="0" y="26979"/>
                  </a:lnTo>
                  <a:lnTo>
                    <a:pt x="0" y="35973"/>
                  </a:lnTo>
                  <a:lnTo>
                    <a:pt x="0" y="44966"/>
                  </a:lnTo>
                  <a:lnTo>
                    <a:pt x="0" y="53959"/>
                  </a:lnTo>
                  <a:lnTo>
                    <a:pt x="0" y="62952"/>
                  </a:lnTo>
                  <a:lnTo>
                    <a:pt x="0" y="71945"/>
                  </a:lnTo>
                  <a:lnTo>
                    <a:pt x="0" y="80938"/>
                  </a:lnTo>
                  <a:lnTo>
                    <a:pt x="0" y="89932"/>
                  </a:lnTo>
                  <a:lnTo>
                    <a:pt x="721" y="98839"/>
                  </a:lnTo>
                  <a:lnTo>
                    <a:pt x="4650" y="106455"/>
                  </a:lnTo>
                  <a:lnTo>
                    <a:pt x="11132" y="111072"/>
                  </a:lnTo>
                  <a:lnTo>
                    <a:pt x="18713" y="111919"/>
                  </a:lnTo>
                  <a:lnTo>
                    <a:pt x="26366" y="111919"/>
                  </a:lnTo>
                  <a:lnTo>
                    <a:pt x="34020" y="111919"/>
                  </a:lnTo>
                  <a:lnTo>
                    <a:pt x="41674" y="111919"/>
                  </a:lnTo>
                  <a:lnTo>
                    <a:pt x="49328" y="111919"/>
                  </a:lnTo>
                  <a:lnTo>
                    <a:pt x="56981" y="111919"/>
                  </a:lnTo>
                  <a:lnTo>
                    <a:pt x="64635" y="111919"/>
                  </a:lnTo>
                  <a:lnTo>
                    <a:pt x="72289" y="111919"/>
                  </a:lnTo>
                  <a:lnTo>
                    <a:pt x="79942" y="111919"/>
                  </a:lnTo>
                  <a:lnTo>
                    <a:pt x="87596" y="111919"/>
                  </a:lnTo>
                  <a:lnTo>
                    <a:pt x="95250" y="111919"/>
                  </a:lnTo>
                </a:path>
              </a:pathLst>
            </a:custGeom>
            <a:noFill/>
            <a:ln w="31750">
              <a:solidFill>
                <a:srgbClr val="35597D"/>
              </a:solidFill>
            </a:ln>
          </p:spPr>
        </p:sp>
        <p:sp>
          <p:nvSpPr>
            <p:cNvPr id="33" name="Task document 2">
              <a:extLst>
                <a:ext uri="{FF2B5EF4-FFF2-40B4-BE49-F238E27FC236}">
                  <a16:creationId xmlns:a16="http://schemas.microsoft.com/office/drawing/2014/main" id="{4C86FFF8-F7D8-45B7-9D86-7344A9B485D8}"/>
                </a:ext>
              </a:extLst>
            </p:cNvPr>
            <p:cNvSpPr>
              <a:spLocks noGrp="1"/>
            </p:cNvSpPr>
            <p:nvPr/>
          </p:nvSpPr>
          <p:spPr>
            <a:xfrm>
              <a:off x="574675" y="7063978"/>
              <a:ext cx="31750" cy="953"/>
            </a:xfrm>
            <a:custGeom>
              <a:avLst/>
              <a:gdLst/>
              <a:ahLst/>
              <a:cxnLst/>
              <a:rect l="0" t="0" r="0" b="0"/>
              <a:pathLst>
                <a:path w="31750" h="953">
                  <a:moveTo>
                    <a:pt x="31750" y="0"/>
                  </a:moveTo>
                  <a:lnTo>
                    <a:pt x="23813" y="0"/>
                  </a:lnTo>
                  <a:lnTo>
                    <a:pt x="15875" y="0"/>
                  </a:lnTo>
                  <a:lnTo>
                    <a:pt x="7937" y="0"/>
                  </a:ln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35597D"/>
              </a:solidFill>
            </a:ln>
          </p:spPr>
        </p:sp>
        <p:sp>
          <p:nvSpPr>
            <p:cNvPr id="34" name="Task document 3">
              <a:extLst>
                <a:ext uri="{FF2B5EF4-FFF2-40B4-BE49-F238E27FC236}">
                  <a16:creationId xmlns:a16="http://schemas.microsoft.com/office/drawing/2014/main" id="{6CE56CC6-17B0-4D35-9FF0-AF48B0C99775}"/>
                </a:ext>
              </a:extLst>
            </p:cNvPr>
            <p:cNvSpPr>
              <a:spLocks noGrp="1"/>
            </p:cNvSpPr>
            <p:nvPr/>
          </p:nvSpPr>
          <p:spPr>
            <a:xfrm>
              <a:off x="574675" y="7138591"/>
              <a:ext cx="127000" cy="0"/>
            </a:xfrm>
            <a:custGeom>
              <a:avLst/>
              <a:gdLst/>
              <a:ahLst/>
              <a:cxnLst/>
              <a:rect l="0" t="0" r="0" b="0"/>
              <a:pathLst>
                <a:path w="127000">
                  <a:moveTo>
                    <a:pt x="127000" y="0"/>
                  </a:moveTo>
                  <a:lnTo>
                    <a:pt x="119062" y="0"/>
                  </a:lnTo>
                  <a:lnTo>
                    <a:pt x="111125" y="0"/>
                  </a:lnTo>
                  <a:lnTo>
                    <a:pt x="103188" y="0"/>
                  </a:lnTo>
                  <a:lnTo>
                    <a:pt x="95250" y="0"/>
                  </a:lnTo>
                  <a:lnTo>
                    <a:pt x="87312" y="0"/>
                  </a:lnTo>
                  <a:lnTo>
                    <a:pt x="79375" y="0"/>
                  </a:lnTo>
                  <a:lnTo>
                    <a:pt x="71437" y="0"/>
                  </a:lnTo>
                  <a:lnTo>
                    <a:pt x="63500" y="0"/>
                  </a:lnTo>
                  <a:lnTo>
                    <a:pt x="55563" y="0"/>
                  </a:lnTo>
                  <a:lnTo>
                    <a:pt x="47625" y="0"/>
                  </a:lnTo>
                  <a:lnTo>
                    <a:pt x="39687" y="0"/>
                  </a:lnTo>
                  <a:lnTo>
                    <a:pt x="31750" y="0"/>
                  </a:lnTo>
                  <a:lnTo>
                    <a:pt x="23813" y="0"/>
                  </a:lnTo>
                  <a:lnTo>
                    <a:pt x="15875" y="0"/>
                  </a:lnTo>
                  <a:lnTo>
                    <a:pt x="7937" y="0"/>
                  </a:ln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35597D"/>
              </a:solidFill>
            </a:ln>
          </p:spPr>
        </p:sp>
        <p:sp>
          <p:nvSpPr>
            <p:cNvPr id="35" name="Task document 4">
              <a:extLst>
                <a:ext uri="{FF2B5EF4-FFF2-40B4-BE49-F238E27FC236}">
                  <a16:creationId xmlns:a16="http://schemas.microsoft.com/office/drawing/2014/main" id="{342969D6-BC6C-4120-BFF4-C9E5F2C4BE02}"/>
                </a:ext>
              </a:extLst>
            </p:cNvPr>
            <p:cNvSpPr>
              <a:spLocks noGrp="1"/>
            </p:cNvSpPr>
            <p:nvPr/>
          </p:nvSpPr>
          <p:spPr>
            <a:xfrm>
              <a:off x="574675" y="7213203"/>
              <a:ext cx="127000" cy="953"/>
            </a:xfrm>
            <a:custGeom>
              <a:avLst/>
              <a:gdLst/>
              <a:ahLst/>
              <a:cxnLst/>
              <a:rect l="0" t="0" r="0" b="0"/>
              <a:pathLst>
                <a:path w="127000" h="953">
                  <a:moveTo>
                    <a:pt x="127000" y="0"/>
                  </a:moveTo>
                  <a:lnTo>
                    <a:pt x="119062" y="0"/>
                  </a:lnTo>
                  <a:lnTo>
                    <a:pt x="111125" y="0"/>
                  </a:lnTo>
                  <a:lnTo>
                    <a:pt x="103188" y="0"/>
                  </a:lnTo>
                  <a:lnTo>
                    <a:pt x="95250" y="0"/>
                  </a:lnTo>
                  <a:lnTo>
                    <a:pt x="87312" y="0"/>
                  </a:lnTo>
                  <a:lnTo>
                    <a:pt x="79375" y="0"/>
                  </a:lnTo>
                  <a:lnTo>
                    <a:pt x="71437" y="0"/>
                  </a:lnTo>
                  <a:lnTo>
                    <a:pt x="63500" y="0"/>
                  </a:lnTo>
                  <a:lnTo>
                    <a:pt x="55563" y="0"/>
                  </a:lnTo>
                  <a:lnTo>
                    <a:pt x="47625" y="0"/>
                  </a:lnTo>
                  <a:lnTo>
                    <a:pt x="39687" y="0"/>
                  </a:lnTo>
                  <a:lnTo>
                    <a:pt x="31750" y="0"/>
                  </a:lnTo>
                  <a:lnTo>
                    <a:pt x="23813" y="0"/>
                  </a:lnTo>
                  <a:lnTo>
                    <a:pt x="15875" y="0"/>
                  </a:lnTo>
                  <a:lnTo>
                    <a:pt x="7937" y="0"/>
                  </a:ln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35597D"/>
              </a:solidFill>
            </a:ln>
          </p:spPr>
        </p:sp>
        <p:sp>
          <p:nvSpPr>
            <p:cNvPr id="36" name="Task heading">
              <a:extLst>
                <a:ext uri="{FF2B5EF4-FFF2-40B4-BE49-F238E27FC236}">
                  <a16:creationId xmlns:a16="http://schemas.microsoft.com/office/drawing/2014/main" id="{7C8CF9AC-7D0D-4174-A521-DEF04292C937}"/>
                </a:ext>
              </a:extLst>
            </p:cNvPr>
            <p:cNvSpPr>
              <a:spLocks noGrp="1"/>
            </p:cNvSpPr>
            <p:nvPr/>
          </p:nvSpPr>
          <p:spPr>
            <a:xfrm>
              <a:off x="904875" y="6858000"/>
              <a:ext cx="2085975" cy="2857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1725" b="1">
                  <a:solidFill>
                    <a:srgbClr val="091322"/>
                  </a:solidFill>
                  <a:latin typeface="Arial Narrow"/>
                  <a:ea typeface="Arial Narrow"/>
                  <a:cs typeface="Arial Narrow"/>
                </a:defRPr>
              </a:pPr>
              <a:r>
                <a:rPr sz="1725" b="1">
                  <a:solidFill>
                    <a:srgbClr val="091322"/>
                  </a:solidFill>
                  <a:latin typeface="Times New Roman" panose="02020603050405020304" pitchFamily="18" charset="0"/>
                  <a:ea typeface="Arial Narrow"/>
                  <a:cs typeface="Times New Roman" panose="02020603050405020304" pitchFamily="18" charset="0"/>
                </a:rPr>
                <a:t>Task</a:t>
              </a:r>
            </a:p>
          </p:txBody>
        </p:sp>
        <p:sp>
          <p:nvSpPr>
            <p:cNvPr id="37" name="Task check 0 circle">
              <a:extLst>
                <a:ext uri="{FF2B5EF4-FFF2-40B4-BE49-F238E27FC236}">
                  <a16:creationId xmlns:a16="http://schemas.microsoft.com/office/drawing/2014/main" id="{6874BAA5-F834-46F3-A65C-46CFCF42548A}"/>
                </a:ext>
              </a:extLst>
            </p:cNvPr>
            <p:cNvSpPr>
              <a:spLocks noGrp="1"/>
            </p:cNvSpPr>
            <p:nvPr/>
          </p:nvSpPr>
          <p:spPr>
            <a:xfrm>
              <a:off x="923925" y="7219950"/>
              <a:ext cx="142875" cy="142875"/>
            </a:xfrm>
            <a:prstGeom prst="ellipse">
              <a:avLst/>
            </a:prstGeom>
            <a:gradFill>
              <a:gsLst>
                <a:gs pos="0">
                  <a:srgbClr val="65BC6A"/>
                </a:gs>
                <a:gs pos="100000">
                  <a:srgbClr val="96AEC5"/>
                </a:gs>
              </a:gsLst>
              <a:lin ang="5400000"/>
            </a:gradFill>
            <a:ln w="10478">
              <a:solidFill>
                <a:srgbClr val="FFFFFF"/>
              </a:solidFill>
              <a:prstDash val="solid"/>
            </a:ln>
          </p:spPr>
        </p:sp>
        <p:sp>
          <p:nvSpPr>
            <p:cNvPr id="38" name="Task check 0 tick">
              <a:extLst>
                <a:ext uri="{FF2B5EF4-FFF2-40B4-BE49-F238E27FC236}">
                  <a16:creationId xmlns:a16="http://schemas.microsoft.com/office/drawing/2014/main" id="{9CD901FE-1EC7-40F7-BF34-F37DA8A87ADA}"/>
                </a:ext>
              </a:extLst>
            </p:cNvPr>
            <p:cNvSpPr>
              <a:spLocks noGrp="1"/>
            </p:cNvSpPr>
            <p:nvPr/>
          </p:nvSpPr>
          <p:spPr>
            <a:xfrm>
              <a:off x="963930" y="7269956"/>
              <a:ext cx="65722" cy="45720"/>
            </a:xfrm>
            <a:custGeom>
              <a:avLst/>
              <a:gdLst/>
              <a:ahLst/>
              <a:cxnLst/>
              <a:rect l="0" t="0" r="0" b="0"/>
              <a:pathLst>
                <a:path w="65722" h="45720">
                  <a:moveTo>
                    <a:pt x="0" y="24289"/>
                  </a:moveTo>
                  <a:lnTo>
                    <a:pt x="22860" y="45720"/>
                  </a:lnTo>
                  <a:lnTo>
                    <a:pt x="65722" y="0"/>
                  </a:lnTo>
                </a:path>
              </a:pathLst>
            </a:custGeom>
            <a:noFill/>
            <a:ln w="15716">
              <a:solidFill>
                <a:srgbClr val="FFFFFF"/>
              </a:solidFill>
            </a:ln>
          </p:spPr>
        </p:sp>
        <p:sp>
          <p:nvSpPr>
            <p:cNvPr id="39" name="Task requirement 0">
              <a:extLst>
                <a:ext uri="{FF2B5EF4-FFF2-40B4-BE49-F238E27FC236}">
                  <a16:creationId xmlns:a16="http://schemas.microsoft.com/office/drawing/2014/main" id="{6322C37C-4682-416B-9C64-B56056EC37CB}"/>
                </a:ext>
              </a:extLst>
            </p:cNvPr>
            <p:cNvSpPr>
              <a:spLocks noGrp="1"/>
            </p:cNvSpPr>
            <p:nvPr/>
          </p:nvSpPr>
          <p:spPr>
            <a:xfrm>
              <a:off x="1114425" y="7191375"/>
              <a:ext cx="201930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1275" b="0">
                  <a:solidFill>
                    <a:srgbClr val="1C3258"/>
                  </a:solidFill>
                  <a:latin typeface="Arial Narrow"/>
                  <a:ea typeface="Arial Narrow"/>
                  <a:cs typeface="Arial Narrow"/>
                </a:defRPr>
              </a:pPr>
              <a:r>
                <a:rPr sz="1275" b="0">
                  <a:solidFill>
                    <a:srgbClr val="1C3258"/>
                  </a:solidFill>
                  <a:latin typeface="Times New Roman" panose="02020603050405020304" pitchFamily="18" charset="0"/>
                  <a:ea typeface="Arial Narrow"/>
                  <a:cs typeface="Times New Roman" panose="02020603050405020304" pitchFamily="18" charset="0"/>
                </a:rPr>
                <a:t>Migrate to target framework(s)</a:t>
              </a:r>
            </a:p>
          </p:txBody>
        </p:sp>
        <p:sp>
          <p:nvSpPr>
            <p:cNvPr id="40" name="Task check 1 circle">
              <a:extLst>
                <a:ext uri="{FF2B5EF4-FFF2-40B4-BE49-F238E27FC236}">
                  <a16:creationId xmlns:a16="http://schemas.microsoft.com/office/drawing/2014/main" id="{B7004762-2951-48A3-8DD1-7BE853184B17}"/>
                </a:ext>
              </a:extLst>
            </p:cNvPr>
            <p:cNvSpPr>
              <a:spLocks noGrp="1"/>
            </p:cNvSpPr>
            <p:nvPr/>
          </p:nvSpPr>
          <p:spPr>
            <a:xfrm>
              <a:off x="923925" y="7486650"/>
              <a:ext cx="142875" cy="142875"/>
            </a:xfrm>
            <a:prstGeom prst="ellipse">
              <a:avLst/>
            </a:prstGeom>
            <a:gradFill>
              <a:gsLst>
                <a:gs pos="0">
                  <a:srgbClr val="65BC6A"/>
                </a:gs>
                <a:gs pos="100000">
                  <a:srgbClr val="96AEC5"/>
                </a:gs>
              </a:gsLst>
              <a:lin ang="5400000"/>
            </a:gradFill>
            <a:ln w="10478">
              <a:solidFill>
                <a:srgbClr val="FFFFFF"/>
              </a:solidFill>
              <a:prstDash val="solid"/>
            </a:ln>
          </p:spPr>
        </p:sp>
        <p:sp>
          <p:nvSpPr>
            <p:cNvPr id="41" name="Task check 1 tick">
              <a:extLst>
                <a:ext uri="{FF2B5EF4-FFF2-40B4-BE49-F238E27FC236}">
                  <a16:creationId xmlns:a16="http://schemas.microsoft.com/office/drawing/2014/main" id="{B7B029EF-B414-4E92-AD99-0AB10EEAAA5A}"/>
                </a:ext>
              </a:extLst>
            </p:cNvPr>
            <p:cNvSpPr>
              <a:spLocks noGrp="1"/>
            </p:cNvSpPr>
            <p:nvPr/>
          </p:nvSpPr>
          <p:spPr>
            <a:xfrm>
              <a:off x="963930" y="7536656"/>
              <a:ext cx="65722" cy="45720"/>
            </a:xfrm>
            <a:custGeom>
              <a:avLst/>
              <a:gdLst/>
              <a:ahLst/>
              <a:cxnLst/>
              <a:rect l="0" t="0" r="0" b="0"/>
              <a:pathLst>
                <a:path w="65722" h="45720">
                  <a:moveTo>
                    <a:pt x="0" y="24289"/>
                  </a:moveTo>
                  <a:lnTo>
                    <a:pt x="22860" y="45720"/>
                  </a:lnTo>
                  <a:lnTo>
                    <a:pt x="65722" y="0"/>
                  </a:lnTo>
                </a:path>
              </a:pathLst>
            </a:custGeom>
            <a:noFill/>
            <a:ln w="15716">
              <a:solidFill>
                <a:srgbClr val="FFFFFF"/>
              </a:solidFill>
            </a:ln>
          </p:spPr>
        </p:sp>
        <p:sp>
          <p:nvSpPr>
            <p:cNvPr id="42" name="Task requirement 1">
              <a:extLst>
                <a:ext uri="{FF2B5EF4-FFF2-40B4-BE49-F238E27FC236}">
                  <a16:creationId xmlns:a16="http://schemas.microsoft.com/office/drawing/2014/main" id="{29444499-6C53-4939-AC4F-288B81686D3E}"/>
                </a:ext>
              </a:extLst>
            </p:cNvPr>
            <p:cNvSpPr>
              <a:spLocks noGrp="1"/>
            </p:cNvSpPr>
            <p:nvPr/>
          </p:nvSpPr>
          <p:spPr>
            <a:xfrm>
              <a:off x="1114425" y="7458075"/>
              <a:ext cx="201930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1275" b="0">
                  <a:solidFill>
                    <a:srgbClr val="1C3258"/>
                  </a:solidFill>
                  <a:latin typeface="Arial Narrow"/>
                  <a:ea typeface="Arial Narrow"/>
                  <a:cs typeface="Arial Narrow"/>
                </a:defRPr>
              </a:pPr>
              <a:r>
                <a:rPr sz="1275" b="0">
                  <a:solidFill>
                    <a:srgbClr val="1C3258"/>
                  </a:solidFill>
                  <a:latin typeface="Times New Roman" panose="02020603050405020304" pitchFamily="18" charset="0"/>
                  <a:ea typeface="Arial Narrow"/>
                  <a:cs typeface="Times New Roman" panose="02020603050405020304" pitchFamily="18" charset="0"/>
                </a:rPr>
                <a:t>Keep training behavior</a:t>
              </a:r>
            </a:p>
          </p:txBody>
        </p:sp>
        <p:sp>
          <p:nvSpPr>
            <p:cNvPr id="43" name="Task check 2 circle">
              <a:extLst>
                <a:ext uri="{FF2B5EF4-FFF2-40B4-BE49-F238E27FC236}">
                  <a16:creationId xmlns:a16="http://schemas.microsoft.com/office/drawing/2014/main" id="{4A44B4E4-0387-4388-978D-4D3EF4094A15}"/>
                </a:ext>
              </a:extLst>
            </p:cNvPr>
            <p:cNvSpPr>
              <a:spLocks noGrp="1"/>
            </p:cNvSpPr>
            <p:nvPr/>
          </p:nvSpPr>
          <p:spPr>
            <a:xfrm>
              <a:off x="923925" y="7753350"/>
              <a:ext cx="142875" cy="142875"/>
            </a:xfrm>
            <a:prstGeom prst="ellipse">
              <a:avLst/>
            </a:prstGeom>
            <a:gradFill>
              <a:gsLst>
                <a:gs pos="0">
                  <a:srgbClr val="65BC6A"/>
                </a:gs>
                <a:gs pos="100000">
                  <a:srgbClr val="96AEC5"/>
                </a:gs>
              </a:gsLst>
              <a:lin ang="5400000"/>
            </a:gradFill>
            <a:ln w="10478">
              <a:solidFill>
                <a:srgbClr val="FFFFFF"/>
              </a:solidFill>
              <a:prstDash val="solid"/>
            </a:ln>
          </p:spPr>
        </p:sp>
        <p:sp>
          <p:nvSpPr>
            <p:cNvPr id="44" name="Task check 2 tick">
              <a:extLst>
                <a:ext uri="{FF2B5EF4-FFF2-40B4-BE49-F238E27FC236}">
                  <a16:creationId xmlns:a16="http://schemas.microsoft.com/office/drawing/2014/main" id="{AA45DFBB-8E40-4B32-90F9-1A2BD9F297BF}"/>
                </a:ext>
              </a:extLst>
            </p:cNvPr>
            <p:cNvSpPr>
              <a:spLocks noGrp="1"/>
            </p:cNvSpPr>
            <p:nvPr/>
          </p:nvSpPr>
          <p:spPr>
            <a:xfrm>
              <a:off x="963930" y="7803356"/>
              <a:ext cx="65722" cy="45720"/>
            </a:xfrm>
            <a:custGeom>
              <a:avLst/>
              <a:gdLst/>
              <a:ahLst/>
              <a:cxnLst/>
              <a:rect l="0" t="0" r="0" b="0"/>
              <a:pathLst>
                <a:path w="65722" h="45720">
                  <a:moveTo>
                    <a:pt x="0" y="24289"/>
                  </a:moveTo>
                  <a:lnTo>
                    <a:pt x="22860" y="45720"/>
                  </a:lnTo>
                  <a:lnTo>
                    <a:pt x="65722" y="0"/>
                  </a:lnTo>
                </a:path>
              </a:pathLst>
            </a:custGeom>
            <a:noFill/>
            <a:ln w="15716">
              <a:solidFill>
                <a:srgbClr val="FFFFFF"/>
              </a:solidFill>
            </a:ln>
          </p:spPr>
        </p:sp>
        <p:sp>
          <p:nvSpPr>
            <p:cNvPr id="45" name="Task requirement 2">
              <a:extLst>
                <a:ext uri="{FF2B5EF4-FFF2-40B4-BE49-F238E27FC236}">
                  <a16:creationId xmlns:a16="http://schemas.microsoft.com/office/drawing/2014/main" id="{4DFFE474-FF02-4B92-AC9C-130A8CB40B3D}"/>
                </a:ext>
              </a:extLst>
            </p:cNvPr>
            <p:cNvSpPr>
              <a:spLocks noGrp="1"/>
            </p:cNvSpPr>
            <p:nvPr/>
          </p:nvSpPr>
          <p:spPr>
            <a:xfrm>
              <a:off x="1114425" y="7724775"/>
              <a:ext cx="201930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1275" b="0">
                  <a:solidFill>
                    <a:srgbClr val="1C3258"/>
                  </a:solidFill>
                  <a:latin typeface="Arial Narrow"/>
                  <a:ea typeface="Arial Narrow"/>
                  <a:cs typeface="Arial Narrow"/>
                </a:defRPr>
              </a:pPr>
              <a:r>
                <a:rPr sz="1275" b="0">
                  <a:solidFill>
                    <a:srgbClr val="1C3258"/>
                  </a:solidFill>
                  <a:latin typeface="Times New Roman" panose="02020603050405020304" pitchFamily="18" charset="0"/>
                  <a:ea typeface="Arial Narrow"/>
                  <a:cs typeface="Times New Roman" panose="02020603050405020304" pitchFamily="18" charset="0"/>
                </a:rPr>
                <a:t>Fix incompatibilities and errors</a:t>
              </a:r>
            </a:p>
          </p:txBody>
        </p:sp>
      </p:grpSp>
      <p:grpSp>
        <p:nvGrpSpPr>
          <p:cNvPr id="362" name="Orchestrator"/>
          <p:cNvGrpSpPr/>
          <p:nvPr/>
        </p:nvGrpSpPr>
        <p:grpSpPr>
          <a:xfrm>
            <a:off x="3638550" y="1209675"/>
            <a:ext cx="8639175" cy="1028700"/>
            <a:chOff x="3638550" y="1209675"/>
            <a:chExt cx="8639175" cy="1028700"/>
          </a:xfrm>
        </p:grpSpPr>
        <p:sp>
          <p:nvSpPr>
            <p:cNvPr id="46" name="Orchestrator card">
              <a:extLst>
                <a:ext uri="{FF2B5EF4-FFF2-40B4-BE49-F238E27FC236}">
                  <a16:creationId xmlns:a16="http://schemas.microsoft.com/office/drawing/2014/main" id="{4C91DF03-C840-444C-AF7F-31BA0D93C4EA}"/>
                </a:ext>
              </a:extLst>
            </p:cNvPr>
            <p:cNvSpPr>
              <a:spLocks noGrp="1"/>
            </p:cNvSpPr>
            <p:nvPr/>
          </p:nvSpPr>
          <p:spPr>
            <a:xfrm>
              <a:off x="3638550" y="1209675"/>
              <a:ext cx="8639175" cy="1028700"/>
            </a:xfrm>
            <a:prstGeom prst="roundRect">
              <a:avLst>
                <a:gd name="adj" fmla="val 17593"/>
              </a:avLst>
            </a:prstGeom>
            <a:gradFill>
              <a:gsLst>
                <a:gs pos="0">
                  <a:srgbClr val="D9F0FF"/>
                </a:gs>
                <a:gs pos="100000">
                  <a:srgbClr val="CCE9FC"/>
                </a:gs>
              </a:gsLst>
              <a:lin ang="5400000"/>
            </a:gradFill>
            <a:ln w="23813">
              <a:solidFill>
                <a:srgbClr val="6DAFE0"/>
              </a:solidFill>
            </a:ln>
          </p:spPr>
        </p:sp>
        <p:sp>
          <p:nvSpPr>
            <p:cNvPr id="47" name="Robot badge">
              <a:extLst>
                <a:ext uri="{FF2B5EF4-FFF2-40B4-BE49-F238E27FC236}">
                  <a16:creationId xmlns:a16="http://schemas.microsoft.com/office/drawing/2014/main" id="{0F99FCA1-04C6-480B-9B01-2CBCFFA549B0}"/>
                </a:ext>
              </a:extLst>
            </p:cNvPr>
            <p:cNvSpPr>
              <a:spLocks noGrp="1"/>
            </p:cNvSpPr>
            <p:nvPr/>
          </p:nvSpPr>
          <p:spPr>
            <a:xfrm>
              <a:off x="3857625" y="1323975"/>
              <a:ext cx="885825" cy="762000"/>
            </a:xfrm>
            <a:prstGeom prst="roundRect">
              <a:avLst>
                <a:gd name="adj" fmla="val 43750"/>
              </a:avLst>
            </a:prstGeom>
            <a:gradFill>
              <a:gsLst>
                <a:gs pos="0">
                  <a:srgbClr val="84CFFE"/>
                </a:gs>
                <a:gs pos="100000">
                  <a:srgbClr val="61B9F2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48" name="Orchestrator robot 0">
              <a:extLst>
                <a:ext uri="{FF2B5EF4-FFF2-40B4-BE49-F238E27FC236}">
                  <a16:creationId xmlns:a16="http://schemas.microsoft.com/office/drawing/2014/main" id="{48E0795F-54E6-4740-BCA3-8830F8F58C9E}"/>
                </a:ext>
              </a:extLst>
            </p:cNvPr>
            <p:cNvSpPr>
              <a:spLocks noGrp="1"/>
            </p:cNvSpPr>
            <p:nvPr/>
          </p:nvSpPr>
          <p:spPr>
            <a:xfrm>
              <a:off x="4197350" y="1479550"/>
              <a:ext cx="103187" cy="98425"/>
            </a:xfrm>
            <a:custGeom>
              <a:avLst/>
              <a:gdLst/>
              <a:ahLst/>
              <a:cxnLst/>
              <a:rect l="0" t="0" r="0" b="0"/>
              <a:pathLst>
                <a:path w="103187" h="98425">
                  <a:moveTo>
                    <a:pt x="103187" y="98425"/>
                  </a:moveTo>
                  <a:lnTo>
                    <a:pt x="103187" y="86122"/>
                  </a:lnTo>
                  <a:lnTo>
                    <a:pt x="103187" y="73819"/>
                  </a:lnTo>
                  <a:lnTo>
                    <a:pt x="103187" y="61516"/>
                  </a:lnTo>
                  <a:lnTo>
                    <a:pt x="103187" y="49212"/>
                  </a:lnTo>
                  <a:lnTo>
                    <a:pt x="103187" y="36909"/>
                  </a:lnTo>
                  <a:lnTo>
                    <a:pt x="103187" y="24606"/>
                  </a:lnTo>
                  <a:lnTo>
                    <a:pt x="103187" y="12303"/>
                  </a:lnTo>
                  <a:lnTo>
                    <a:pt x="103187" y="0"/>
                  </a:lnTo>
                  <a:lnTo>
                    <a:pt x="90289" y="0"/>
                  </a:lnTo>
                  <a:lnTo>
                    <a:pt x="77391" y="0"/>
                  </a:lnTo>
                  <a:lnTo>
                    <a:pt x="64492" y="0"/>
                  </a:lnTo>
                  <a:lnTo>
                    <a:pt x="51594" y="0"/>
                  </a:lnTo>
                  <a:lnTo>
                    <a:pt x="38695" y="0"/>
                  </a:lnTo>
                  <a:lnTo>
                    <a:pt x="25797" y="0"/>
                  </a:lnTo>
                  <a:lnTo>
                    <a:pt x="12898" y="0"/>
                  </a:lnTo>
                  <a:lnTo>
                    <a:pt x="0" y="0"/>
                  </a:lnTo>
                </a:path>
              </a:pathLst>
            </a:custGeom>
            <a:noFill/>
            <a:ln w="51594">
              <a:solidFill>
                <a:srgbClr val="063A66"/>
              </a:solidFill>
            </a:ln>
          </p:spPr>
        </p:sp>
        <p:sp>
          <p:nvSpPr>
            <p:cNvPr id="49" name="Orchestrator robot 1">
              <a:extLst>
                <a:ext uri="{FF2B5EF4-FFF2-40B4-BE49-F238E27FC236}">
                  <a16:creationId xmlns:a16="http://schemas.microsoft.com/office/drawing/2014/main" id="{C1959452-9914-4561-8ABF-5B11E84EA1CB}"/>
                </a:ext>
              </a:extLst>
            </p:cNvPr>
            <p:cNvSpPr>
              <a:spLocks noGrp="1"/>
            </p:cNvSpPr>
            <p:nvPr/>
          </p:nvSpPr>
          <p:spPr>
            <a:xfrm>
              <a:off x="4094163" y="1577975"/>
              <a:ext cx="412750" cy="295275"/>
            </a:xfrm>
            <a:custGeom>
              <a:avLst/>
              <a:gdLst/>
              <a:ahLst/>
              <a:cxnLst/>
              <a:rect l="0" t="0" r="0" b="0"/>
              <a:pathLst>
                <a:path w="412750" h="295275">
                  <a:moveTo>
                    <a:pt x="51594" y="0"/>
                  </a:moveTo>
                  <a:lnTo>
                    <a:pt x="64446" y="0"/>
                  </a:lnTo>
                  <a:lnTo>
                    <a:pt x="77297" y="0"/>
                  </a:lnTo>
                  <a:lnTo>
                    <a:pt x="90149" y="0"/>
                  </a:lnTo>
                  <a:lnTo>
                    <a:pt x="103001" y="0"/>
                  </a:lnTo>
                  <a:lnTo>
                    <a:pt x="115853" y="0"/>
                  </a:lnTo>
                  <a:lnTo>
                    <a:pt x="128704" y="0"/>
                  </a:lnTo>
                  <a:lnTo>
                    <a:pt x="141556" y="0"/>
                  </a:lnTo>
                  <a:lnTo>
                    <a:pt x="154408" y="0"/>
                  </a:lnTo>
                  <a:lnTo>
                    <a:pt x="167260" y="0"/>
                  </a:lnTo>
                  <a:lnTo>
                    <a:pt x="180112" y="0"/>
                  </a:lnTo>
                  <a:lnTo>
                    <a:pt x="192963" y="0"/>
                  </a:lnTo>
                  <a:lnTo>
                    <a:pt x="205815" y="0"/>
                  </a:lnTo>
                  <a:lnTo>
                    <a:pt x="218667" y="0"/>
                  </a:lnTo>
                  <a:lnTo>
                    <a:pt x="231519" y="0"/>
                  </a:lnTo>
                  <a:lnTo>
                    <a:pt x="244370" y="0"/>
                  </a:lnTo>
                  <a:lnTo>
                    <a:pt x="257222" y="0"/>
                  </a:lnTo>
                  <a:lnTo>
                    <a:pt x="270074" y="0"/>
                  </a:lnTo>
                  <a:lnTo>
                    <a:pt x="282926" y="0"/>
                  </a:lnTo>
                  <a:lnTo>
                    <a:pt x="295778" y="0"/>
                  </a:lnTo>
                  <a:lnTo>
                    <a:pt x="308629" y="0"/>
                  </a:lnTo>
                  <a:lnTo>
                    <a:pt x="321481" y="0"/>
                  </a:lnTo>
                  <a:lnTo>
                    <a:pt x="334333" y="0"/>
                  </a:lnTo>
                  <a:lnTo>
                    <a:pt x="347185" y="0"/>
                  </a:lnTo>
                  <a:lnTo>
                    <a:pt x="360036" y="0"/>
                  </a:lnTo>
                  <a:lnTo>
                    <a:pt x="373295" y="1382"/>
                  </a:lnTo>
                  <a:lnTo>
                    <a:pt x="386650" y="6428"/>
                  </a:lnTo>
                  <a:lnTo>
                    <a:pt x="398420" y="15175"/>
                  </a:lnTo>
                  <a:lnTo>
                    <a:pt x="407051" y="26730"/>
                  </a:lnTo>
                  <a:lnTo>
                    <a:pt x="411746" y="39551"/>
                  </a:lnTo>
                  <a:lnTo>
                    <a:pt x="412750" y="52099"/>
                  </a:lnTo>
                  <a:lnTo>
                    <a:pt x="412750" y="64358"/>
                  </a:lnTo>
                  <a:lnTo>
                    <a:pt x="412750" y="76616"/>
                  </a:lnTo>
                  <a:lnTo>
                    <a:pt x="412750" y="88875"/>
                  </a:lnTo>
                  <a:lnTo>
                    <a:pt x="412750" y="101134"/>
                  </a:lnTo>
                  <a:lnTo>
                    <a:pt x="412750" y="113392"/>
                  </a:lnTo>
                  <a:lnTo>
                    <a:pt x="412750" y="125651"/>
                  </a:lnTo>
                  <a:lnTo>
                    <a:pt x="412750" y="137909"/>
                  </a:lnTo>
                  <a:lnTo>
                    <a:pt x="412750" y="150168"/>
                  </a:lnTo>
                  <a:lnTo>
                    <a:pt x="412750" y="162427"/>
                  </a:lnTo>
                  <a:lnTo>
                    <a:pt x="412750" y="174685"/>
                  </a:lnTo>
                  <a:lnTo>
                    <a:pt x="412750" y="186944"/>
                  </a:lnTo>
                  <a:lnTo>
                    <a:pt x="412750" y="199203"/>
                  </a:lnTo>
                  <a:lnTo>
                    <a:pt x="412750" y="211461"/>
                  </a:lnTo>
                  <a:lnTo>
                    <a:pt x="412750" y="223720"/>
                  </a:lnTo>
                  <a:lnTo>
                    <a:pt x="412750" y="235978"/>
                  </a:lnTo>
                  <a:lnTo>
                    <a:pt x="412699" y="248256"/>
                  </a:lnTo>
                  <a:lnTo>
                    <a:pt x="410295" y="261063"/>
                  </a:lnTo>
                  <a:lnTo>
                    <a:pt x="403941" y="273565"/>
                  </a:lnTo>
                  <a:lnTo>
                    <a:pt x="393864" y="284123"/>
                  </a:lnTo>
                  <a:lnTo>
                    <a:pt x="381228" y="291398"/>
                  </a:lnTo>
                  <a:lnTo>
                    <a:pt x="367725" y="294874"/>
                  </a:lnTo>
                  <a:lnTo>
                    <a:pt x="354730" y="295275"/>
                  </a:lnTo>
                  <a:lnTo>
                    <a:pt x="341879" y="295275"/>
                  </a:lnTo>
                  <a:lnTo>
                    <a:pt x="329027" y="295275"/>
                  </a:lnTo>
                  <a:lnTo>
                    <a:pt x="316175" y="295275"/>
                  </a:lnTo>
                  <a:lnTo>
                    <a:pt x="303323" y="295275"/>
                  </a:lnTo>
                  <a:lnTo>
                    <a:pt x="290471" y="295275"/>
                  </a:lnTo>
                  <a:lnTo>
                    <a:pt x="277620" y="295275"/>
                  </a:lnTo>
                  <a:lnTo>
                    <a:pt x="264768" y="295275"/>
                  </a:lnTo>
                  <a:lnTo>
                    <a:pt x="251916" y="295275"/>
                  </a:lnTo>
                  <a:lnTo>
                    <a:pt x="239064" y="295275"/>
                  </a:lnTo>
                  <a:lnTo>
                    <a:pt x="226213" y="295275"/>
                  </a:lnTo>
                  <a:lnTo>
                    <a:pt x="213361" y="295275"/>
                  </a:lnTo>
                  <a:lnTo>
                    <a:pt x="200509" y="295275"/>
                  </a:lnTo>
                  <a:lnTo>
                    <a:pt x="187657" y="295275"/>
                  </a:lnTo>
                  <a:lnTo>
                    <a:pt x="174805" y="295275"/>
                  </a:lnTo>
                  <a:lnTo>
                    <a:pt x="161954" y="295275"/>
                  </a:lnTo>
                  <a:lnTo>
                    <a:pt x="149102" y="295275"/>
                  </a:lnTo>
                  <a:lnTo>
                    <a:pt x="136250" y="295275"/>
                  </a:lnTo>
                  <a:lnTo>
                    <a:pt x="123398" y="295275"/>
                  </a:lnTo>
                  <a:lnTo>
                    <a:pt x="110547" y="295275"/>
                  </a:lnTo>
                  <a:lnTo>
                    <a:pt x="97695" y="295275"/>
                  </a:lnTo>
                  <a:lnTo>
                    <a:pt x="84843" y="295275"/>
                  </a:lnTo>
                  <a:lnTo>
                    <a:pt x="71991" y="295275"/>
                  </a:lnTo>
                  <a:lnTo>
                    <a:pt x="59139" y="295275"/>
                  </a:lnTo>
                  <a:lnTo>
                    <a:pt x="46187" y="295004"/>
                  </a:lnTo>
                  <a:lnTo>
                    <a:pt x="32689" y="291852"/>
                  </a:lnTo>
                  <a:lnTo>
                    <a:pt x="19908" y="284901"/>
                  </a:lnTo>
                  <a:lnTo>
                    <a:pt x="9550" y="274586"/>
                  </a:lnTo>
                  <a:lnTo>
                    <a:pt x="2848" y="262188"/>
                  </a:lnTo>
                  <a:lnTo>
                    <a:pt x="115" y="249346"/>
                  </a:lnTo>
                  <a:lnTo>
                    <a:pt x="0" y="237047"/>
                  </a:lnTo>
                  <a:lnTo>
                    <a:pt x="0" y="224788"/>
                  </a:lnTo>
                  <a:lnTo>
                    <a:pt x="0" y="212529"/>
                  </a:lnTo>
                  <a:lnTo>
                    <a:pt x="0" y="200271"/>
                  </a:lnTo>
                  <a:lnTo>
                    <a:pt x="0" y="188012"/>
                  </a:lnTo>
                  <a:lnTo>
                    <a:pt x="0" y="175753"/>
                  </a:lnTo>
                  <a:lnTo>
                    <a:pt x="0" y="163495"/>
                  </a:lnTo>
                  <a:lnTo>
                    <a:pt x="0" y="151236"/>
                  </a:lnTo>
                  <a:lnTo>
                    <a:pt x="0" y="138978"/>
                  </a:lnTo>
                  <a:lnTo>
                    <a:pt x="0" y="126719"/>
                  </a:lnTo>
                  <a:lnTo>
                    <a:pt x="0" y="114460"/>
                  </a:lnTo>
                  <a:lnTo>
                    <a:pt x="0" y="102202"/>
                  </a:lnTo>
                  <a:lnTo>
                    <a:pt x="0" y="89943"/>
                  </a:lnTo>
                  <a:lnTo>
                    <a:pt x="0" y="77685"/>
                  </a:lnTo>
                  <a:lnTo>
                    <a:pt x="0" y="65426"/>
                  </a:lnTo>
                  <a:lnTo>
                    <a:pt x="0" y="53167"/>
                  </a:lnTo>
                  <a:lnTo>
                    <a:pt x="783" y="40673"/>
                  </a:lnTo>
                  <a:lnTo>
                    <a:pt x="5129" y="27821"/>
                  </a:lnTo>
                  <a:lnTo>
                    <a:pt x="13435" y="16090"/>
                  </a:lnTo>
                  <a:lnTo>
                    <a:pt x="24986" y="7049"/>
                  </a:lnTo>
                  <a:lnTo>
                    <a:pt x="38273" y="1669"/>
                  </a:lnTo>
                  <a:lnTo>
                    <a:pt x="51594" y="0"/>
                  </a:lnTo>
                  <a:close/>
                </a:path>
              </a:pathLst>
            </a:custGeom>
            <a:noFill/>
            <a:ln w="51594">
              <a:solidFill>
                <a:srgbClr val="063A66"/>
              </a:solidFill>
            </a:ln>
          </p:spPr>
        </p:sp>
        <p:sp>
          <p:nvSpPr>
            <p:cNvPr id="50" name="Orchestrator robot 2">
              <a:extLst>
                <a:ext uri="{FF2B5EF4-FFF2-40B4-BE49-F238E27FC236}">
                  <a16:creationId xmlns:a16="http://schemas.microsoft.com/office/drawing/2014/main" id="{1C3DA75A-3909-416D-85E7-0A6498288BFE}"/>
                </a:ext>
              </a:extLst>
            </p:cNvPr>
            <p:cNvSpPr>
              <a:spLocks noGrp="1"/>
            </p:cNvSpPr>
            <p:nvPr/>
          </p:nvSpPr>
          <p:spPr>
            <a:xfrm>
              <a:off x="4042569" y="1725613"/>
              <a:ext cx="51594" cy="953"/>
            </a:xfrm>
            <a:custGeom>
              <a:avLst/>
              <a:gdLst/>
              <a:ahLst/>
              <a:cxnLst/>
              <a:rect l="0" t="0" r="0" b="0"/>
              <a:pathLst>
                <a:path w="51594" h="953">
                  <a:moveTo>
                    <a:pt x="0" y="0"/>
                  </a:moveTo>
                  <a:lnTo>
                    <a:pt x="12898" y="0"/>
                  </a:lnTo>
                  <a:lnTo>
                    <a:pt x="25797" y="0"/>
                  </a:lnTo>
                  <a:lnTo>
                    <a:pt x="38695" y="0"/>
                  </a:lnTo>
                  <a:lnTo>
                    <a:pt x="51594" y="0"/>
                  </a:lnTo>
                </a:path>
              </a:pathLst>
            </a:custGeom>
            <a:noFill/>
            <a:ln w="51594">
              <a:solidFill>
                <a:srgbClr val="063A66"/>
              </a:solidFill>
            </a:ln>
          </p:spPr>
        </p:sp>
        <p:sp>
          <p:nvSpPr>
            <p:cNvPr id="51" name="Orchestrator robot 3">
              <a:extLst>
                <a:ext uri="{FF2B5EF4-FFF2-40B4-BE49-F238E27FC236}">
                  <a16:creationId xmlns:a16="http://schemas.microsoft.com/office/drawing/2014/main" id="{BCEC0F68-99CB-4175-8BDE-C93FED4246F0}"/>
                </a:ext>
              </a:extLst>
            </p:cNvPr>
            <p:cNvSpPr>
              <a:spLocks noGrp="1"/>
            </p:cNvSpPr>
            <p:nvPr/>
          </p:nvSpPr>
          <p:spPr>
            <a:xfrm>
              <a:off x="4506913" y="1725613"/>
              <a:ext cx="51594" cy="953"/>
            </a:xfrm>
            <a:custGeom>
              <a:avLst/>
              <a:gdLst/>
              <a:ahLst/>
              <a:cxnLst/>
              <a:rect l="0" t="0" r="0" b="0"/>
              <a:pathLst>
                <a:path w="51594" h="953">
                  <a:moveTo>
                    <a:pt x="0" y="0"/>
                  </a:moveTo>
                  <a:lnTo>
                    <a:pt x="12898" y="0"/>
                  </a:lnTo>
                  <a:lnTo>
                    <a:pt x="25797" y="0"/>
                  </a:lnTo>
                  <a:lnTo>
                    <a:pt x="38695" y="0"/>
                  </a:lnTo>
                  <a:lnTo>
                    <a:pt x="51594" y="0"/>
                  </a:lnTo>
                </a:path>
              </a:pathLst>
            </a:custGeom>
            <a:noFill/>
            <a:ln w="51594">
              <a:solidFill>
                <a:srgbClr val="063A66"/>
              </a:solidFill>
            </a:ln>
          </p:spPr>
        </p:sp>
        <p:sp>
          <p:nvSpPr>
            <p:cNvPr id="52" name="Orchestrator robot 4">
              <a:extLst>
                <a:ext uri="{FF2B5EF4-FFF2-40B4-BE49-F238E27FC236}">
                  <a16:creationId xmlns:a16="http://schemas.microsoft.com/office/drawing/2014/main" id="{2FB0EE87-0A78-4AF7-B5BF-5CCA0226C1E4}"/>
                </a:ext>
              </a:extLst>
            </p:cNvPr>
            <p:cNvSpPr>
              <a:spLocks noGrp="1"/>
            </p:cNvSpPr>
            <p:nvPr/>
          </p:nvSpPr>
          <p:spPr>
            <a:xfrm>
              <a:off x="4377928" y="1701006"/>
              <a:ext cx="953" cy="49212"/>
            </a:xfrm>
            <a:custGeom>
              <a:avLst/>
              <a:gdLst/>
              <a:ahLst/>
              <a:cxnLst/>
              <a:rect l="0" t="0" r="0" b="0"/>
              <a:pathLst>
                <a:path w="953" h="49212">
                  <a:moveTo>
                    <a:pt x="0" y="0"/>
                  </a:moveTo>
                  <a:lnTo>
                    <a:pt x="0" y="12303"/>
                  </a:lnTo>
                  <a:lnTo>
                    <a:pt x="0" y="24606"/>
                  </a:lnTo>
                  <a:lnTo>
                    <a:pt x="0" y="36909"/>
                  </a:lnTo>
                  <a:lnTo>
                    <a:pt x="0" y="49212"/>
                  </a:lnTo>
                </a:path>
              </a:pathLst>
            </a:custGeom>
            <a:noFill/>
            <a:ln w="51594">
              <a:solidFill>
                <a:srgbClr val="063A66"/>
              </a:solidFill>
            </a:ln>
          </p:spPr>
        </p:sp>
        <p:sp>
          <p:nvSpPr>
            <p:cNvPr id="53" name="Orchestrator robot 5">
              <a:extLst>
                <a:ext uri="{FF2B5EF4-FFF2-40B4-BE49-F238E27FC236}">
                  <a16:creationId xmlns:a16="http://schemas.microsoft.com/office/drawing/2014/main" id="{F39F0646-3443-4546-A6BC-88E134526CB4}"/>
                </a:ext>
              </a:extLst>
            </p:cNvPr>
            <p:cNvSpPr>
              <a:spLocks noGrp="1"/>
            </p:cNvSpPr>
            <p:nvPr/>
          </p:nvSpPr>
          <p:spPr>
            <a:xfrm>
              <a:off x="4223147" y="1701006"/>
              <a:ext cx="953" cy="49212"/>
            </a:xfrm>
            <a:custGeom>
              <a:avLst/>
              <a:gdLst/>
              <a:ahLst/>
              <a:cxnLst/>
              <a:rect l="0" t="0" r="0" b="0"/>
              <a:pathLst>
                <a:path w="953" h="49212">
                  <a:moveTo>
                    <a:pt x="0" y="0"/>
                  </a:moveTo>
                  <a:lnTo>
                    <a:pt x="0" y="12303"/>
                  </a:lnTo>
                  <a:lnTo>
                    <a:pt x="0" y="24606"/>
                  </a:lnTo>
                  <a:lnTo>
                    <a:pt x="0" y="36909"/>
                  </a:lnTo>
                  <a:lnTo>
                    <a:pt x="0" y="49212"/>
                  </a:lnTo>
                </a:path>
              </a:pathLst>
            </a:custGeom>
            <a:noFill/>
            <a:ln w="51594">
              <a:solidFill>
                <a:srgbClr val="063A66"/>
              </a:solidFill>
            </a:ln>
          </p:spPr>
        </p:sp>
        <p:sp>
          <p:nvSpPr>
            <p:cNvPr id="54" name="Orchestrator heading">
              <a:extLst>
                <a:ext uri="{FF2B5EF4-FFF2-40B4-BE49-F238E27FC236}">
                  <a16:creationId xmlns:a16="http://schemas.microsoft.com/office/drawing/2014/main" id="{5415D54A-BEF3-4F0A-8CB0-45104A350811}"/>
                </a:ext>
              </a:extLst>
            </p:cNvPr>
            <p:cNvSpPr>
              <a:spLocks noGrp="1"/>
            </p:cNvSpPr>
            <p:nvPr/>
          </p:nvSpPr>
          <p:spPr>
            <a:xfrm>
              <a:off x="4867275" y="1543050"/>
              <a:ext cx="2095500" cy="3238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2100" b="1">
                  <a:solidFill>
                    <a:srgbClr val="071B44"/>
                  </a:solidFill>
                  <a:latin typeface="Arial Narrow"/>
                  <a:ea typeface="Arial Narrow"/>
                  <a:cs typeface="Arial Narrow"/>
                </a:defRPr>
              </a:pPr>
              <a:r>
                <a:rPr sz="2100" b="1">
                  <a:solidFill>
                    <a:srgbClr val="071B44"/>
                  </a:solidFill>
                  <a:latin typeface="Times New Roman" panose="02020603050405020304" pitchFamily="18" charset="0"/>
                  <a:ea typeface="Arial Narrow"/>
                  <a:cs typeface="Times New Roman" panose="02020603050405020304" pitchFamily="18" charset="0"/>
                </a:rPr>
                <a:t>Orchestrator</a:t>
              </a:r>
            </a:p>
          </p:txBody>
        </p:sp>
        <p:sp>
          <p:nvSpPr>
            <p:cNvPr id="57" name="Budget card">
              <a:extLst>
                <a:ext uri="{FF2B5EF4-FFF2-40B4-BE49-F238E27FC236}">
                  <a16:creationId xmlns:a16="http://schemas.microsoft.com/office/drawing/2014/main" id="{AC1A08D9-85C3-4ACF-9FF3-4D02B0C3E566}"/>
                </a:ext>
              </a:extLst>
            </p:cNvPr>
            <p:cNvSpPr>
              <a:spLocks noGrp="1"/>
            </p:cNvSpPr>
            <p:nvPr/>
          </p:nvSpPr>
          <p:spPr>
            <a:xfrm>
              <a:off x="7048500" y="1390650"/>
              <a:ext cx="1552575" cy="657225"/>
            </a:xfrm>
            <a:prstGeom prst="roundRect">
              <a:avLst>
                <a:gd name="adj" fmla="val 15942"/>
              </a:avLst>
            </a:prstGeom>
            <a:gradFill>
              <a:gsLst>
                <a:gs pos="0">
                  <a:srgbClr val="FFFFFF"/>
                </a:gs>
                <a:gs pos="100000">
                  <a:srgbClr val="EFF8FB"/>
                </a:gs>
              </a:gsLst>
              <a:lin ang="5400000"/>
            </a:gradFill>
            <a:ln w="12383">
              <a:solidFill>
                <a:srgbClr val="9FB8D0"/>
              </a:solidFill>
            </a:ln>
          </p:spPr>
        </p:sp>
        <p:sp>
          <p:nvSpPr>
            <p:cNvPr id="58" name="Budget gauge 0">
              <a:extLst>
                <a:ext uri="{FF2B5EF4-FFF2-40B4-BE49-F238E27FC236}">
                  <a16:creationId xmlns:a16="http://schemas.microsoft.com/office/drawing/2014/main" id="{2B09FE94-4FE2-4D72-B3F9-26037693A31E}"/>
                </a:ext>
              </a:extLst>
            </p:cNvPr>
            <p:cNvSpPr>
              <a:spLocks noGrp="1"/>
            </p:cNvSpPr>
            <p:nvPr/>
          </p:nvSpPr>
          <p:spPr>
            <a:xfrm>
              <a:off x="7391400" y="1674019"/>
              <a:ext cx="82550" cy="71438"/>
            </a:xfrm>
            <a:custGeom>
              <a:avLst/>
              <a:gdLst/>
              <a:ahLst/>
              <a:cxnLst/>
              <a:rect l="0" t="0" r="0" b="0"/>
              <a:pathLst>
                <a:path w="82550" h="71438">
                  <a:moveTo>
                    <a:pt x="0" y="71438"/>
                  </a:moveTo>
                  <a:lnTo>
                    <a:pt x="6879" y="65484"/>
                  </a:lnTo>
                  <a:lnTo>
                    <a:pt x="13758" y="59531"/>
                  </a:lnTo>
                  <a:lnTo>
                    <a:pt x="20637" y="53578"/>
                  </a:lnTo>
                  <a:lnTo>
                    <a:pt x="27517" y="47625"/>
                  </a:lnTo>
                  <a:lnTo>
                    <a:pt x="34396" y="41672"/>
                  </a:lnTo>
                  <a:lnTo>
                    <a:pt x="41275" y="35719"/>
                  </a:lnTo>
                  <a:lnTo>
                    <a:pt x="48154" y="29766"/>
                  </a:lnTo>
                  <a:lnTo>
                    <a:pt x="55033" y="23812"/>
                  </a:lnTo>
                  <a:lnTo>
                    <a:pt x="61913" y="17859"/>
                  </a:lnTo>
                  <a:lnTo>
                    <a:pt x="68792" y="11906"/>
                  </a:lnTo>
                  <a:lnTo>
                    <a:pt x="75671" y="5953"/>
                  </a:lnTo>
                  <a:lnTo>
                    <a:pt x="82550" y="0"/>
                  </a:lnTo>
                </a:path>
              </a:pathLst>
            </a:custGeom>
            <a:noFill/>
            <a:ln w="41275">
              <a:solidFill>
                <a:srgbClr val="092450"/>
              </a:solidFill>
            </a:ln>
          </p:spPr>
        </p:sp>
        <p:sp>
          <p:nvSpPr>
            <p:cNvPr id="59" name="Budget gauge 1">
              <a:extLst>
                <a:ext uri="{FF2B5EF4-FFF2-40B4-BE49-F238E27FC236}">
                  <a16:creationId xmlns:a16="http://schemas.microsoft.com/office/drawing/2014/main" id="{4C4B8E96-BB03-42D4-A43C-9901D5DD8558}"/>
                </a:ext>
              </a:extLst>
            </p:cNvPr>
            <p:cNvSpPr>
              <a:spLocks noGrp="1"/>
            </p:cNvSpPr>
            <p:nvPr/>
          </p:nvSpPr>
          <p:spPr>
            <a:xfrm>
              <a:off x="7185076" y="1566855"/>
              <a:ext cx="412647" cy="267899"/>
            </a:xfrm>
            <a:custGeom>
              <a:avLst/>
              <a:gdLst/>
              <a:ahLst/>
              <a:cxnLst/>
              <a:rect l="0" t="0" r="0" b="0"/>
              <a:pathLst>
                <a:path w="412647" h="267899">
                  <a:moveTo>
                    <a:pt x="27603" y="267898"/>
                  </a:moveTo>
                  <a:lnTo>
                    <a:pt x="22678" y="260079"/>
                  </a:lnTo>
                  <a:lnTo>
                    <a:pt x="18207" y="252057"/>
                  </a:lnTo>
                  <a:lnTo>
                    <a:pt x="14203" y="243853"/>
                  </a:lnTo>
                  <a:lnTo>
                    <a:pt x="10677" y="235487"/>
                  </a:lnTo>
                  <a:lnTo>
                    <a:pt x="7639" y="226978"/>
                  </a:lnTo>
                  <a:lnTo>
                    <a:pt x="5098" y="218348"/>
                  </a:lnTo>
                  <a:lnTo>
                    <a:pt x="3060" y="209618"/>
                  </a:lnTo>
                  <a:lnTo>
                    <a:pt x="1529" y="200812"/>
                  </a:lnTo>
                  <a:lnTo>
                    <a:pt x="508" y="191950"/>
                  </a:lnTo>
                  <a:lnTo>
                    <a:pt x="0" y="183055"/>
                  </a:lnTo>
                  <a:lnTo>
                    <a:pt x="5" y="174149"/>
                  </a:lnTo>
                  <a:lnTo>
                    <a:pt x="521" y="165255"/>
                  </a:lnTo>
                  <a:lnTo>
                    <a:pt x="1549" y="156393"/>
                  </a:lnTo>
                  <a:lnTo>
                    <a:pt x="3083" y="147587"/>
                  </a:lnTo>
                  <a:lnTo>
                    <a:pt x="5121" y="138858"/>
                  </a:lnTo>
                  <a:lnTo>
                    <a:pt x="7657" y="130227"/>
                  </a:lnTo>
                  <a:lnTo>
                    <a:pt x="10686" y="121716"/>
                  </a:lnTo>
                  <a:lnTo>
                    <a:pt x="14201" y="113345"/>
                  </a:lnTo>
                  <a:lnTo>
                    <a:pt x="18193" y="105137"/>
                  </a:lnTo>
                  <a:lnTo>
                    <a:pt x="22654" y="97111"/>
                  </a:lnTo>
                  <a:lnTo>
                    <a:pt x="27573" y="89289"/>
                  </a:lnTo>
                  <a:lnTo>
                    <a:pt x="32938" y="81689"/>
                  </a:lnTo>
                  <a:lnTo>
                    <a:pt x="38736" y="74331"/>
                  </a:lnTo>
                  <a:lnTo>
                    <a:pt x="44952" y="67234"/>
                  </a:lnTo>
                  <a:lnTo>
                    <a:pt x="51572" y="60415"/>
                  </a:lnTo>
                  <a:lnTo>
                    <a:pt x="58577" y="53891"/>
                  </a:lnTo>
                  <a:lnTo>
                    <a:pt x="65948" y="47676"/>
                  </a:lnTo>
                  <a:lnTo>
                    <a:pt x="73666" y="41785"/>
                  </a:lnTo>
                  <a:lnTo>
                    <a:pt x="81710" y="36230"/>
                  </a:lnTo>
                  <a:lnTo>
                    <a:pt x="90062" y="31027"/>
                  </a:lnTo>
                  <a:lnTo>
                    <a:pt x="98703" y="26190"/>
                  </a:lnTo>
                  <a:lnTo>
                    <a:pt x="107612" y="21733"/>
                  </a:lnTo>
                  <a:lnTo>
                    <a:pt x="116768" y="17667"/>
                  </a:lnTo>
                  <a:lnTo>
                    <a:pt x="126148" y="14003"/>
                  </a:lnTo>
                  <a:lnTo>
                    <a:pt x="135728" y="10750"/>
                  </a:lnTo>
                  <a:lnTo>
                    <a:pt x="145484" y="7916"/>
                  </a:lnTo>
                  <a:lnTo>
                    <a:pt x="155392" y="5508"/>
                  </a:lnTo>
                  <a:lnTo>
                    <a:pt x="165426" y="3530"/>
                  </a:lnTo>
                  <a:lnTo>
                    <a:pt x="175561" y="1988"/>
                  </a:lnTo>
                  <a:lnTo>
                    <a:pt x="185773" y="884"/>
                  </a:lnTo>
                  <a:lnTo>
                    <a:pt x="196036" y="221"/>
                  </a:lnTo>
                  <a:lnTo>
                    <a:pt x="206324" y="0"/>
                  </a:lnTo>
                  <a:lnTo>
                    <a:pt x="216612" y="221"/>
                  </a:lnTo>
                  <a:lnTo>
                    <a:pt x="226874" y="884"/>
                  </a:lnTo>
                  <a:lnTo>
                    <a:pt x="237086" y="1988"/>
                  </a:lnTo>
                  <a:lnTo>
                    <a:pt x="247222" y="3531"/>
                  </a:lnTo>
                  <a:lnTo>
                    <a:pt x="257256" y="5508"/>
                  </a:lnTo>
                  <a:lnTo>
                    <a:pt x="267164" y="7916"/>
                  </a:lnTo>
                  <a:lnTo>
                    <a:pt x="276920" y="10750"/>
                  </a:lnTo>
                  <a:lnTo>
                    <a:pt x="286500" y="14003"/>
                  </a:lnTo>
                  <a:lnTo>
                    <a:pt x="295880" y="17667"/>
                  </a:lnTo>
                  <a:lnTo>
                    <a:pt x="305035" y="21733"/>
                  </a:lnTo>
                  <a:lnTo>
                    <a:pt x="313945" y="26190"/>
                  </a:lnTo>
                  <a:lnTo>
                    <a:pt x="322586" y="31027"/>
                  </a:lnTo>
                  <a:lnTo>
                    <a:pt x="330938" y="36230"/>
                  </a:lnTo>
                  <a:lnTo>
                    <a:pt x="338982" y="41785"/>
                  </a:lnTo>
                  <a:lnTo>
                    <a:pt x="346699" y="47676"/>
                  </a:lnTo>
                  <a:lnTo>
                    <a:pt x="354071" y="53891"/>
                  </a:lnTo>
                  <a:lnTo>
                    <a:pt x="361075" y="60415"/>
                  </a:lnTo>
                  <a:lnTo>
                    <a:pt x="367695" y="67234"/>
                  </a:lnTo>
                  <a:lnTo>
                    <a:pt x="373912" y="74331"/>
                  </a:lnTo>
                  <a:lnTo>
                    <a:pt x="379710" y="81689"/>
                  </a:lnTo>
                  <a:lnTo>
                    <a:pt x="385075" y="89289"/>
                  </a:lnTo>
                  <a:lnTo>
                    <a:pt x="389993" y="97111"/>
                  </a:lnTo>
                  <a:lnTo>
                    <a:pt x="394454" y="105137"/>
                  </a:lnTo>
                  <a:lnTo>
                    <a:pt x="398446" y="113345"/>
                  </a:lnTo>
                  <a:lnTo>
                    <a:pt x="401961" y="121716"/>
                  </a:lnTo>
                  <a:lnTo>
                    <a:pt x="404990" y="130227"/>
                  </a:lnTo>
                  <a:lnTo>
                    <a:pt x="407526" y="138858"/>
                  </a:lnTo>
                  <a:lnTo>
                    <a:pt x="409565" y="147587"/>
                  </a:lnTo>
                  <a:lnTo>
                    <a:pt x="411099" y="156394"/>
                  </a:lnTo>
                  <a:lnTo>
                    <a:pt x="412126" y="165255"/>
                  </a:lnTo>
                  <a:lnTo>
                    <a:pt x="412643" y="174149"/>
                  </a:lnTo>
                  <a:lnTo>
                    <a:pt x="412647" y="183055"/>
                  </a:lnTo>
                  <a:lnTo>
                    <a:pt x="412139" y="191950"/>
                  </a:lnTo>
                  <a:lnTo>
                    <a:pt x="411119" y="200812"/>
                  </a:lnTo>
                  <a:lnTo>
                    <a:pt x="409588" y="209618"/>
                  </a:lnTo>
                  <a:lnTo>
                    <a:pt x="407549" y="218348"/>
                  </a:lnTo>
                  <a:lnTo>
                    <a:pt x="405008" y="226978"/>
                  </a:lnTo>
                  <a:lnTo>
                    <a:pt x="401971" y="235487"/>
                  </a:lnTo>
                  <a:lnTo>
                    <a:pt x="398445" y="243853"/>
                  </a:lnTo>
                  <a:lnTo>
                    <a:pt x="394440" y="252057"/>
                  </a:lnTo>
                  <a:lnTo>
                    <a:pt x="389969" y="260079"/>
                  </a:lnTo>
                  <a:lnTo>
                    <a:pt x="385044" y="267899"/>
                  </a:lnTo>
                </a:path>
              </a:pathLst>
            </a:custGeom>
            <a:noFill/>
            <a:ln w="41275">
              <a:solidFill>
                <a:srgbClr val="092450"/>
              </a:solidFill>
            </a:ln>
          </p:spPr>
        </p:sp>
        <p:sp>
          <p:nvSpPr>
            <p:cNvPr id="60" name="Budget label">
              <a:extLst>
                <a:ext uri="{FF2B5EF4-FFF2-40B4-BE49-F238E27FC236}">
                  <a16:creationId xmlns:a16="http://schemas.microsoft.com/office/drawing/2014/main" id="{4D130305-1FFF-441C-9A42-E10958A8BAAA}"/>
                </a:ext>
              </a:extLst>
            </p:cNvPr>
            <p:cNvSpPr>
              <a:spLocks noGrp="1"/>
            </p:cNvSpPr>
            <p:nvPr/>
          </p:nvSpPr>
          <p:spPr>
            <a:xfrm>
              <a:off x="7724775" y="1466850"/>
              <a:ext cx="790575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1350" b="1">
                  <a:solidFill>
                    <a:srgbClr val="091322"/>
                  </a:solidFill>
                  <a:latin typeface="Arial Narrow"/>
                  <a:ea typeface="Arial Narrow"/>
                  <a:cs typeface="Arial Narrow"/>
                </a:defRPr>
              </a:pPr>
              <a:r>
                <a:rPr sz="1350" b="1">
                  <a:solidFill>
                    <a:srgbClr val="091322"/>
                  </a:solidFill>
                  <a:latin typeface="Times New Roman" panose="02020603050405020304" pitchFamily="18" charset="0"/>
                  <a:ea typeface="Arial Narrow"/>
                  <a:cs typeface="Times New Roman" panose="02020603050405020304" pitchFamily="18" charset="0"/>
                </a:rPr>
                <a:t>Budget</a:t>
              </a:r>
            </a:p>
          </p:txBody>
        </p:sp>
        <p:sp>
          <p:nvSpPr>
            <p:cNvPr id="61" name="Budget example">
              <a:extLst>
                <a:ext uri="{FF2B5EF4-FFF2-40B4-BE49-F238E27FC236}">
                  <a16:creationId xmlns:a16="http://schemas.microsoft.com/office/drawing/2014/main" id="{A97E2E93-1680-442C-AC2F-CF8F8A7B11D9}"/>
                </a:ext>
              </a:extLst>
            </p:cNvPr>
            <p:cNvSpPr>
              <a:spLocks noGrp="1"/>
            </p:cNvSpPr>
            <p:nvPr/>
          </p:nvSpPr>
          <p:spPr>
            <a:xfrm>
              <a:off x="7734300" y="1666875"/>
              <a:ext cx="714375" cy="2095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1275" b="0">
                  <a:solidFill>
                    <a:srgbClr val="872033"/>
                  </a:solidFill>
                  <a:latin typeface="Arial Narrow"/>
                  <a:ea typeface="Arial Narrow"/>
                  <a:cs typeface="Arial Narrow"/>
                </a:defRPr>
              </a:pPr>
              <a:r>
                <a:rPr sz="1275" b="0">
                  <a:solidFill>
                    <a:srgbClr val="872033"/>
                  </a:solidFill>
                  <a:latin typeface="Times New Roman" panose="02020603050405020304" pitchFamily="18" charset="0"/>
                  <a:ea typeface="Arial Narrow"/>
                  <a:cs typeface="Times New Roman" panose="02020603050405020304" pitchFamily="18" charset="0"/>
                </a:rPr>
                <a:t>3 / 10</a:t>
              </a:r>
            </a:p>
          </p:txBody>
        </p:sp>
        <p:sp>
          <p:nvSpPr>
            <p:cNvPr id="62" name="Budget bar">
              <a:extLst>
                <a:ext uri="{FF2B5EF4-FFF2-40B4-BE49-F238E27FC236}">
                  <a16:creationId xmlns:a16="http://schemas.microsoft.com/office/drawing/2014/main" id="{F230755C-762F-44CB-9A45-4E02F811726C}"/>
                </a:ext>
              </a:extLst>
            </p:cNvPr>
            <p:cNvSpPr>
              <a:spLocks noGrp="1"/>
            </p:cNvSpPr>
            <p:nvPr/>
          </p:nvSpPr>
          <p:spPr>
            <a:xfrm>
              <a:off x="7734300" y="1876425"/>
              <a:ext cx="723900" cy="95250"/>
            </a:xfrm>
            <a:prstGeom prst="roundRect">
              <a:avLst>
                <a:gd name="adj" fmla="val 50000"/>
              </a:avLst>
            </a:prstGeom>
            <a:solidFill>
              <a:srgbClr val="E2E8E3"/>
            </a:solidFill>
            <a:ln w="14288">
              <a:solidFill>
                <a:srgbClr val="B5C5B7"/>
              </a:solidFill>
            </a:ln>
          </p:spPr>
        </p:sp>
        <p:sp>
          <p:nvSpPr>
            <p:cNvPr id="63" name="Budget used">
              <a:extLst>
                <a:ext uri="{FF2B5EF4-FFF2-40B4-BE49-F238E27FC236}">
                  <a16:creationId xmlns:a16="http://schemas.microsoft.com/office/drawing/2014/main" id="{6C48F04E-1EFD-400E-9C58-B69E36BF0BB9}"/>
                </a:ext>
              </a:extLst>
            </p:cNvPr>
            <p:cNvSpPr>
              <a:spLocks noGrp="1"/>
            </p:cNvSpPr>
            <p:nvPr/>
          </p:nvSpPr>
          <p:spPr>
            <a:xfrm>
              <a:off x="7734300" y="1876425"/>
              <a:ext cx="257175" cy="95250"/>
            </a:xfrm>
            <a:prstGeom prst="roundRect">
              <a:avLst>
                <a:gd name="adj" fmla="val 40000"/>
              </a:avLst>
            </a:prstGeom>
            <a:solidFill>
              <a:srgbClr val="6DBB65"/>
            </a:solidFill>
            <a:ln w="9525">
              <a:solidFill>
                <a:srgbClr val="4D9D4D"/>
              </a:solidFill>
            </a:ln>
          </p:spPr>
        </p:sp>
        <p:sp>
          <p:nvSpPr>
            <p:cNvPr id="64" name="Budget marker">
              <a:extLst>
                <a:ext uri="{FF2B5EF4-FFF2-40B4-BE49-F238E27FC236}">
                  <a16:creationId xmlns:a16="http://schemas.microsoft.com/office/drawing/2014/main" id="{3DBF4927-3A9D-44CE-BAD7-EDD1C52FAE8F}"/>
                </a:ext>
              </a:extLst>
            </p:cNvPr>
            <p:cNvSpPr>
              <a:spLocks noGrp="1"/>
            </p:cNvSpPr>
            <p:nvPr/>
          </p:nvSpPr>
          <p:spPr>
            <a:xfrm>
              <a:off x="7981950" y="1857375"/>
              <a:ext cx="953" cy="133350"/>
            </a:xfrm>
            <a:custGeom>
              <a:avLst/>
              <a:gdLst/>
              <a:ahLst/>
              <a:cxnLst/>
              <a:rect l="0" t="0" r="0" b="0"/>
              <a:pathLst>
                <a:path w="953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11430">
              <a:solidFill>
                <a:srgbClr val="425947"/>
              </a:solidFill>
            </a:ln>
          </p:spPr>
        </p:sp>
        <p:sp>
          <p:nvSpPr>
            <p:cNvPr id="65" name="Retain rollback card">
              <a:extLst>
                <a:ext uri="{FF2B5EF4-FFF2-40B4-BE49-F238E27FC236}">
                  <a16:creationId xmlns:a16="http://schemas.microsoft.com/office/drawing/2014/main" id="{06242C51-98BA-41B8-A64C-020123012768}"/>
                </a:ext>
              </a:extLst>
            </p:cNvPr>
            <p:cNvSpPr>
              <a:spLocks noGrp="1"/>
            </p:cNvSpPr>
            <p:nvPr/>
          </p:nvSpPr>
          <p:spPr>
            <a:xfrm>
              <a:off x="8715375" y="1390650"/>
              <a:ext cx="1724025" cy="657225"/>
            </a:xfrm>
            <a:prstGeom prst="roundRect">
              <a:avLst>
                <a:gd name="adj" fmla="val 15942"/>
              </a:avLst>
            </a:prstGeom>
            <a:gradFill>
              <a:gsLst>
                <a:gs pos="0">
                  <a:srgbClr val="FFFFFF"/>
                </a:gs>
                <a:gs pos="100000">
                  <a:srgbClr val="F0F8FF"/>
                </a:gs>
              </a:gsLst>
              <a:lin ang="5400000"/>
            </a:gradFill>
            <a:ln w="12383">
              <a:solidFill>
                <a:srgbClr val="9FB8D0"/>
              </a:solidFill>
            </a:ln>
          </p:spPr>
        </p:sp>
        <p:sp>
          <p:nvSpPr>
            <p:cNvPr id="66" name="Branch icon 0">
              <a:extLst>
                <a:ext uri="{FF2B5EF4-FFF2-40B4-BE49-F238E27FC236}">
                  <a16:creationId xmlns:a16="http://schemas.microsoft.com/office/drawing/2014/main" id="{738E42B6-D21B-488E-B460-61B32CC57850}"/>
                </a:ext>
              </a:extLst>
            </p:cNvPr>
            <p:cNvSpPr>
              <a:spLocks noGrp="1"/>
            </p:cNvSpPr>
            <p:nvPr/>
          </p:nvSpPr>
          <p:spPr>
            <a:xfrm>
              <a:off x="8936831" y="1550194"/>
              <a:ext cx="146447" cy="216092"/>
            </a:xfrm>
            <a:custGeom>
              <a:avLst/>
              <a:gdLst/>
              <a:ahLst/>
              <a:cxnLst/>
              <a:rect l="0" t="0" r="0" b="0"/>
              <a:pathLst>
                <a:path w="146447" h="216092">
                  <a:moveTo>
                    <a:pt x="146447" y="54769"/>
                  </a:moveTo>
                  <a:lnTo>
                    <a:pt x="138426" y="55011"/>
                  </a:lnTo>
                  <a:lnTo>
                    <a:pt x="130428" y="55741"/>
                  </a:lnTo>
                  <a:lnTo>
                    <a:pt x="122478" y="56959"/>
                  </a:lnTo>
                  <a:lnTo>
                    <a:pt x="114599" y="58665"/>
                  </a:lnTo>
                  <a:lnTo>
                    <a:pt x="106816" y="60856"/>
                  </a:lnTo>
                  <a:lnTo>
                    <a:pt x="99153" y="63526"/>
                  </a:lnTo>
                  <a:lnTo>
                    <a:pt x="91632" y="66665"/>
                  </a:lnTo>
                  <a:lnTo>
                    <a:pt x="84278" y="70266"/>
                  </a:lnTo>
                  <a:lnTo>
                    <a:pt x="77111" y="74315"/>
                  </a:lnTo>
                  <a:lnTo>
                    <a:pt x="70153" y="78799"/>
                  </a:lnTo>
                  <a:lnTo>
                    <a:pt x="63425" y="83704"/>
                  </a:lnTo>
                  <a:lnTo>
                    <a:pt x="56945" y="89015"/>
                  </a:lnTo>
                  <a:lnTo>
                    <a:pt x="50734" y="94714"/>
                  </a:lnTo>
                  <a:lnTo>
                    <a:pt x="44808" y="100784"/>
                  </a:lnTo>
                  <a:lnTo>
                    <a:pt x="39185" y="107207"/>
                  </a:lnTo>
                  <a:lnTo>
                    <a:pt x="33883" y="113964"/>
                  </a:lnTo>
                  <a:lnTo>
                    <a:pt x="28916" y="121035"/>
                  </a:lnTo>
                  <a:lnTo>
                    <a:pt x="24301" y="128400"/>
                  </a:lnTo>
                  <a:lnTo>
                    <a:pt x="20052" y="136036"/>
                  </a:lnTo>
                  <a:lnTo>
                    <a:pt x="16182" y="143923"/>
                  </a:lnTo>
                  <a:lnTo>
                    <a:pt x="12705" y="152036"/>
                  </a:lnTo>
                  <a:lnTo>
                    <a:pt x="9630" y="160352"/>
                  </a:lnTo>
                  <a:lnTo>
                    <a:pt x="6970" y="168845"/>
                  </a:lnTo>
                  <a:lnTo>
                    <a:pt x="4731" y="177490"/>
                  </a:lnTo>
                  <a:lnTo>
                    <a:pt x="2921" y="186261"/>
                  </a:lnTo>
                  <a:lnTo>
                    <a:pt x="1544" y="195130"/>
                  </a:lnTo>
                  <a:lnTo>
                    <a:pt x="603" y="204071"/>
                  </a:lnTo>
                  <a:lnTo>
                    <a:pt x="97" y="213056"/>
                  </a:lnTo>
                  <a:lnTo>
                    <a:pt x="0" y="216092"/>
                  </a:lnTo>
                  <a:lnTo>
                    <a:pt x="0" y="207088"/>
                  </a:lnTo>
                  <a:lnTo>
                    <a:pt x="0" y="198084"/>
                  </a:lnTo>
                  <a:lnTo>
                    <a:pt x="0" y="189080"/>
                  </a:lnTo>
                  <a:lnTo>
                    <a:pt x="0" y="180077"/>
                  </a:lnTo>
                  <a:lnTo>
                    <a:pt x="0" y="171073"/>
                  </a:lnTo>
                  <a:lnTo>
                    <a:pt x="0" y="162069"/>
                  </a:lnTo>
                  <a:lnTo>
                    <a:pt x="0" y="153065"/>
                  </a:lnTo>
                  <a:lnTo>
                    <a:pt x="0" y="144061"/>
                  </a:lnTo>
                  <a:lnTo>
                    <a:pt x="0" y="135057"/>
                  </a:lnTo>
                  <a:lnTo>
                    <a:pt x="0" y="126054"/>
                  </a:lnTo>
                  <a:lnTo>
                    <a:pt x="0" y="117050"/>
                  </a:lnTo>
                  <a:lnTo>
                    <a:pt x="0" y="108046"/>
                  </a:lnTo>
                  <a:lnTo>
                    <a:pt x="0" y="99042"/>
                  </a:lnTo>
                  <a:lnTo>
                    <a:pt x="0" y="90038"/>
                  </a:lnTo>
                  <a:lnTo>
                    <a:pt x="0" y="81034"/>
                  </a:lnTo>
                  <a:lnTo>
                    <a:pt x="0" y="72031"/>
                  </a:lnTo>
                  <a:lnTo>
                    <a:pt x="0" y="63027"/>
                  </a:lnTo>
                  <a:lnTo>
                    <a:pt x="0" y="54023"/>
                  </a:lnTo>
                  <a:lnTo>
                    <a:pt x="0" y="45019"/>
                  </a:lnTo>
                  <a:lnTo>
                    <a:pt x="0" y="36015"/>
                  </a:lnTo>
                  <a:lnTo>
                    <a:pt x="0" y="27012"/>
                  </a:lnTo>
                  <a:lnTo>
                    <a:pt x="0" y="18008"/>
                  </a:lnTo>
                  <a:lnTo>
                    <a:pt x="0" y="9004"/>
                  </a:lnTo>
                  <a:lnTo>
                    <a:pt x="0" y="0"/>
                  </a:lnTo>
                </a:path>
              </a:pathLst>
            </a:custGeom>
            <a:noFill/>
            <a:ln w="32544">
              <a:solidFill>
                <a:srgbClr val="123F70"/>
              </a:solidFill>
            </a:ln>
          </p:spPr>
        </p:sp>
        <p:sp>
          <p:nvSpPr>
            <p:cNvPr id="67" name="Branch icon 1">
              <a:extLst>
                <a:ext uri="{FF2B5EF4-FFF2-40B4-BE49-F238E27FC236}">
                  <a16:creationId xmlns:a16="http://schemas.microsoft.com/office/drawing/2014/main" id="{1E8F5982-C8E1-49A0-B40A-3265C52F1F98}"/>
                </a:ext>
              </a:extLst>
            </p:cNvPr>
            <p:cNvSpPr>
              <a:spLocks noGrp="1"/>
            </p:cNvSpPr>
            <p:nvPr/>
          </p:nvSpPr>
          <p:spPr>
            <a:xfrm>
              <a:off x="9083425" y="1550234"/>
              <a:ext cx="97484" cy="109456"/>
            </a:xfrm>
            <a:custGeom>
              <a:avLst/>
              <a:gdLst/>
              <a:ahLst/>
              <a:cxnLst/>
              <a:rect l="0" t="0" r="0" b="0"/>
              <a:pathLst>
                <a:path w="97484" h="109456">
                  <a:moveTo>
                    <a:pt x="97484" y="54728"/>
                  </a:moveTo>
                  <a:lnTo>
                    <a:pt x="96880" y="63322"/>
                  </a:lnTo>
                  <a:lnTo>
                    <a:pt x="94951" y="72143"/>
                  </a:lnTo>
                  <a:lnTo>
                    <a:pt x="91593" y="80810"/>
                  </a:lnTo>
                  <a:lnTo>
                    <a:pt x="86823" y="88892"/>
                  </a:lnTo>
                  <a:lnTo>
                    <a:pt x="80793" y="95967"/>
                  </a:lnTo>
                  <a:lnTo>
                    <a:pt x="73781" y="101694"/>
                  </a:lnTo>
                  <a:lnTo>
                    <a:pt x="66150" y="105865"/>
                  </a:lnTo>
                  <a:lnTo>
                    <a:pt x="58287" y="108423"/>
                  </a:lnTo>
                  <a:lnTo>
                    <a:pt x="50549" y="109456"/>
                  </a:lnTo>
                  <a:lnTo>
                    <a:pt x="42955" y="109120"/>
                  </a:lnTo>
                  <a:lnTo>
                    <a:pt x="35113" y="107343"/>
                  </a:lnTo>
                  <a:lnTo>
                    <a:pt x="27319" y="103981"/>
                  </a:lnTo>
                  <a:lnTo>
                    <a:pt x="19949" y="99015"/>
                  </a:lnTo>
                  <a:lnTo>
                    <a:pt x="13387" y="92579"/>
                  </a:lnTo>
                  <a:lnTo>
                    <a:pt x="7959" y="84952"/>
                  </a:lnTo>
                  <a:lnTo>
                    <a:pt x="3885" y="76523"/>
                  </a:lnTo>
                  <a:lnTo>
                    <a:pt x="1248" y="67726"/>
                  </a:lnTo>
                  <a:lnTo>
                    <a:pt x="0" y="58976"/>
                  </a:lnTo>
                  <a:lnTo>
                    <a:pt x="0" y="50480"/>
                  </a:lnTo>
                  <a:lnTo>
                    <a:pt x="1248" y="41730"/>
                  </a:lnTo>
                  <a:lnTo>
                    <a:pt x="3885" y="32934"/>
                  </a:lnTo>
                  <a:lnTo>
                    <a:pt x="7959" y="24505"/>
                  </a:lnTo>
                  <a:lnTo>
                    <a:pt x="13387" y="16877"/>
                  </a:lnTo>
                  <a:lnTo>
                    <a:pt x="19949" y="10441"/>
                  </a:lnTo>
                  <a:lnTo>
                    <a:pt x="27319" y="5475"/>
                  </a:lnTo>
                  <a:lnTo>
                    <a:pt x="35113" y="2113"/>
                  </a:lnTo>
                  <a:lnTo>
                    <a:pt x="42955" y="336"/>
                  </a:lnTo>
                  <a:lnTo>
                    <a:pt x="50549" y="0"/>
                  </a:lnTo>
                  <a:lnTo>
                    <a:pt x="58287" y="1033"/>
                  </a:lnTo>
                  <a:lnTo>
                    <a:pt x="66150" y="3592"/>
                  </a:lnTo>
                  <a:lnTo>
                    <a:pt x="73781" y="7762"/>
                  </a:lnTo>
                  <a:lnTo>
                    <a:pt x="80793" y="13490"/>
                  </a:lnTo>
                  <a:lnTo>
                    <a:pt x="86823" y="20565"/>
                  </a:lnTo>
                  <a:lnTo>
                    <a:pt x="91593" y="28646"/>
                  </a:lnTo>
                  <a:lnTo>
                    <a:pt x="94951" y="37313"/>
                  </a:lnTo>
                  <a:lnTo>
                    <a:pt x="96880" y="46134"/>
                  </a:lnTo>
                  <a:lnTo>
                    <a:pt x="97484" y="54728"/>
                  </a:lnTo>
                  <a:close/>
                </a:path>
              </a:pathLst>
            </a:custGeom>
            <a:noFill/>
            <a:ln w="32544">
              <a:solidFill>
                <a:srgbClr val="123F70"/>
              </a:solidFill>
            </a:ln>
          </p:spPr>
        </p:sp>
        <p:sp>
          <p:nvSpPr>
            <p:cNvPr id="68" name="Branch icon 2">
              <a:extLst>
                <a:ext uri="{FF2B5EF4-FFF2-40B4-BE49-F238E27FC236}">
                  <a16:creationId xmlns:a16="http://schemas.microsoft.com/office/drawing/2014/main" id="{DB3E9689-D63B-4E20-AB2C-E4809ACCFA54}"/>
                </a:ext>
              </a:extLst>
            </p:cNvPr>
            <p:cNvSpPr>
              <a:spLocks noGrp="1"/>
            </p:cNvSpPr>
            <p:nvPr/>
          </p:nvSpPr>
          <p:spPr>
            <a:xfrm>
              <a:off x="8888163" y="1769309"/>
              <a:ext cx="97484" cy="109456"/>
            </a:xfrm>
            <a:custGeom>
              <a:avLst/>
              <a:gdLst/>
              <a:ahLst/>
              <a:cxnLst/>
              <a:rect l="0" t="0" r="0" b="0"/>
              <a:pathLst>
                <a:path w="97484" h="109456">
                  <a:moveTo>
                    <a:pt x="97484" y="54728"/>
                  </a:moveTo>
                  <a:lnTo>
                    <a:pt x="96880" y="63322"/>
                  </a:lnTo>
                  <a:lnTo>
                    <a:pt x="94951" y="72143"/>
                  </a:lnTo>
                  <a:lnTo>
                    <a:pt x="91593" y="80810"/>
                  </a:lnTo>
                  <a:lnTo>
                    <a:pt x="86823" y="88892"/>
                  </a:lnTo>
                  <a:lnTo>
                    <a:pt x="80793" y="95967"/>
                  </a:lnTo>
                  <a:lnTo>
                    <a:pt x="73781" y="101694"/>
                  </a:lnTo>
                  <a:lnTo>
                    <a:pt x="66150" y="105865"/>
                  </a:lnTo>
                  <a:lnTo>
                    <a:pt x="58287" y="108423"/>
                  </a:lnTo>
                  <a:lnTo>
                    <a:pt x="50549" y="109456"/>
                  </a:lnTo>
                  <a:lnTo>
                    <a:pt x="42955" y="109120"/>
                  </a:lnTo>
                  <a:lnTo>
                    <a:pt x="35113" y="107343"/>
                  </a:lnTo>
                  <a:lnTo>
                    <a:pt x="27319" y="103981"/>
                  </a:lnTo>
                  <a:lnTo>
                    <a:pt x="19949" y="99015"/>
                  </a:lnTo>
                  <a:lnTo>
                    <a:pt x="13387" y="92579"/>
                  </a:lnTo>
                  <a:lnTo>
                    <a:pt x="7959" y="84952"/>
                  </a:lnTo>
                  <a:lnTo>
                    <a:pt x="3885" y="76523"/>
                  </a:lnTo>
                  <a:lnTo>
                    <a:pt x="1248" y="67726"/>
                  </a:lnTo>
                  <a:lnTo>
                    <a:pt x="0" y="58976"/>
                  </a:lnTo>
                  <a:lnTo>
                    <a:pt x="0" y="50480"/>
                  </a:lnTo>
                  <a:lnTo>
                    <a:pt x="1248" y="41730"/>
                  </a:lnTo>
                  <a:lnTo>
                    <a:pt x="3885" y="32934"/>
                  </a:lnTo>
                  <a:lnTo>
                    <a:pt x="7959" y="24505"/>
                  </a:lnTo>
                  <a:lnTo>
                    <a:pt x="13387" y="16877"/>
                  </a:lnTo>
                  <a:lnTo>
                    <a:pt x="19949" y="10441"/>
                  </a:lnTo>
                  <a:lnTo>
                    <a:pt x="27319" y="5475"/>
                  </a:lnTo>
                  <a:lnTo>
                    <a:pt x="35113" y="2113"/>
                  </a:lnTo>
                  <a:lnTo>
                    <a:pt x="42955" y="336"/>
                  </a:lnTo>
                  <a:lnTo>
                    <a:pt x="50549" y="0"/>
                  </a:lnTo>
                  <a:lnTo>
                    <a:pt x="58287" y="1033"/>
                  </a:lnTo>
                  <a:lnTo>
                    <a:pt x="66150" y="3592"/>
                  </a:lnTo>
                  <a:lnTo>
                    <a:pt x="73781" y="7762"/>
                  </a:lnTo>
                  <a:lnTo>
                    <a:pt x="80793" y="13490"/>
                  </a:lnTo>
                  <a:lnTo>
                    <a:pt x="86823" y="20565"/>
                  </a:lnTo>
                  <a:lnTo>
                    <a:pt x="91593" y="28646"/>
                  </a:lnTo>
                  <a:lnTo>
                    <a:pt x="94951" y="37313"/>
                  </a:lnTo>
                  <a:lnTo>
                    <a:pt x="96880" y="46134"/>
                  </a:lnTo>
                  <a:lnTo>
                    <a:pt x="97484" y="54728"/>
                  </a:lnTo>
                  <a:close/>
                </a:path>
              </a:pathLst>
            </a:custGeom>
            <a:noFill/>
            <a:ln w="32544">
              <a:solidFill>
                <a:srgbClr val="123F70"/>
              </a:solidFill>
            </a:ln>
          </p:spPr>
        </p:sp>
        <p:sp>
          <p:nvSpPr>
            <p:cNvPr id="69" name="Retain rollback heading">
              <a:extLst>
                <a:ext uri="{FF2B5EF4-FFF2-40B4-BE49-F238E27FC236}">
                  <a16:creationId xmlns:a16="http://schemas.microsoft.com/office/drawing/2014/main" id="{865C076D-777C-4311-9428-4D69AEC2D3FC}"/>
                </a:ext>
              </a:extLst>
            </p:cNvPr>
            <p:cNvSpPr>
              <a:spLocks noGrp="1"/>
            </p:cNvSpPr>
            <p:nvPr/>
          </p:nvSpPr>
          <p:spPr>
            <a:xfrm>
              <a:off x="9144000" y="1676400"/>
              <a:ext cx="1038225" cy="2095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1275" b="1">
                  <a:solidFill>
                    <a:srgbClr val="091322"/>
                  </a:solidFill>
                  <a:latin typeface="Arial Narrow"/>
                  <a:ea typeface="Arial Narrow"/>
                  <a:cs typeface="Arial Narrow"/>
                </a:defRPr>
              </a:pPr>
              <a:r>
                <a:rPr sz="1275" b="1" dirty="0">
                  <a:solidFill>
                    <a:srgbClr val="091322"/>
                  </a:solidFill>
                  <a:latin typeface="Times New Roman" panose="02020603050405020304" pitchFamily="18" charset="0"/>
                  <a:ea typeface="Arial Narrow"/>
                  <a:cs typeface="Times New Roman" panose="02020603050405020304" pitchFamily="18" charset="0"/>
                </a:rPr>
                <a:t>Retain / Rollback</a:t>
              </a:r>
            </a:p>
          </p:txBody>
        </p:sp>
        <p:sp>
          <p:nvSpPr>
            <p:cNvPr id="71" name="Next round card">
              <a:extLst>
                <a:ext uri="{FF2B5EF4-FFF2-40B4-BE49-F238E27FC236}">
                  <a16:creationId xmlns:a16="http://schemas.microsoft.com/office/drawing/2014/main" id="{0C3D677E-4AFF-4336-BC96-A1D704A20B7B}"/>
                </a:ext>
              </a:extLst>
            </p:cNvPr>
            <p:cNvSpPr>
              <a:spLocks noGrp="1"/>
            </p:cNvSpPr>
            <p:nvPr/>
          </p:nvSpPr>
          <p:spPr>
            <a:xfrm>
              <a:off x="10544175" y="1390650"/>
              <a:ext cx="1619250" cy="657225"/>
            </a:xfrm>
            <a:prstGeom prst="roundRect">
              <a:avLst>
                <a:gd name="adj" fmla="val 15942"/>
              </a:avLst>
            </a:prstGeom>
            <a:gradFill>
              <a:gsLst>
                <a:gs pos="0">
                  <a:srgbClr val="FFFFFF"/>
                </a:gs>
                <a:gs pos="100000">
                  <a:srgbClr val="F0F8FF"/>
                </a:gs>
              </a:gsLst>
              <a:lin ang="5400000"/>
            </a:gradFill>
            <a:ln w="12383">
              <a:solidFill>
                <a:srgbClr val="9FB8D0"/>
              </a:solidFill>
            </a:ln>
          </p:spPr>
        </p:sp>
        <p:sp>
          <p:nvSpPr>
            <p:cNvPr id="72" name="Next round icon 0">
              <a:extLst>
                <a:ext uri="{FF2B5EF4-FFF2-40B4-BE49-F238E27FC236}">
                  <a16:creationId xmlns:a16="http://schemas.microsoft.com/office/drawing/2014/main" id="{A14B661E-F7DE-4338-A32A-538EFDAE99A6}"/>
                </a:ext>
              </a:extLst>
            </p:cNvPr>
            <p:cNvSpPr>
              <a:spLocks noGrp="1"/>
            </p:cNvSpPr>
            <p:nvPr/>
          </p:nvSpPr>
          <p:spPr>
            <a:xfrm>
              <a:off x="10719197" y="1547864"/>
              <a:ext cx="307181" cy="314217"/>
            </a:xfrm>
            <a:custGeom>
              <a:avLst/>
              <a:gdLst/>
              <a:ahLst/>
              <a:cxnLst/>
              <a:rect l="0" t="0" r="0" b="0"/>
              <a:pathLst>
                <a:path w="307181" h="314217">
                  <a:moveTo>
                    <a:pt x="307181" y="157111"/>
                  </a:moveTo>
                  <a:lnTo>
                    <a:pt x="306952" y="165768"/>
                  </a:lnTo>
                  <a:lnTo>
                    <a:pt x="306262" y="174399"/>
                  </a:lnTo>
                  <a:lnTo>
                    <a:pt x="305111" y="182978"/>
                  </a:lnTo>
                  <a:lnTo>
                    <a:pt x="303497" y="191480"/>
                  </a:lnTo>
                  <a:lnTo>
                    <a:pt x="301426" y="199876"/>
                  </a:lnTo>
                  <a:lnTo>
                    <a:pt x="298903" y="208142"/>
                  </a:lnTo>
                  <a:lnTo>
                    <a:pt x="295935" y="216252"/>
                  </a:lnTo>
                  <a:lnTo>
                    <a:pt x="292532" y="224181"/>
                  </a:lnTo>
                  <a:lnTo>
                    <a:pt x="288706" y="231906"/>
                  </a:lnTo>
                  <a:lnTo>
                    <a:pt x="284469" y="239402"/>
                  </a:lnTo>
                  <a:lnTo>
                    <a:pt x="279835" y="246648"/>
                  </a:lnTo>
                  <a:lnTo>
                    <a:pt x="274818" y="253623"/>
                  </a:lnTo>
                  <a:lnTo>
                    <a:pt x="269436" y="260306"/>
                  </a:lnTo>
                  <a:lnTo>
                    <a:pt x="263703" y="266677"/>
                  </a:lnTo>
                  <a:lnTo>
                    <a:pt x="257639" y="272717"/>
                  </a:lnTo>
                  <a:lnTo>
                    <a:pt x="251260" y="278409"/>
                  </a:lnTo>
                  <a:lnTo>
                    <a:pt x="244586" y="283734"/>
                  </a:lnTo>
                  <a:lnTo>
                    <a:pt x="237637" y="288677"/>
                  </a:lnTo>
                  <a:lnTo>
                    <a:pt x="230432" y="293221"/>
                  </a:lnTo>
                  <a:lnTo>
                    <a:pt x="222994" y="297351"/>
                  </a:lnTo>
                  <a:lnTo>
                    <a:pt x="215343" y="301054"/>
                  </a:lnTo>
                  <a:lnTo>
                    <a:pt x="207504" y="304318"/>
                  </a:lnTo>
                  <a:lnTo>
                    <a:pt x="199500" y="307132"/>
                  </a:lnTo>
                  <a:lnTo>
                    <a:pt x="191356" y="309487"/>
                  </a:lnTo>
                  <a:lnTo>
                    <a:pt x="183097" y="311376"/>
                  </a:lnTo>
                  <a:lnTo>
                    <a:pt x="174748" y="312794"/>
                  </a:lnTo>
                  <a:lnTo>
                    <a:pt x="166336" y="313740"/>
                  </a:lnTo>
                  <a:lnTo>
                    <a:pt x="157885" y="314213"/>
                  </a:lnTo>
                  <a:lnTo>
                    <a:pt x="149422" y="314217"/>
                  </a:lnTo>
                  <a:lnTo>
                    <a:pt x="140971" y="313750"/>
                  </a:lnTo>
                  <a:lnTo>
                    <a:pt x="132558" y="312812"/>
                  </a:lnTo>
                  <a:lnTo>
                    <a:pt x="124208" y="311401"/>
                  </a:lnTo>
                  <a:lnTo>
                    <a:pt x="115947" y="309519"/>
                  </a:lnTo>
                  <a:lnTo>
                    <a:pt x="107801" y="307171"/>
                  </a:lnTo>
                  <a:lnTo>
                    <a:pt x="99795" y="304363"/>
                  </a:lnTo>
                  <a:lnTo>
                    <a:pt x="91953" y="301106"/>
                  </a:lnTo>
                  <a:lnTo>
                    <a:pt x="84300" y="297409"/>
                  </a:lnTo>
                  <a:lnTo>
                    <a:pt x="76858" y="293285"/>
                  </a:lnTo>
                  <a:lnTo>
                    <a:pt x="69650" y="288747"/>
                  </a:lnTo>
                  <a:lnTo>
                    <a:pt x="62696" y="283811"/>
                  </a:lnTo>
                  <a:lnTo>
                    <a:pt x="56018" y="278491"/>
                  </a:lnTo>
                  <a:lnTo>
                    <a:pt x="49635" y="272805"/>
                  </a:lnTo>
                  <a:lnTo>
                    <a:pt x="43566" y="266769"/>
                  </a:lnTo>
                  <a:lnTo>
                    <a:pt x="37828" y="260403"/>
                  </a:lnTo>
                  <a:lnTo>
                    <a:pt x="32440" y="253725"/>
                  </a:lnTo>
                  <a:lnTo>
                    <a:pt x="27418" y="246754"/>
                  </a:lnTo>
                  <a:lnTo>
                    <a:pt x="22778" y="239512"/>
                  </a:lnTo>
                  <a:lnTo>
                    <a:pt x="18535" y="232019"/>
                  </a:lnTo>
                  <a:lnTo>
                    <a:pt x="14702" y="224298"/>
                  </a:lnTo>
                  <a:lnTo>
                    <a:pt x="11293" y="216372"/>
                  </a:lnTo>
                  <a:lnTo>
                    <a:pt x="8319" y="208264"/>
                  </a:lnTo>
                  <a:lnTo>
                    <a:pt x="5789" y="200000"/>
                  </a:lnTo>
                  <a:lnTo>
                    <a:pt x="3711" y="191606"/>
                  </a:lnTo>
                  <a:lnTo>
                    <a:pt x="2091" y="183106"/>
                  </a:lnTo>
                  <a:lnTo>
                    <a:pt x="932" y="174527"/>
                  </a:lnTo>
                  <a:lnTo>
                    <a:pt x="236" y="165897"/>
                  </a:lnTo>
                  <a:lnTo>
                    <a:pt x="0" y="157240"/>
                  </a:lnTo>
                  <a:lnTo>
                    <a:pt x="222" y="148583"/>
                  </a:lnTo>
                  <a:lnTo>
                    <a:pt x="905" y="139951"/>
                  </a:lnTo>
                  <a:lnTo>
                    <a:pt x="2050" y="131371"/>
                  </a:lnTo>
                  <a:lnTo>
                    <a:pt x="3656" y="122868"/>
                  </a:lnTo>
                  <a:lnTo>
                    <a:pt x="5720" y="114470"/>
                  </a:lnTo>
                  <a:lnTo>
                    <a:pt x="8237" y="106202"/>
                  </a:lnTo>
                  <a:lnTo>
                    <a:pt x="11198" y="98089"/>
                  </a:lnTo>
                  <a:lnTo>
                    <a:pt x="14595" y="90157"/>
                  </a:lnTo>
                  <a:lnTo>
                    <a:pt x="18415" y="82430"/>
                  </a:lnTo>
                  <a:lnTo>
                    <a:pt x="22646" y="74930"/>
                  </a:lnTo>
                  <a:lnTo>
                    <a:pt x="27274" y="67679"/>
                  </a:lnTo>
                  <a:lnTo>
                    <a:pt x="32285" y="60701"/>
                  </a:lnTo>
                  <a:lnTo>
                    <a:pt x="37663" y="54013"/>
                  </a:lnTo>
                  <a:lnTo>
                    <a:pt x="43390" y="47638"/>
                  </a:lnTo>
                  <a:lnTo>
                    <a:pt x="49449" y="41592"/>
                  </a:lnTo>
                  <a:lnTo>
                    <a:pt x="55824" y="35895"/>
                  </a:lnTo>
                  <a:lnTo>
                    <a:pt x="62493" y="30564"/>
                  </a:lnTo>
                  <a:lnTo>
                    <a:pt x="69439" y="25616"/>
                  </a:lnTo>
                  <a:lnTo>
                    <a:pt x="76640" y="21066"/>
                  </a:lnTo>
                  <a:lnTo>
                    <a:pt x="84075" y="16930"/>
                  </a:lnTo>
                  <a:lnTo>
                    <a:pt x="91722" y="13220"/>
                  </a:lnTo>
                  <a:lnTo>
                    <a:pt x="99559" y="9949"/>
                  </a:lnTo>
                  <a:lnTo>
                    <a:pt x="107560" y="7129"/>
                  </a:lnTo>
                  <a:lnTo>
                    <a:pt x="115702" y="4767"/>
                  </a:lnTo>
                  <a:lnTo>
                    <a:pt x="123960" y="2871"/>
                  </a:lnTo>
                  <a:lnTo>
                    <a:pt x="132308" y="1445"/>
                  </a:lnTo>
                  <a:lnTo>
                    <a:pt x="140720" y="493"/>
                  </a:lnTo>
                  <a:lnTo>
                    <a:pt x="149170" y="12"/>
                  </a:lnTo>
                  <a:lnTo>
                    <a:pt x="157633" y="0"/>
                  </a:lnTo>
                  <a:lnTo>
                    <a:pt x="166085" y="441"/>
                  </a:lnTo>
                  <a:lnTo>
                    <a:pt x="174504" y="1330"/>
                  </a:lnTo>
                  <a:lnTo>
                    <a:pt x="182866" y="2665"/>
                  </a:lnTo>
                  <a:lnTo>
                    <a:pt x="191150" y="4440"/>
                  </a:lnTo>
                  <a:lnTo>
                    <a:pt x="199333" y="6650"/>
                  </a:lnTo>
                  <a:lnTo>
                    <a:pt x="207394" y="9286"/>
                  </a:lnTo>
                  <a:lnTo>
                    <a:pt x="215314" y="12340"/>
                  </a:lnTo>
                  <a:lnTo>
                    <a:pt x="223072" y="15802"/>
                  </a:lnTo>
                  <a:lnTo>
                    <a:pt x="230648" y="19662"/>
                  </a:lnTo>
                  <a:lnTo>
                    <a:pt x="238024" y="23908"/>
                  </a:lnTo>
                  <a:lnTo>
                    <a:pt x="245182" y="28529"/>
                  </a:lnTo>
                  <a:lnTo>
                    <a:pt x="252104" y="33512"/>
                  </a:lnTo>
                  <a:lnTo>
                    <a:pt x="258774" y="38842"/>
                  </a:lnTo>
                  <a:lnTo>
                    <a:pt x="265175" y="44507"/>
                  </a:lnTo>
                  <a:lnTo>
                    <a:pt x="271270" y="50515"/>
                  </a:lnTo>
                  <a:lnTo>
                    <a:pt x="277256" y="56640"/>
                  </a:lnTo>
                  <a:lnTo>
                    <a:pt x="283241" y="62764"/>
                  </a:lnTo>
                  <a:lnTo>
                    <a:pt x="289226" y="68888"/>
                  </a:lnTo>
                  <a:lnTo>
                    <a:pt x="295211" y="75012"/>
                  </a:lnTo>
                  <a:lnTo>
                    <a:pt x="301196" y="81137"/>
                  </a:lnTo>
                  <a:lnTo>
                    <a:pt x="307181" y="87261"/>
                  </a:lnTo>
                </a:path>
              </a:pathLst>
            </a:custGeom>
            <a:noFill/>
            <a:ln w="34131">
              <a:solidFill>
                <a:srgbClr val="0B3565"/>
              </a:solidFill>
            </a:ln>
          </p:spPr>
        </p:sp>
        <p:sp>
          <p:nvSpPr>
            <p:cNvPr id="73" name="Next round icon 1">
              <a:extLst>
                <a:ext uri="{FF2B5EF4-FFF2-40B4-BE49-F238E27FC236}">
                  <a16:creationId xmlns:a16="http://schemas.microsoft.com/office/drawing/2014/main" id="{975BBE9F-FFE1-497C-B5EF-BD76727C9B32}"/>
                </a:ext>
              </a:extLst>
            </p:cNvPr>
            <p:cNvSpPr>
              <a:spLocks noGrp="1"/>
            </p:cNvSpPr>
            <p:nvPr/>
          </p:nvSpPr>
          <p:spPr>
            <a:xfrm>
              <a:off x="10941050" y="1547813"/>
              <a:ext cx="85328" cy="87312"/>
            </a:xfrm>
            <a:custGeom>
              <a:avLst/>
              <a:gdLst/>
              <a:ahLst/>
              <a:cxnLst/>
              <a:rect l="0" t="0" r="0" b="0"/>
              <a:pathLst>
                <a:path w="85328" h="87312">
                  <a:moveTo>
                    <a:pt x="85328" y="0"/>
                  </a:moveTo>
                  <a:lnTo>
                    <a:pt x="85328" y="8731"/>
                  </a:lnTo>
                  <a:lnTo>
                    <a:pt x="85328" y="17463"/>
                  </a:lnTo>
                  <a:lnTo>
                    <a:pt x="85328" y="26194"/>
                  </a:lnTo>
                  <a:lnTo>
                    <a:pt x="85328" y="34925"/>
                  </a:lnTo>
                  <a:lnTo>
                    <a:pt x="85328" y="43656"/>
                  </a:lnTo>
                  <a:lnTo>
                    <a:pt x="85328" y="52388"/>
                  </a:lnTo>
                  <a:lnTo>
                    <a:pt x="85328" y="61119"/>
                  </a:lnTo>
                  <a:lnTo>
                    <a:pt x="85328" y="69850"/>
                  </a:lnTo>
                  <a:lnTo>
                    <a:pt x="85328" y="78581"/>
                  </a:lnTo>
                  <a:lnTo>
                    <a:pt x="85328" y="87312"/>
                  </a:lnTo>
                  <a:lnTo>
                    <a:pt x="76795" y="87312"/>
                  </a:lnTo>
                  <a:lnTo>
                    <a:pt x="68262" y="87312"/>
                  </a:lnTo>
                  <a:lnTo>
                    <a:pt x="59730" y="87312"/>
                  </a:lnTo>
                  <a:lnTo>
                    <a:pt x="51197" y="87312"/>
                  </a:lnTo>
                  <a:lnTo>
                    <a:pt x="42664" y="87312"/>
                  </a:lnTo>
                  <a:lnTo>
                    <a:pt x="34131" y="87312"/>
                  </a:lnTo>
                  <a:lnTo>
                    <a:pt x="25598" y="87312"/>
                  </a:lnTo>
                  <a:lnTo>
                    <a:pt x="17066" y="87312"/>
                  </a:lnTo>
                  <a:lnTo>
                    <a:pt x="8533" y="87312"/>
                  </a:lnTo>
                  <a:lnTo>
                    <a:pt x="0" y="87312"/>
                  </a:lnTo>
                </a:path>
              </a:pathLst>
            </a:custGeom>
            <a:noFill/>
            <a:ln w="34131">
              <a:solidFill>
                <a:srgbClr val="0B3565"/>
              </a:solidFill>
            </a:ln>
          </p:spPr>
        </p:sp>
        <p:sp>
          <p:nvSpPr>
            <p:cNvPr id="74" name="Next round heading">
              <a:extLst>
                <a:ext uri="{FF2B5EF4-FFF2-40B4-BE49-F238E27FC236}">
                  <a16:creationId xmlns:a16="http://schemas.microsoft.com/office/drawing/2014/main" id="{45D1D6B8-74A0-480A-947E-71BBCE48E84A}"/>
                </a:ext>
              </a:extLst>
            </p:cNvPr>
            <p:cNvSpPr>
              <a:spLocks noGrp="1"/>
            </p:cNvSpPr>
            <p:nvPr/>
          </p:nvSpPr>
          <p:spPr>
            <a:xfrm>
              <a:off x="11187113" y="1685925"/>
              <a:ext cx="895350" cy="2095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1350" b="1">
                  <a:solidFill>
                    <a:srgbClr val="091322"/>
                  </a:solidFill>
                  <a:latin typeface="Arial Narrow"/>
                  <a:ea typeface="Arial Narrow"/>
                  <a:cs typeface="Arial Narrow"/>
                </a:defRPr>
              </a:pPr>
              <a:r>
                <a:rPr sz="1350" b="1" dirty="0">
                  <a:solidFill>
                    <a:srgbClr val="091322"/>
                  </a:solidFill>
                  <a:latin typeface="Times New Roman" panose="02020603050405020304" pitchFamily="18" charset="0"/>
                  <a:ea typeface="Arial Narrow"/>
                  <a:cs typeface="Times New Roman" panose="02020603050405020304" pitchFamily="18" charset="0"/>
                </a:rPr>
                <a:t>Next Round</a:t>
              </a:r>
            </a:p>
          </p:txBody>
        </p:sp>
      </p:grpSp>
      <p:grpSp>
        <p:nvGrpSpPr>
          <p:cNvPr id="363" name="Coordinator flow"/>
          <p:cNvGrpSpPr/>
          <p:nvPr/>
        </p:nvGrpSpPr>
        <p:grpSpPr>
          <a:xfrm>
            <a:off x="4838700" y="2238375"/>
            <a:ext cx="6353175" cy="409575"/>
            <a:chOff x="4838700" y="2238375"/>
            <a:chExt cx="6353175" cy="409575"/>
          </a:xfrm>
        </p:grpSpPr>
        <p:sp>
          <p:nvSpPr>
            <p:cNvPr id="76" name="Initial candidate flow">
              <a:extLst>
                <a:ext uri="{FF2B5EF4-FFF2-40B4-BE49-F238E27FC236}">
                  <a16:creationId xmlns:a16="http://schemas.microsoft.com/office/drawing/2014/main" id="{FAB1DF76-2B83-448C-8B6C-D5F00F7DF515}"/>
                </a:ext>
              </a:extLst>
            </p:cNvPr>
            <p:cNvSpPr>
              <a:spLocks noGrp="1"/>
            </p:cNvSpPr>
            <p:nvPr/>
          </p:nvSpPr>
          <p:spPr>
            <a:xfrm>
              <a:off x="4924425" y="2238375"/>
              <a:ext cx="1571625" cy="323850"/>
            </a:xfrm>
            <a:custGeom>
              <a:avLst/>
              <a:gdLst/>
              <a:ahLst/>
              <a:cxnLst/>
              <a:rect l="0" t="0" r="0" b="0"/>
              <a:pathLst>
                <a:path w="1571625" h="323850">
                  <a:moveTo>
                    <a:pt x="1571625" y="0"/>
                  </a:moveTo>
                  <a:lnTo>
                    <a:pt x="1562100" y="57150"/>
                  </a:lnTo>
                  <a:lnTo>
                    <a:pt x="1495425" y="95250"/>
                  </a:lnTo>
                  <a:lnTo>
                    <a:pt x="180975" y="95250"/>
                  </a:lnTo>
                  <a:lnTo>
                    <a:pt x="85725" y="133350"/>
                  </a:lnTo>
                  <a:lnTo>
                    <a:pt x="0" y="219075"/>
                  </a:lnTo>
                  <a:lnTo>
                    <a:pt x="0" y="323850"/>
                  </a:lnTo>
                </a:path>
              </a:pathLst>
            </a:custGeom>
            <a:noFill/>
            <a:ln w="28575">
              <a:solidFill>
                <a:srgbClr val="4A86B8"/>
              </a:solidFill>
            </a:ln>
          </p:spPr>
        </p:sp>
        <p:sp>
          <p:nvSpPr>
            <p:cNvPr id="77" name="Initial candidate arrowhead">
              <a:extLst>
                <a:ext uri="{FF2B5EF4-FFF2-40B4-BE49-F238E27FC236}">
                  <a16:creationId xmlns:a16="http://schemas.microsoft.com/office/drawing/2014/main" id="{42BA6B5A-A18B-4262-8342-F2C46999BF1E}"/>
                </a:ext>
              </a:extLst>
            </p:cNvPr>
            <p:cNvSpPr>
              <a:spLocks noGrp="1"/>
            </p:cNvSpPr>
            <p:nvPr/>
          </p:nvSpPr>
          <p:spPr>
            <a:xfrm>
              <a:off x="4838700" y="2533650"/>
              <a:ext cx="161925" cy="114300"/>
            </a:xfrm>
            <a:custGeom>
              <a:avLst/>
              <a:gdLst/>
              <a:ahLst/>
              <a:cxnLst/>
              <a:rect l="0" t="0" r="0" b="0"/>
              <a:pathLst>
                <a:path w="161925" h="114300">
                  <a:moveTo>
                    <a:pt x="0" y="0"/>
                  </a:moveTo>
                  <a:lnTo>
                    <a:pt x="85725" y="114300"/>
                  </a:lnTo>
                  <a:lnTo>
                    <a:pt x="161925" y="0"/>
                  </a:lnTo>
                  <a:close/>
                </a:path>
              </a:pathLst>
            </a:custGeom>
            <a:solidFill>
              <a:srgbClr val="5B8FB7"/>
            </a:solidFill>
            <a:ln w="0">
              <a:noFill/>
            </a:ln>
          </p:spPr>
        </p:sp>
        <p:sp>
          <p:nvSpPr>
            <p:cNvPr id="78" name="Initial candidate label">
              <a:extLst>
                <a:ext uri="{FF2B5EF4-FFF2-40B4-BE49-F238E27FC236}">
                  <a16:creationId xmlns:a16="http://schemas.microsoft.com/office/drawing/2014/main" id="{838ABD38-5644-4002-8AB2-ED7C203BEDB7}"/>
                </a:ext>
              </a:extLst>
            </p:cNvPr>
            <p:cNvSpPr>
              <a:spLocks noGrp="1"/>
            </p:cNvSpPr>
            <p:nvPr/>
          </p:nvSpPr>
          <p:spPr>
            <a:xfrm>
              <a:off x="5248275" y="2381250"/>
              <a:ext cx="1714500" cy="2190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1200" b="0" i="1">
                  <a:solidFill>
                    <a:srgbClr val="174E86"/>
                  </a:solidFill>
                  <a:latin typeface="Arial Narrow"/>
                  <a:ea typeface="Arial Narrow"/>
                  <a:cs typeface="Arial Narrow"/>
                </a:defRPr>
              </a:pPr>
              <a:r>
                <a:rPr sz="1200" b="0" i="1">
                  <a:solidFill>
                    <a:srgbClr val="174E86"/>
                  </a:solidFill>
                  <a:latin typeface="Times New Roman" panose="02020603050405020304" pitchFamily="18" charset="0"/>
                  <a:ea typeface="Arial Narrow"/>
                  <a:cs typeface="Times New Roman" panose="02020603050405020304" pitchFamily="18" charset="0"/>
                </a:rPr>
                <a:t>initial candidate</a:t>
              </a:r>
            </a:p>
          </p:txBody>
        </p:sp>
        <p:sp>
          <p:nvSpPr>
            <p:cNvPr id="79" name="Diagnosis feedback dashed stem">
              <a:extLst>
                <a:ext uri="{FF2B5EF4-FFF2-40B4-BE49-F238E27FC236}">
                  <a16:creationId xmlns:a16="http://schemas.microsoft.com/office/drawing/2014/main" id="{D60F88F7-1C40-4A82-B201-9CD3B178E905}"/>
                </a:ext>
              </a:extLst>
            </p:cNvPr>
            <p:cNvSpPr>
              <a:spLocks noGrp="1"/>
            </p:cNvSpPr>
            <p:nvPr/>
          </p:nvSpPr>
          <p:spPr>
            <a:xfrm>
              <a:off x="7791450" y="2244724"/>
              <a:ext cx="45719" cy="295275"/>
            </a:xfrm>
            <a:custGeom>
              <a:avLst/>
              <a:gdLst/>
              <a:ahLst/>
              <a:cxnLst/>
              <a:rect l="0" t="0" r="0" b="0"/>
              <a:pathLst>
                <a:path w="953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38100">
              <a:solidFill>
                <a:srgbClr val="6091B4"/>
              </a:solidFill>
            </a:ln>
          </p:spPr>
        </p:sp>
        <p:sp>
          <p:nvSpPr>
            <p:cNvPr id="81" name="Diagnosis feedback arrowhead">
              <a:extLst>
                <a:ext uri="{FF2B5EF4-FFF2-40B4-BE49-F238E27FC236}">
                  <a16:creationId xmlns:a16="http://schemas.microsoft.com/office/drawing/2014/main" id="{1CC186EB-5722-4F34-B217-95976C890284}"/>
                </a:ext>
              </a:extLst>
            </p:cNvPr>
            <p:cNvSpPr>
              <a:spLocks noGrp="1"/>
            </p:cNvSpPr>
            <p:nvPr/>
          </p:nvSpPr>
          <p:spPr>
            <a:xfrm>
              <a:off x="7715250" y="2533650"/>
              <a:ext cx="152400" cy="114300"/>
            </a:xfrm>
            <a:custGeom>
              <a:avLst/>
              <a:gdLst/>
              <a:ahLst/>
              <a:cxnLst/>
              <a:rect l="0" t="0" r="0" b="0"/>
              <a:pathLst>
                <a:path w="152400" h="114300">
                  <a:moveTo>
                    <a:pt x="0" y="0"/>
                  </a:moveTo>
                  <a:lnTo>
                    <a:pt x="76200" y="1143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6091B4"/>
            </a:solidFill>
            <a:ln w="0">
              <a:noFill/>
            </a:ln>
          </p:spPr>
        </p:sp>
        <p:sp>
          <p:nvSpPr>
            <p:cNvPr id="82" name="Diagnosis feedback label">
              <a:extLst>
                <a:ext uri="{FF2B5EF4-FFF2-40B4-BE49-F238E27FC236}">
                  <a16:creationId xmlns:a16="http://schemas.microsoft.com/office/drawing/2014/main" id="{2A72D73E-AF0B-44BA-B007-1D7D6F1A96D7}"/>
                </a:ext>
              </a:extLst>
            </p:cNvPr>
            <p:cNvSpPr>
              <a:spLocks noGrp="1"/>
            </p:cNvSpPr>
            <p:nvPr/>
          </p:nvSpPr>
          <p:spPr>
            <a:xfrm>
              <a:off x="7186612" y="2282824"/>
              <a:ext cx="1638300" cy="2095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1200" b="0" i="1">
                  <a:solidFill>
                    <a:srgbClr val="174E86"/>
                  </a:solidFill>
                  <a:latin typeface="Arial Narrow"/>
                  <a:ea typeface="Arial Narrow"/>
                  <a:cs typeface="Arial Narrow"/>
                </a:defRPr>
              </a:pPr>
              <a:r>
                <a:rPr sz="1200" b="0" i="1" dirty="0">
                  <a:solidFill>
                    <a:srgbClr val="174E86"/>
                  </a:solidFill>
                  <a:latin typeface="Times New Roman" panose="02020603050405020304" pitchFamily="18" charset="0"/>
                  <a:ea typeface="Arial Narrow"/>
                  <a:cs typeface="Times New Roman" panose="02020603050405020304" pitchFamily="18" charset="0"/>
                </a:rPr>
                <a:t>diagnosis / feedback</a:t>
              </a:r>
            </a:p>
          </p:txBody>
        </p:sp>
        <p:sp>
          <p:nvSpPr>
            <p:cNvPr id="83" name="Targeted repair flow">
              <a:extLst>
                <a:ext uri="{FF2B5EF4-FFF2-40B4-BE49-F238E27FC236}">
                  <a16:creationId xmlns:a16="http://schemas.microsoft.com/office/drawing/2014/main" id="{5F5D68B8-3AB1-485A-8E40-AC3A2EFC703A}"/>
                </a:ext>
              </a:extLst>
            </p:cNvPr>
            <p:cNvSpPr>
              <a:spLocks noGrp="1"/>
            </p:cNvSpPr>
            <p:nvPr/>
          </p:nvSpPr>
          <p:spPr>
            <a:xfrm>
              <a:off x="9324975" y="2238375"/>
              <a:ext cx="1390650" cy="323850"/>
            </a:xfrm>
            <a:custGeom>
              <a:avLst/>
              <a:gdLst/>
              <a:ahLst/>
              <a:cxnLst/>
              <a:rect l="0" t="0" r="0" b="0"/>
              <a:pathLst>
                <a:path w="1390650" h="323850">
                  <a:moveTo>
                    <a:pt x="0" y="0"/>
                  </a:moveTo>
                  <a:lnTo>
                    <a:pt x="19050" y="66675"/>
                  </a:lnTo>
                  <a:lnTo>
                    <a:pt x="85725" y="95250"/>
                  </a:lnTo>
                  <a:lnTo>
                    <a:pt x="1200150" y="95250"/>
                  </a:lnTo>
                  <a:lnTo>
                    <a:pt x="1285875" y="123825"/>
                  </a:lnTo>
                  <a:lnTo>
                    <a:pt x="1390650" y="219075"/>
                  </a:lnTo>
                  <a:lnTo>
                    <a:pt x="1390650" y="323850"/>
                  </a:lnTo>
                </a:path>
              </a:pathLst>
            </a:custGeom>
            <a:noFill/>
            <a:ln w="28575">
              <a:solidFill>
                <a:srgbClr val="4A86B8"/>
              </a:solidFill>
            </a:ln>
          </p:spPr>
        </p:sp>
        <p:sp>
          <p:nvSpPr>
            <p:cNvPr id="84" name="Targeted repair arrowhead">
              <a:extLst>
                <a:ext uri="{FF2B5EF4-FFF2-40B4-BE49-F238E27FC236}">
                  <a16:creationId xmlns:a16="http://schemas.microsoft.com/office/drawing/2014/main" id="{920463AE-FB5B-4231-99F4-3CA044055D6D}"/>
                </a:ext>
              </a:extLst>
            </p:cNvPr>
            <p:cNvSpPr>
              <a:spLocks noGrp="1"/>
            </p:cNvSpPr>
            <p:nvPr/>
          </p:nvSpPr>
          <p:spPr>
            <a:xfrm>
              <a:off x="10639425" y="2533650"/>
              <a:ext cx="152400" cy="114300"/>
            </a:xfrm>
            <a:custGeom>
              <a:avLst/>
              <a:gdLst/>
              <a:ahLst/>
              <a:cxnLst/>
              <a:rect l="0" t="0" r="0" b="0"/>
              <a:pathLst>
                <a:path w="152400" h="114300">
                  <a:moveTo>
                    <a:pt x="0" y="0"/>
                  </a:moveTo>
                  <a:lnTo>
                    <a:pt x="76200" y="1143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6091B4"/>
            </a:solidFill>
            <a:ln w="0">
              <a:noFill/>
            </a:ln>
          </p:spPr>
        </p:sp>
        <p:sp>
          <p:nvSpPr>
            <p:cNvPr id="85" name="Targeted repair label">
              <a:extLst>
                <a:ext uri="{FF2B5EF4-FFF2-40B4-BE49-F238E27FC236}">
                  <a16:creationId xmlns:a16="http://schemas.microsoft.com/office/drawing/2014/main" id="{506E9704-B8D0-46B6-BB3A-D074849DD4E9}"/>
                </a:ext>
              </a:extLst>
            </p:cNvPr>
            <p:cNvSpPr>
              <a:spLocks noGrp="1"/>
            </p:cNvSpPr>
            <p:nvPr/>
          </p:nvSpPr>
          <p:spPr>
            <a:xfrm>
              <a:off x="9686925" y="2381250"/>
              <a:ext cx="1504950" cy="2095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1200" b="0" i="1">
                  <a:solidFill>
                    <a:srgbClr val="174E86"/>
                  </a:solidFill>
                  <a:latin typeface="Arial Narrow"/>
                  <a:ea typeface="Arial Narrow"/>
                  <a:cs typeface="Arial Narrow"/>
                </a:defRPr>
              </a:pPr>
              <a:r>
                <a:rPr sz="1200" b="0" i="1">
                  <a:solidFill>
                    <a:srgbClr val="174E86"/>
                  </a:solidFill>
                  <a:latin typeface="Times New Roman" panose="02020603050405020304" pitchFamily="18" charset="0"/>
                  <a:ea typeface="Arial Narrow"/>
                  <a:cs typeface="Times New Roman" panose="02020603050405020304" pitchFamily="18" charset="0"/>
                </a:rPr>
                <a:t>targeted repair</a:t>
              </a:r>
            </a:p>
          </p:txBody>
        </p:sp>
      </p:grpSp>
      <p:grpSp>
        <p:nvGrpSpPr>
          <p:cNvPr id="364" name="Translator"/>
          <p:cNvGrpSpPr/>
          <p:nvPr/>
        </p:nvGrpSpPr>
        <p:grpSpPr>
          <a:xfrm>
            <a:off x="3705225" y="2667000"/>
            <a:ext cx="2647950" cy="4324350"/>
            <a:chOff x="3705225" y="2667000"/>
            <a:chExt cx="2647950" cy="4324350"/>
          </a:xfrm>
        </p:grpSpPr>
        <p:sp>
          <p:nvSpPr>
            <p:cNvPr id="86" name="Translator outer card">
              <a:extLst>
                <a:ext uri="{FF2B5EF4-FFF2-40B4-BE49-F238E27FC236}">
                  <a16:creationId xmlns:a16="http://schemas.microsoft.com/office/drawing/2014/main" id="{A757D7BB-CE60-4E49-A577-A78570C95AB5}"/>
                </a:ext>
              </a:extLst>
            </p:cNvPr>
            <p:cNvSpPr>
              <a:spLocks noGrp="1"/>
            </p:cNvSpPr>
            <p:nvPr/>
          </p:nvSpPr>
          <p:spPr>
            <a:xfrm>
              <a:off x="3705225" y="2667000"/>
              <a:ext cx="2647950" cy="4324350"/>
            </a:xfrm>
            <a:prstGeom prst="roundRect">
              <a:avLst>
                <a:gd name="adj" fmla="val 8633"/>
              </a:avLst>
            </a:prstGeom>
            <a:gradFill>
              <a:gsLst>
                <a:gs pos="0">
                  <a:srgbClr val="DFF4FF"/>
                </a:gs>
                <a:gs pos="100000">
                  <a:srgbClr val="D5EFFF"/>
                </a:gs>
              </a:gsLst>
              <a:lin ang="5400000"/>
            </a:gradFill>
            <a:ln w="23813">
              <a:solidFill>
                <a:srgbClr val="68B9E7"/>
              </a:solidFill>
            </a:ln>
          </p:spPr>
        </p:sp>
        <p:sp>
          <p:nvSpPr>
            <p:cNvPr id="87" name="Translator icon badge">
              <a:extLst>
                <a:ext uri="{FF2B5EF4-FFF2-40B4-BE49-F238E27FC236}">
                  <a16:creationId xmlns:a16="http://schemas.microsoft.com/office/drawing/2014/main" id="{FCAE9D62-1E78-42DD-9612-BB82A7FE6458}"/>
                </a:ext>
              </a:extLst>
            </p:cNvPr>
            <p:cNvSpPr>
              <a:spLocks noGrp="1"/>
            </p:cNvSpPr>
            <p:nvPr/>
          </p:nvSpPr>
          <p:spPr>
            <a:xfrm>
              <a:off x="3867150" y="2762250"/>
              <a:ext cx="771525" cy="828675"/>
            </a:xfrm>
            <a:prstGeom prst="roundRect">
              <a:avLst>
                <a:gd name="adj" fmla="val 41975"/>
              </a:avLst>
            </a:prstGeom>
            <a:gradFill>
              <a:gsLst>
                <a:gs pos="0">
                  <a:srgbClr val="A4DCF7"/>
                </a:gs>
                <a:gs pos="100000">
                  <a:srgbClr val="75BFE8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88" name="Translator file code 0">
              <a:extLst>
                <a:ext uri="{FF2B5EF4-FFF2-40B4-BE49-F238E27FC236}">
                  <a16:creationId xmlns:a16="http://schemas.microsoft.com/office/drawing/2014/main" id="{87E2C42D-4415-4C47-BFC3-9DB3CBB2E319}"/>
                </a:ext>
              </a:extLst>
            </p:cNvPr>
            <p:cNvSpPr>
              <a:spLocks noGrp="1"/>
            </p:cNvSpPr>
            <p:nvPr/>
          </p:nvSpPr>
          <p:spPr>
            <a:xfrm>
              <a:off x="4081463" y="2943225"/>
              <a:ext cx="323850" cy="476250"/>
            </a:xfrm>
            <a:custGeom>
              <a:avLst/>
              <a:gdLst/>
              <a:ahLst/>
              <a:cxnLst/>
              <a:rect l="0" t="0" r="0" b="0"/>
              <a:pathLst>
                <a:path w="323850" h="476250">
                  <a:moveTo>
                    <a:pt x="40481" y="476250"/>
                  </a:moveTo>
                  <a:lnTo>
                    <a:pt x="30496" y="474790"/>
                  </a:lnTo>
                  <a:lnTo>
                    <a:pt x="21129" y="470466"/>
                  </a:lnTo>
                  <a:lnTo>
                    <a:pt x="12961" y="463552"/>
                  </a:lnTo>
                  <a:lnTo>
                    <a:pt x="6486" y="454491"/>
                  </a:lnTo>
                  <a:lnTo>
                    <a:pt x="2108" y="443833"/>
                  </a:lnTo>
                  <a:lnTo>
                    <a:pt x="114" y="432230"/>
                  </a:lnTo>
                  <a:lnTo>
                    <a:pt x="0" y="420365"/>
                  </a:lnTo>
                  <a:lnTo>
                    <a:pt x="0" y="408496"/>
                  </a:lnTo>
                  <a:lnTo>
                    <a:pt x="0" y="396628"/>
                  </a:lnTo>
                  <a:lnTo>
                    <a:pt x="0" y="384759"/>
                  </a:lnTo>
                  <a:lnTo>
                    <a:pt x="0" y="372891"/>
                  </a:lnTo>
                  <a:lnTo>
                    <a:pt x="0" y="361022"/>
                  </a:lnTo>
                  <a:lnTo>
                    <a:pt x="0" y="349154"/>
                  </a:lnTo>
                  <a:lnTo>
                    <a:pt x="0" y="337285"/>
                  </a:lnTo>
                  <a:lnTo>
                    <a:pt x="0" y="325416"/>
                  </a:lnTo>
                  <a:lnTo>
                    <a:pt x="0" y="313548"/>
                  </a:lnTo>
                  <a:lnTo>
                    <a:pt x="0" y="301679"/>
                  </a:lnTo>
                  <a:lnTo>
                    <a:pt x="0" y="289811"/>
                  </a:lnTo>
                  <a:lnTo>
                    <a:pt x="0" y="277942"/>
                  </a:lnTo>
                  <a:lnTo>
                    <a:pt x="0" y="266074"/>
                  </a:lnTo>
                  <a:lnTo>
                    <a:pt x="0" y="254205"/>
                  </a:lnTo>
                  <a:lnTo>
                    <a:pt x="0" y="242336"/>
                  </a:lnTo>
                  <a:lnTo>
                    <a:pt x="0" y="230468"/>
                  </a:lnTo>
                  <a:lnTo>
                    <a:pt x="0" y="218599"/>
                  </a:lnTo>
                  <a:lnTo>
                    <a:pt x="0" y="206731"/>
                  </a:lnTo>
                  <a:lnTo>
                    <a:pt x="0" y="194862"/>
                  </a:lnTo>
                  <a:lnTo>
                    <a:pt x="0" y="182994"/>
                  </a:lnTo>
                  <a:lnTo>
                    <a:pt x="0" y="171125"/>
                  </a:lnTo>
                  <a:lnTo>
                    <a:pt x="0" y="159257"/>
                  </a:lnTo>
                  <a:lnTo>
                    <a:pt x="0" y="147388"/>
                  </a:lnTo>
                  <a:lnTo>
                    <a:pt x="0" y="135519"/>
                  </a:lnTo>
                  <a:lnTo>
                    <a:pt x="0" y="123651"/>
                  </a:lnTo>
                  <a:lnTo>
                    <a:pt x="0" y="111782"/>
                  </a:lnTo>
                  <a:lnTo>
                    <a:pt x="0" y="99914"/>
                  </a:lnTo>
                  <a:lnTo>
                    <a:pt x="0" y="88045"/>
                  </a:lnTo>
                  <a:lnTo>
                    <a:pt x="0" y="76177"/>
                  </a:lnTo>
                  <a:lnTo>
                    <a:pt x="0" y="64308"/>
                  </a:lnTo>
                  <a:lnTo>
                    <a:pt x="0" y="52440"/>
                  </a:lnTo>
                  <a:lnTo>
                    <a:pt x="438" y="40596"/>
                  </a:lnTo>
                  <a:lnTo>
                    <a:pt x="3143" y="29194"/>
                  </a:lnTo>
                  <a:lnTo>
                    <a:pt x="8166" y="18937"/>
                  </a:lnTo>
                  <a:lnTo>
                    <a:pt x="15178" y="10447"/>
                  </a:lnTo>
                  <a:lnTo>
                    <a:pt x="23749" y="4246"/>
                  </a:lnTo>
                  <a:lnTo>
                    <a:pt x="33358" y="735"/>
                  </a:lnTo>
                  <a:lnTo>
                    <a:pt x="43410" y="0"/>
                  </a:lnTo>
                  <a:lnTo>
                    <a:pt x="53498" y="0"/>
                  </a:lnTo>
                  <a:lnTo>
                    <a:pt x="63587" y="0"/>
                  </a:lnTo>
                  <a:lnTo>
                    <a:pt x="73675" y="0"/>
                  </a:lnTo>
                  <a:lnTo>
                    <a:pt x="83763" y="0"/>
                  </a:lnTo>
                  <a:lnTo>
                    <a:pt x="93852" y="0"/>
                  </a:lnTo>
                  <a:lnTo>
                    <a:pt x="103940" y="0"/>
                  </a:lnTo>
                  <a:lnTo>
                    <a:pt x="114028" y="0"/>
                  </a:lnTo>
                  <a:lnTo>
                    <a:pt x="124116" y="0"/>
                  </a:lnTo>
                  <a:lnTo>
                    <a:pt x="134205" y="0"/>
                  </a:lnTo>
                  <a:lnTo>
                    <a:pt x="144293" y="0"/>
                  </a:lnTo>
                  <a:lnTo>
                    <a:pt x="154381" y="0"/>
                  </a:lnTo>
                  <a:lnTo>
                    <a:pt x="164469" y="0"/>
                  </a:lnTo>
                  <a:lnTo>
                    <a:pt x="174558" y="0"/>
                  </a:lnTo>
                  <a:lnTo>
                    <a:pt x="184646" y="0"/>
                  </a:lnTo>
                  <a:lnTo>
                    <a:pt x="194734" y="0"/>
                  </a:lnTo>
                  <a:lnTo>
                    <a:pt x="204822" y="66"/>
                  </a:lnTo>
                  <a:lnTo>
                    <a:pt x="214776" y="1859"/>
                  </a:lnTo>
                  <a:lnTo>
                    <a:pt x="224202" y="6029"/>
                  </a:lnTo>
                  <a:lnTo>
                    <a:pt x="232694" y="12395"/>
                  </a:lnTo>
                  <a:lnTo>
                    <a:pt x="240043" y="20514"/>
                  </a:lnTo>
                  <a:lnTo>
                    <a:pt x="247177" y="28906"/>
                  </a:lnTo>
                  <a:lnTo>
                    <a:pt x="254310" y="37299"/>
                  </a:lnTo>
                  <a:lnTo>
                    <a:pt x="261444" y="45691"/>
                  </a:lnTo>
                  <a:lnTo>
                    <a:pt x="268577" y="54083"/>
                  </a:lnTo>
                  <a:lnTo>
                    <a:pt x="275711" y="62476"/>
                  </a:lnTo>
                  <a:lnTo>
                    <a:pt x="282844" y="70868"/>
                  </a:lnTo>
                  <a:lnTo>
                    <a:pt x="289978" y="79260"/>
                  </a:lnTo>
                  <a:lnTo>
                    <a:pt x="297111" y="87653"/>
                  </a:lnTo>
                  <a:lnTo>
                    <a:pt x="304245" y="96045"/>
                  </a:lnTo>
                  <a:lnTo>
                    <a:pt x="311332" y="104489"/>
                  </a:lnTo>
                  <a:lnTo>
                    <a:pt x="317269" y="114059"/>
                  </a:lnTo>
                  <a:lnTo>
                    <a:pt x="321400" y="124863"/>
                  </a:lnTo>
                  <a:lnTo>
                    <a:pt x="323550" y="136437"/>
                  </a:lnTo>
                  <a:lnTo>
                    <a:pt x="323850" y="148293"/>
                  </a:lnTo>
                  <a:lnTo>
                    <a:pt x="323850" y="160161"/>
                  </a:lnTo>
                  <a:lnTo>
                    <a:pt x="323850" y="172030"/>
                  </a:lnTo>
                  <a:lnTo>
                    <a:pt x="323850" y="183898"/>
                  </a:lnTo>
                  <a:lnTo>
                    <a:pt x="323850" y="195767"/>
                  </a:lnTo>
                  <a:lnTo>
                    <a:pt x="323850" y="207635"/>
                  </a:lnTo>
                  <a:lnTo>
                    <a:pt x="323850" y="219504"/>
                  </a:lnTo>
                  <a:lnTo>
                    <a:pt x="323850" y="231373"/>
                  </a:lnTo>
                  <a:lnTo>
                    <a:pt x="323850" y="243241"/>
                  </a:lnTo>
                  <a:lnTo>
                    <a:pt x="323850" y="255110"/>
                  </a:lnTo>
                  <a:lnTo>
                    <a:pt x="323850" y="266978"/>
                  </a:lnTo>
                  <a:lnTo>
                    <a:pt x="323850" y="278847"/>
                  </a:lnTo>
                  <a:lnTo>
                    <a:pt x="323850" y="290715"/>
                  </a:lnTo>
                  <a:lnTo>
                    <a:pt x="323850" y="302584"/>
                  </a:lnTo>
                  <a:lnTo>
                    <a:pt x="323850" y="314452"/>
                  </a:lnTo>
                  <a:lnTo>
                    <a:pt x="323850" y="326321"/>
                  </a:lnTo>
                  <a:lnTo>
                    <a:pt x="323850" y="338190"/>
                  </a:lnTo>
                  <a:lnTo>
                    <a:pt x="323850" y="350058"/>
                  </a:lnTo>
                  <a:lnTo>
                    <a:pt x="323850" y="361927"/>
                  </a:lnTo>
                  <a:lnTo>
                    <a:pt x="323850" y="373795"/>
                  </a:lnTo>
                  <a:lnTo>
                    <a:pt x="323850" y="385664"/>
                  </a:lnTo>
                  <a:lnTo>
                    <a:pt x="323850" y="397532"/>
                  </a:lnTo>
                  <a:lnTo>
                    <a:pt x="323850" y="409401"/>
                  </a:lnTo>
                  <a:lnTo>
                    <a:pt x="323850" y="421269"/>
                  </a:lnTo>
                  <a:lnTo>
                    <a:pt x="323671" y="433131"/>
                  </a:lnTo>
                  <a:lnTo>
                    <a:pt x="321490" y="444687"/>
                  </a:lnTo>
                  <a:lnTo>
                    <a:pt x="316940" y="455246"/>
                  </a:lnTo>
                  <a:lnTo>
                    <a:pt x="310320" y="464161"/>
                  </a:lnTo>
                  <a:lnTo>
                    <a:pt x="302042" y="470891"/>
                  </a:lnTo>
                  <a:lnTo>
                    <a:pt x="292607" y="475004"/>
                  </a:lnTo>
                  <a:lnTo>
                    <a:pt x="282600" y="476250"/>
                  </a:lnTo>
                  <a:lnTo>
                    <a:pt x="272512" y="476250"/>
                  </a:lnTo>
                  <a:lnTo>
                    <a:pt x="262423" y="476250"/>
                  </a:lnTo>
                  <a:lnTo>
                    <a:pt x="252335" y="476250"/>
                  </a:lnTo>
                  <a:lnTo>
                    <a:pt x="242247" y="476250"/>
                  </a:lnTo>
                  <a:lnTo>
                    <a:pt x="232159" y="476250"/>
                  </a:lnTo>
                  <a:lnTo>
                    <a:pt x="222070" y="476250"/>
                  </a:lnTo>
                  <a:lnTo>
                    <a:pt x="211982" y="476250"/>
                  </a:lnTo>
                  <a:lnTo>
                    <a:pt x="201894" y="476250"/>
                  </a:lnTo>
                  <a:lnTo>
                    <a:pt x="191805" y="476250"/>
                  </a:lnTo>
                  <a:lnTo>
                    <a:pt x="181717" y="476250"/>
                  </a:lnTo>
                  <a:lnTo>
                    <a:pt x="171629" y="476250"/>
                  </a:lnTo>
                  <a:lnTo>
                    <a:pt x="161541" y="476250"/>
                  </a:lnTo>
                  <a:lnTo>
                    <a:pt x="151452" y="476250"/>
                  </a:lnTo>
                  <a:lnTo>
                    <a:pt x="141364" y="476250"/>
                  </a:lnTo>
                  <a:lnTo>
                    <a:pt x="131276" y="476250"/>
                  </a:lnTo>
                  <a:lnTo>
                    <a:pt x="121187" y="476250"/>
                  </a:lnTo>
                  <a:lnTo>
                    <a:pt x="111099" y="476250"/>
                  </a:lnTo>
                  <a:lnTo>
                    <a:pt x="101011" y="476250"/>
                  </a:lnTo>
                  <a:lnTo>
                    <a:pt x="90923" y="476250"/>
                  </a:lnTo>
                  <a:lnTo>
                    <a:pt x="80834" y="476250"/>
                  </a:lnTo>
                  <a:lnTo>
                    <a:pt x="70746" y="476250"/>
                  </a:lnTo>
                  <a:lnTo>
                    <a:pt x="60658" y="476250"/>
                  </a:lnTo>
                  <a:lnTo>
                    <a:pt x="50570" y="476250"/>
                  </a:lnTo>
                  <a:lnTo>
                    <a:pt x="40481" y="476250"/>
                  </a:lnTo>
                  <a:close/>
                </a:path>
              </a:pathLst>
            </a:custGeom>
            <a:noFill/>
            <a:ln w="40481">
              <a:solidFill>
                <a:srgbClr val="072B50"/>
              </a:solidFill>
            </a:ln>
          </p:spPr>
        </p:sp>
        <p:sp>
          <p:nvSpPr>
            <p:cNvPr id="89" name="Translator file code 1">
              <a:extLst>
                <a:ext uri="{FF2B5EF4-FFF2-40B4-BE49-F238E27FC236}">
                  <a16:creationId xmlns:a16="http://schemas.microsoft.com/office/drawing/2014/main" id="{4410FE13-DFBA-494D-BBF1-B9E99D452172}"/>
                </a:ext>
              </a:extLst>
            </p:cNvPr>
            <p:cNvSpPr>
              <a:spLocks noGrp="1"/>
            </p:cNvSpPr>
            <p:nvPr/>
          </p:nvSpPr>
          <p:spPr>
            <a:xfrm>
              <a:off x="4283869" y="2943225"/>
              <a:ext cx="121444" cy="142875"/>
            </a:xfrm>
            <a:custGeom>
              <a:avLst/>
              <a:gdLst/>
              <a:ahLst/>
              <a:cxnLst/>
              <a:rect l="0" t="0" r="0" b="0"/>
              <a:pathLst>
                <a:path w="121444" h="142875">
                  <a:moveTo>
                    <a:pt x="0" y="0"/>
                  </a:moveTo>
                  <a:lnTo>
                    <a:pt x="0" y="11481"/>
                  </a:lnTo>
                  <a:lnTo>
                    <a:pt x="0" y="22961"/>
                  </a:lnTo>
                  <a:lnTo>
                    <a:pt x="0" y="34442"/>
                  </a:lnTo>
                  <a:lnTo>
                    <a:pt x="0" y="45922"/>
                  </a:lnTo>
                  <a:lnTo>
                    <a:pt x="0" y="57403"/>
                  </a:lnTo>
                  <a:lnTo>
                    <a:pt x="0" y="68884"/>
                  </a:lnTo>
                  <a:lnTo>
                    <a:pt x="0" y="80364"/>
                  </a:lnTo>
                  <a:lnTo>
                    <a:pt x="0" y="91845"/>
                  </a:lnTo>
                  <a:lnTo>
                    <a:pt x="0" y="103326"/>
                  </a:lnTo>
                  <a:lnTo>
                    <a:pt x="0" y="114806"/>
                  </a:lnTo>
                  <a:lnTo>
                    <a:pt x="919" y="126177"/>
                  </a:lnTo>
                  <a:lnTo>
                    <a:pt x="5928" y="135900"/>
                  </a:lnTo>
                  <a:lnTo>
                    <a:pt x="14193" y="141794"/>
                  </a:lnTo>
                  <a:lnTo>
                    <a:pt x="23858" y="142875"/>
                  </a:lnTo>
                  <a:lnTo>
                    <a:pt x="33617" y="142875"/>
                  </a:lnTo>
                  <a:lnTo>
                    <a:pt x="43376" y="142875"/>
                  </a:lnTo>
                  <a:lnTo>
                    <a:pt x="53134" y="142875"/>
                  </a:lnTo>
                  <a:lnTo>
                    <a:pt x="62893" y="142875"/>
                  </a:lnTo>
                  <a:lnTo>
                    <a:pt x="72651" y="142875"/>
                  </a:lnTo>
                  <a:lnTo>
                    <a:pt x="82410" y="142875"/>
                  </a:lnTo>
                  <a:lnTo>
                    <a:pt x="92168" y="142875"/>
                  </a:lnTo>
                  <a:lnTo>
                    <a:pt x="101927" y="142875"/>
                  </a:lnTo>
                  <a:lnTo>
                    <a:pt x="111685" y="142875"/>
                  </a:lnTo>
                  <a:lnTo>
                    <a:pt x="121444" y="142875"/>
                  </a:lnTo>
                </a:path>
              </a:pathLst>
            </a:custGeom>
            <a:noFill/>
            <a:ln w="40481">
              <a:solidFill>
                <a:srgbClr val="072B50"/>
              </a:solidFill>
            </a:ln>
          </p:spPr>
        </p:sp>
        <p:sp>
          <p:nvSpPr>
            <p:cNvPr id="90" name="Translator file code 2">
              <a:extLst>
                <a:ext uri="{FF2B5EF4-FFF2-40B4-BE49-F238E27FC236}">
                  <a16:creationId xmlns:a16="http://schemas.microsoft.com/office/drawing/2014/main" id="{EEB67FCC-59F8-4BAB-A837-968A463898B4}"/>
                </a:ext>
              </a:extLst>
            </p:cNvPr>
            <p:cNvSpPr>
              <a:spLocks noGrp="1"/>
            </p:cNvSpPr>
            <p:nvPr/>
          </p:nvSpPr>
          <p:spPr>
            <a:xfrm>
              <a:off x="4165539" y="3193256"/>
              <a:ext cx="37367" cy="119063"/>
            </a:xfrm>
            <a:custGeom>
              <a:avLst/>
              <a:gdLst/>
              <a:ahLst/>
              <a:cxnLst/>
              <a:rect l="0" t="0" r="0" b="0"/>
              <a:pathLst>
                <a:path w="37367" h="119063">
                  <a:moveTo>
                    <a:pt x="37367" y="0"/>
                  </a:moveTo>
                  <a:lnTo>
                    <a:pt x="31139" y="9159"/>
                  </a:lnTo>
                  <a:lnTo>
                    <a:pt x="24912" y="18317"/>
                  </a:lnTo>
                  <a:lnTo>
                    <a:pt x="18684" y="27476"/>
                  </a:lnTo>
                  <a:lnTo>
                    <a:pt x="12456" y="36635"/>
                  </a:lnTo>
                  <a:lnTo>
                    <a:pt x="6228" y="45793"/>
                  </a:lnTo>
                  <a:lnTo>
                    <a:pt x="0" y="54952"/>
                  </a:lnTo>
                  <a:lnTo>
                    <a:pt x="0" y="64111"/>
                  </a:lnTo>
                  <a:lnTo>
                    <a:pt x="6228" y="73269"/>
                  </a:lnTo>
                  <a:lnTo>
                    <a:pt x="12456" y="82428"/>
                  </a:lnTo>
                  <a:lnTo>
                    <a:pt x="18684" y="91587"/>
                  </a:lnTo>
                  <a:lnTo>
                    <a:pt x="24912" y="100745"/>
                  </a:lnTo>
                  <a:lnTo>
                    <a:pt x="31139" y="109904"/>
                  </a:lnTo>
                  <a:lnTo>
                    <a:pt x="37367" y="119063"/>
                  </a:lnTo>
                </a:path>
              </a:pathLst>
            </a:custGeom>
            <a:noFill/>
            <a:ln w="40481">
              <a:solidFill>
                <a:srgbClr val="072B50"/>
              </a:solidFill>
            </a:ln>
          </p:spPr>
        </p:sp>
        <p:sp>
          <p:nvSpPr>
            <p:cNvPr id="91" name="Translator file code 3">
              <a:extLst>
                <a:ext uri="{FF2B5EF4-FFF2-40B4-BE49-F238E27FC236}">
                  <a16:creationId xmlns:a16="http://schemas.microsoft.com/office/drawing/2014/main" id="{3722D666-13EC-44CF-91A0-86DF1A96CD08}"/>
                </a:ext>
              </a:extLst>
            </p:cNvPr>
            <p:cNvSpPr>
              <a:spLocks noGrp="1"/>
            </p:cNvSpPr>
            <p:nvPr/>
          </p:nvSpPr>
          <p:spPr>
            <a:xfrm>
              <a:off x="4283869" y="3193256"/>
              <a:ext cx="37367" cy="119063"/>
            </a:xfrm>
            <a:custGeom>
              <a:avLst/>
              <a:gdLst/>
              <a:ahLst/>
              <a:cxnLst/>
              <a:rect l="0" t="0" r="0" b="0"/>
              <a:pathLst>
                <a:path w="37367" h="119063">
                  <a:moveTo>
                    <a:pt x="0" y="0"/>
                  </a:moveTo>
                  <a:lnTo>
                    <a:pt x="6228" y="9159"/>
                  </a:lnTo>
                  <a:lnTo>
                    <a:pt x="12456" y="18317"/>
                  </a:lnTo>
                  <a:lnTo>
                    <a:pt x="18684" y="27476"/>
                  </a:lnTo>
                  <a:lnTo>
                    <a:pt x="24912" y="36635"/>
                  </a:lnTo>
                  <a:lnTo>
                    <a:pt x="31139" y="45793"/>
                  </a:lnTo>
                  <a:lnTo>
                    <a:pt x="37367" y="54952"/>
                  </a:lnTo>
                  <a:lnTo>
                    <a:pt x="37367" y="64111"/>
                  </a:lnTo>
                  <a:lnTo>
                    <a:pt x="31139" y="73269"/>
                  </a:lnTo>
                  <a:lnTo>
                    <a:pt x="24912" y="82428"/>
                  </a:lnTo>
                  <a:lnTo>
                    <a:pt x="18684" y="91587"/>
                  </a:lnTo>
                  <a:lnTo>
                    <a:pt x="12456" y="100745"/>
                  </a:lnTo>
                  <a:lnTo>
                    <a:pt x="6228" y="109904"/>
                  </a:lnTo>
                  <a:lnTo>
                    <a:pt x="0" y="119063"/>
                  </a:lnTo>
                </a:path>
              </a:pathLst>
            </a:custGeom>
            <a:noFill/>
            <a:ln w="40481">
              <a:solidFill>
                <a:srgbClr val="072B50"/>
              </a:solidFill>
            </a:ln>
          </p:spPr>
        </p:sp>
        <p:sp>
          <p:nvSpPr>
            <p:cNvPr id="92" name="Translator heading">
              <a:extLst>
                <a:ext uri="{FF2B5EF4-FFF2-40B4-BE49-F238E27FC236}">
                  <a16:creationId xmlns:a16="http://schemas.microsoft.com/office/drawing/2014/main" id="{4CB8E5B4-D21C-4183-A9F8-22B6B76BC734}"/>
                </a:ext>
              </a:extLst>
            </p:cNvPr>
            <p:cNvSpPr>
              <a:spLocks noGrp="1"/>
            </p:cNvSpPr>
            <p:nvPr/>
          </p:nvSpPr>
          <p:spPr>
            <a:xfrm>
              <a:off x="4759779" y="3019425"/>
              <a:ext cx="1552575" cy="3429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2100" b="1">
                  <a:solidFill>
                    <a:srgbClr val="091322"/>
                  </a:solidFill>
                  <a:latin typeface="Arial Narrow"/>
                  <a:ea typeface="Arial Narrow"/>
                  <a:cs typeface="Arial Narrow"/>
                </a:defRPr>
              </a:pPr>
              <a:r>
                <a:rPr sz="2100" b="1" dirty="0">
                  <a:solidFill>
                    <a:srgbClr val="091322"/>
                  </a:solidFill>
                  <a:latin typeface="Times New Roman" panose="02020603050405020304" pitchFamily="18" charset="0"/>
                  <a:ea typeface="Arial Narrow"/>
                  <a:cs typeface="Times New Roman" panose="02020603050405020304" pitchFamily="18" charset="0"/>
                </a:rPr>
                <a:t>Translator</a:t>
              </a:r>
            </a:p>
          </p:txBody>
        </p:sp>
        <p:sp>
          <p:nvSpPr>
            <p:cNvPr id="95" name="Translator candidate card">
              <a:extLst>
                <a:ext uri="{FF2B5EF4-FFF2-40B4-BE49-F238E27FC236}">
                  <a16:creationId xmlns:a16="http://schemas.microsoft.com/office/drawing/2014/main" id="{3A515675-C9E0-49E9-9204-D24E0472BACD}"/>
                </a:ext>
              </a:extLst>
            </p:cNvPr>
            <p:cNvSpPr>
              <a:spLocks noGrp="1"/>
            </p:cNvSpPr>
            <p:nvPr/>
          </p:nvSpPr>
          <p:spPr>
            <a:xfrm>
              <a:off x="3810000" y="3705225"/>
              <a:ext cx="2438400" cy="3190875"/>
            </a:xfrm>
            <a:prstGeom prst="roundRect">
              <a:avLst>
                <a:gd name="adj" fmla="val 5469"/>
              </a:avLst>
            </a:prstGeom>
            <a:gradFill>
              <a:gsLst>
                <a:gs pos="0">
                  <a:srgbClr val="FDFEFF"/>
                </a:gs>
                <a:gs pos="100000">
                  <a:srgbClr val="F3FBFF"/>
                </a:gs>
              </a:gsLst>
              <a:lin ang="5400000"/>
            </a:gradFill>
            <a:ln w="11430">
              <a:solidFill>
                <a:srgbClr val="A9D8F4"/>
              </a:solidFill>
            </a:ln>
          </p:spPr>
        </p:sp>
        <p:sp>
          <p:nvSpPr>
            <p:cNvPr id="96" name="Initial candidate heading">
              <a:extLst>
                <a:ext uri="{FF2B5EF4-FFF2-40B4-BE49-F238E27FC236}">
                  <a16:creationId xmlns:a16="http://schemas.microsoft.com/office/drawing/2014/main" id="{7F382804-FB1F-4D60-9DE9-5ACBFCCF9050}"/>
                </a:ext>
              </a:extLst>
            </p:cNvPr>
            <p:cNvSpPr>
              <a:spLocks noGrp="1"/>
            </p:cNvSpPr>
            <p:nvPr/>
          </p:nvSpPr>
          <p:spPr>
            <a:xfrm>
              <a:off x="3962400" y="3781425"/>
              <a:ext cx="2171700" cy="2476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1500" b="1">
                  <a:solidFill>
                    <a:srgbClr val="102D60"/>
                  </a:solidFill>
                  <a:latin typeface="Arial Narrow"/>
                  <a:ea typeface="Arial Narrow"/>
                  <a:cs typeface="Arial Narrow"/>
                </a:defRPr>
              </a:pPr>
              <a:r>
                <a:rPr lang="en-US" sz="1500" b="1" dirty="0">
                  <a:solidFill>
                    <a:srgbClr val="102D60"/>
                  </a:solidFill>
                  <a:latin typeface="Times New Roman" panose="02020603050405020304" pitchFamily="18" charset="0"/>
                  <a:ea typeface="Arial Narrow"/>
                  <a:cs typeface="Times New Roman" panose="02020603050405020304" pitchFamily="18" charset="0"/>
                </a:rPr>
                <a:t>Initial Target Program</a:t>
              </a:r>
              <a:endParaRPr sz="1500" b="1" dirty="0">
                <a:solidFill>
                  <a:srgbClr val="102D60"/>
                </a:solidFill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</a:endParaRPr>
            </a:p>
          </p:txBody>
        </p:sp>
        <p:sp>
          <p:nvSpPr>
            <p:cNvPr id="97" name="Initial code well">
              <a:extLst>
                <a:ext uri="{FF2B5EF4-FFF2-40B4-BE49-F238E27FC236}">
                  <a16:creationId xmlns:a16="http://schemas.microsoft.com/office/drawing/2014/main" id="{79962BB7-C8E5-4CDD-95D6-45E9B09F7820}"/>
                </a:ext>
              </a:extLst>
            </p:cNvPr>
            <p:cNvSpPr>
              <a:spLocks noGrp="1"/>
            </p:cNvSpPr>
            <p:nvPr/>
          </p:nvSpPr>
          <p:spPr>
            <a:xfrm>
              <a:off x="3876675" y="4038600"/>
              <a:ext cx="2286000" cy="2181225"/>
            </a:xfrm>
            <a:prstGeom prst="roundRect">
              <a:avLst>
                <a:gd name="adj" fmla="val 3930"/>
              </a:avLst>
            </a:prstGeom>
            <a:solidFill>
              <a:srgbClr val="FFFFFF"/>
            </a:solidFill>
            <a:ln w="7620">
              <a:solidFill>
                <a:srgbClr val="D3E7F4"/>
              </a:solidFill>
            </a:ln>
          </p:spPr>
        </p:sp>
        <p:sp>
          <p:nvSpPr>
            <p:cNvPr id="98" name="Initial MindSpore code line 1">
              <a:extLst>
                <a:ext uri="{FF2B5EF4-FFF2-40B4-BE49-F238E27FC236}">
                  <a16:creationId xmlns:a16="http://schemas.microsoft.com/office/drawing/2014/main" id="{4E76394C-7B54-4B7F-A338-B01DE3B0FE6F}"/>
                </a:ext>
              </a:extLst>
            </p:cNvPr>
            <p:cNvSpPr>
              <a:spLocks noGrp="1"/>
            </p:cNvSpPr>
            <p:nvPr/>
          </p:nvSpPr>
          <p:spPr>
            <a:xfrm>
              <a:off x="4010025" y="4238628"/>
              <a:ext cx="2171700" cy="2000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1005" b="0">
                  <a:solidFill>
                    <a:srgbClr val="131846"/>
                  </a:solidFill>
                  <a:latin typeface="Consolas"/>
                  <a:ea typeface="Consolas"/>
                  <a:cs typeface="Consolas"/>
                </a:defRPr>
              </a:pPr>
              <a:r>
                <a:rPr dirty="0">
                  <a:solidFill>
                    <a:srgbClr val="C800D4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import</a:t>
              </a:r>
              <a:r>
                <a:rPr dirty="0">
                  <a:solidFill>
                    <a:srgbClr val="111638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 </a:t>
              </a:r>
              <a:r>
                <a:rPr dirty="0" err="1">
                  <a:solidFill>
                    <a:srgbClr val="111638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mindspore</a:t>
              </a:r>
              <a:r>
                <a:rPr dirty="0">
                  <a:solidFill>
                    <a:srgbClr val="111638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 </a:t>
              </a:r>
              <a:r>
                <a:rPr dirty="0">
                  <a:solidFill>
                    <a:srgbClr val="C800D4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as</a:t>
              </a:r>
              <a:r>
                <a:rPr dirty="0">
                  <a:solidFill>
                    <a:srgbClr val="111638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 </a:t>
              </a:r>
              <a:r>
                <a:rPr dirty="0" err="1">
                  <a:solidFill>
                    <a:srgbClr val="111638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ms</a:t>
              </a:r>
              <a:endParaRPr dirty="0">
                <a:solidFill>
                  <a:srgbClr val="111638"/>
                </a:solidFill>
                <a:latin typeface="Consolas" panose="020B06090202040302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99" name="Initial MindSpore code line 2">
              <a:extLst>
                <a:ext uri="{FF2B5EF4-FFF2-40B4-BE49-F238E27FC236}">
                  <a16:creationId xmlns:a16="http://schemas.microsoft.com/office/drawing/2014/main" id="{2C640366-C22B-4CF6-A67F-9BF3E1BA6D39}"/>
                </a:ext>
              </a:extLst>
            </p:cNvPr>
            <p:cNvSpPr>
              <a:spLocks noGrp="1"/>
            </p:cNvSpPr>
            <p:nvPr/>
          </p:nvSpPr>
          <p:spPr>
            <a:xfrm>
              <a:off x="4010025" y="4429128"/>
              <a:ext cx="2171700" cy="2000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1005" b="0">
                  <a:solidFill>
                    <a:srgbClr val="131846"/>
                  </a:solidFill>
                  <a:latin typeface="Consolas"/>
                  <a:ea typeface="Consolas"/>
                  <a:cs typeface="Consolas"/>
                </a:defRPr>
              </a:pPr>
              <a:r>
                <a:rPr dirty="0">
                  <a:solidFill>
                    <a:srgbClr val="C800D4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import</a:t>
              </a:r>
              <a:r>
                <a:rPr dirty="0">
                  <a:solidFill>
                    <a:srgbClr val="111638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 </a:t>
              </a:r>
              <a:r>
                <a:rPr dirty="0" err="1">
                  <a:solidFill>
                    <a:srgbClr val="111638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mindspore.nn</a:t>
              </a:r>
              <a:r>
                <a:rPr dirty="0">
                  <a:solidFill>
                    <a:srgbClr val="111638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 </a:t>
              </a:r>
              <a:r>
                <a:rPr dirty="0">
                  <a:solidFill>
                    <a:srgbClr val="C800D4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as</a:t>
              </a:r>
              <a:r>
                <a:rPr dirty="0">
                  <a:solidFill>
                    <a:srgbClr val="111638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 </a:t>
              </a:r>
              <a:r>
                <a:rPr dirty="0" err="1">
                  <a:solidFill>
                    <a:srgbClr val="111638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nn</a:t>
              </a:r>
              <a:endParaRPr dirty="0">
                <a:solidFill>
                  <a:srgbClr val="111638"/>
                </a:solidFill>
                <a:latin typeface="Consolas" panose="020B06090202040302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100" name="Initial MindSpore code line 3">
              <a:extLst>
                <a:ext uri="{FF2B5EF4-FFF2-40B4-BE49-F238E27FC236}">
                  <a16:creationId xmlns:a16="http://schemas.microsoft.com/office/drawing/2014/main" id="{DB7A3C26-E868-4267-9FD0-7745DB596208}"/>
                </a:ext>
              </a:extLst>
            </p:cNvPr>
            <p:cNvSpPr>
              <a:spLocks noGrp="1"/>
            </p:cNvSpPr>
            <p:nvPr/>
          </p:nvSpPr>
          <p:spPr>
            <a:xfrm>
              <a:off x="4010025" y="4505325"/>
              <a:ext cx="2171700" cy="2000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1005" b="0">
                  <a:solidFill>
                    <a:srgbClr val="131846"/>
                  </a:solidFill>
                  <a:latin typeface="Consolas"/>
                  <a:ea typeface="Consolas"/>
                  <a:cs typeface="Consolas"/>
                </a:defRPr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1" name="Initial MindSpore code line 4">
              <a:extLst>
                <a:ext uri="{FF2B5EF4-FFF2-40B4-BE49-F238E27FC236}">
                  <a16:creationId xmlns:a16="http://schemas.microsoft.com/office/drawing/2014/main" id="{8BDAF785-3885-4E23-8222-F924BCFC5157}"/>
                </a:ext>
              </a:extLst>
            </p:cNvPr>
            <p:cNvSpPr>
              <a:spLocks noGrp="1"/>
            </p:cNvSpPr>
            <p:nvPr/>
          </p:nvSpPr>
          <p:spPr>
            <a:xfrm>
              <a:off x="4010025" y="4810128"/>
              <a:ext cx="2171700" cy="2000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1005" b="0">
                  <a:solidFill>
                    <a:srgbClr val="131846"/>
                  </a:solidFill>
                  <a:latin typeface="Consolas"/>
                  <a:ea typeface="Consolas"/>
                  <a:cs typeface="Consolas"/>
                </a:defRPr>
              </a:pPr>
              <a:r>
                <a:rPr>
                  <a:solidFill>
                    <a:srgbClr val="C800D4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class</a:t>
              </a:r>
              <a:r>
                <a:rPr>
                  <a:solidFill>
                    <a:srgbClr val="111638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 </a:t>
              </a:r>
              <a:r>
                <a:rPr>
                  <a:solidFill>
                    <a:srgbClr val="005BDE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Net</a:t>
              </a:r>
              <a:r>
                <a:rPr>
                  <a:solidFill>
                    <a:srgbClr val="111638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(nn.Cell):</a:t>
              </a:r>
            </a:p>
          </p:txBody>
        </p:sp>
        <p:sp>
          <p:nvSpPr>
            <p:cNvPr id="102" name="Initial MindSpore code line 5">
              <a:extLst>
                <a:ext uri="{FF2B5EF4-FFF2-40B4-BE49-F238E27FC236}">
                  <a16:creationId xmlns:a16="http://schemas.microsoft.com/office/drawing/2014/main" id="{86EB4E97-1775-4137-9AA6-19561E846595}"/>
                </a:ext>
              </a:extLst>
            </p:cNvPr>
            <p:cNvSpPr>
              <a:spLocks noGrp="1"/>
            </p:cNvSpPr>
            <p:nvPr/>
          </p:nvSpPr>
          <p:spPr>
            <a:xfrm>
              <a:off x="4010025" y="5000628"/>
              <a:ext cx="2171700" cy="2000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1005" b="0">
                  <a:solidFill>
                    <a:srgbClr val="131846"/>
                  </a:solidFill>
                  <a:latin typeface="Consolas"/>
                  <a:ea typeface="Consolas"/>
                  <a:cs typeface="Consolas"/>
                </a:defRPr>
              </a:pPr>
              <a:r>
                <a:rPr>
                  <a:solidFill>
                    <a:srgbClr val="111638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  </a:t>
              </a:r>
              <a:r>
                <a:rPr>
                  <a:solidFill>
                    <a:srgbClr val="C800D4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def</a:t>
              </a:r>
              <a:r>
                <a:rPr>
                  <a:solidFill>
                    <a:srgbClr val="111638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 __init__(</a:t>
              </a:r>
              <a:r>
                <a:rPr>
                  <a:solidFill>
                    <a:srgbClr val="005BDE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self</a:t>
              </a:r>
              <a:r>
                <a:rPr>
                  <a:solidFill>
                    <a:srgbClr val="111638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):</a:t>
              </a:r>
            </a:p>
          </p:txBody>
        </p:sp>
        <p:sp>
          <p:nvSpPr>
            <p:cNvPr id="103" name="Initial MindSpore code line 6">
              <a:extLst>
                <a:ext uri="{FF2B5EF4-FFF2-40B4-BE49-F238E27FC236}">
                  <a16:creationId xmlns:a16="http://schemas.microsoft.com/office/drawing/2014/main" id="{9AFCA4E8-A8CC-4829-8029-E05B46F1536C}"/>
                </a:ext>
              </a:extLst>
            </p:cNvPr>
            <p:cNvSpPr>
              <a:spLocks noGrp="1"/>
            </p:cNvSpPr>
            <p:nvPr/>
          </p:nvSpPr>
          <p:spPr>
            <a:xfrm>
              <a:off x="4010025" y="5191128"/>
              <a:ext cx="2171700" cy="2000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1005" b="0">
                  <a:solidFill>
                    <a:srgbClr val="131846"/>
                  </a:solidFill>
                  <a:latin typeface="Consolas"/>
                  <a:ea typeface="Consolas"/>
                  <a:cs typeface="Consolas"/>
                </a:defRPr>
              </a:pPr>
              <a:r>
                <a:rPr>
                  <a:solidFill>
                    <a:srgbClr val="111638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    </a:t>
              </a:r>
              <a:r>
                <a:rPr>
                  <a:solidFill>
                    <a:srgbClr val="005BDE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super</a:t>
              </a:r>
              <a:r>
                <a:rPr>
                  <a:solidFill>
                    <a:srgbClr val="111638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().__init__()</a:t>
              </a:r>
            </a:p>
          </p:txBody>
        </p:sp>
        <p:sp>
          <p:nvSpPr>
            <p:cNvPr id="104" name="Initial MindSpore code line 7">
              <a:extLst>
                <a:ext uri="{FF2B5EF4-FFF2-40B4-BE49-F238E27FC236}">
                  <a16:creationId xmlns:a16="http://schemas.microsoft.com/office/drawing/2014/main" id="{395E419E-923C-4355-A87E-5427BC5477E1}"/>
                </a:ext>
              </a:extLst>
            </p:cNvPr>
            <p:cNvSpPr>
              <a:spLocks noGrp="1"/>
            </p:cNvSpPr>
            <p:nvPr/>
          </p:nvSpPr>
          <p:spPr>
            <a:xfrm>
              <a:off x="4010025" y="5381628"/>
              <a:ext cx="2171700" cy="2000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1005" b="0">
                  <a:solidFill>
                    <a:srgbClr val="131846"/>
                  </a:solidFill>
                  <a:latin typeface="Consolas"/>
                  <a:ea typeface="Consolas"/>
                  <a:cs typeface="Consolas"/>
                </a:defRPr>
              </a:pPr>
              <a:r>
                <a:rPr>
                  <a:solidFill>
                    <a:srgbClr val="111638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    </a:t>
              </a:r>
              <a:r>
                <a:rPr>
                  <a:solidFill>
                    <a:srgbClr val="005BDE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self</a:t>
              </a:r>
              <a:r>
                <a:rPr>
                  <a:solidFill>
                    <a:srgbClr val="111638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.fc = nn.Dense(</a:t>
              </a:r>
              <a:r>
                <a:rPr>
                  <a:solidFill>
                    <a:srgbClr val="007787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128</a:t>
              </a:r>
              <a:r>
                <a:rPr>
                  <a:solidFill>
                    <a:srgbClr val="111638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, </a:t>
              </a:r>
              <a:r>
                <a:rPr>
                  <a:solidFill>
                    <a:srgbClr val="007787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10</a:t>
              </a:r>
              <a:r>
                <a:rPr>
                  <a:solidFill>
                    <a:srgbClr val="111638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105" name="Initial MindSpore code line 8">
              <a:extLst>
                <a:ext uri="{FF2B5EF4-FFF2-40B4-BE49-F238E27FC236}">
                  <a16:creationId xmlns:a16="http://schemas.microsoft.com/office/drawing/2014/main" id="{B0348C47-CA72-499A-9109-CE66D4EBB941}"/>
                </a:ext>
              </a:extLst>
            </p:cNvPr>
            <p:cNvSpPr>
              <a:spLocks noGrp="1"/>
            </p:cNvSpPr>
            <p:nvPr/>
          </p:nvSpPr>
          <p:spPr>
            <a:xfrm>
              <a:off x="4010025" y="5572128"/>
              <a:ext cx="2171700" cy="2000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1005" b="0">
                  <a:solidFill>
                    <a:srgbClr val="131846"/>
                  </a:solidFill>
                  <a:latin typeface="Consolas"/>
                  <a:ea typeface="Consolas"/>
                  <a:cs typeface="Consolas"/>
                </a:defRPr>
              </a:pPr>
              <a:r>
                <a:rPr>
                  <a:solidFill>
                    <a:srgbClr val="111638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  </a:t>
              </a:r>
              <a:r>
                <a:rPr>
                  <a:solidFill>
                    <a:srgbClr val="C800D4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def</a:t>
              </a:r>
              <a:r>
                <a:rPr>
                  <a:solidFill>
                    <a:srgbClr val="111638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 </a:t>
              </a:r>
              <a:r>
                <a:rPr>
                  <a:solidFill>
                    <a:srgbClr val="005BDE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construct</a:t>
              </a:r>
              <a:r>
                <a:rPr>
                  <a:solidFill>
                    <a:srgbClr val="111638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(</a:t>
              </a:r>
              <a:r>
                <a:rPr>
                  <a:solidFill>
                    <a:srgbClr val="005BDE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self</a:t>
              </a:r>
              <a:r>
                <a:rPr>
                  <a:solidFill>
                    <a:srgbClr val="111638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, x):</a:t>
              </a:r>
            </a:p>
          </p:txBody>
        </p:sp>
        <p:sp>
          <p:nvSpPr>
            <p:cNvPr id="106" name="Initial MindSpore code line 9">
              <a:extLst>
                <a:ext uri="{FF2B5EF4-FFF2-40B4-BE49-F238E27FC236}">
                  <a16:creationId xmlns:a16="http://schemas.microsoft.com/office/drawing/2014/main" id="{ACE58F32-3702-4ADB-8F35-0B9BAEC95669}"/>
                </a:ext>
              </a:extLst>
            </p:cNvPr>
            <p:cNvSpPr>
              <a:spLocks noGrp="1"/>
            </p:cNvSpPr>
            <p:nvPr/>
          </p:nvSpPr>
          <p:spPr>
            <a:xfrm>
              <a:off x="4010025" y="5762628"/>
              <a:ext cx="2171700" cy="2000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1005" b="0">
                  <a:solidFill>
                    <a:srgbClr val="131846"/>
                  </a:solidFill>
                  <a:latin typeface="Consolas"/>
                  <a:ea typeface="Consolas"/>
                  <a:cs typeface="Consolas"/>
                </a:defRPr>
              </a:pPr>
              <a:r>
                <a:rPr>
                  <a:solidFill>
                    <a:srgbClr val="111638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    </a:t>
              </a:r>
              <a:r>
                <a:rPr>
                  <a:solidFill>
                    <a:srgbClr val="C800D4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return</a:t>
              </a:r>
              <a:r>
                <a:rPr>
                  <a:solidFill>
                    <a:srgbClr val="111638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 </a:t>
              </a:r>
              <a:r>
                <a:rPr>
                  <a:solidFill>
                    <a:srgbClr val="005BDE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self</a:t>
              </a:r>
              <a:r>
                <a:rPr>
                  <a:solidFill>
                    <a:srgbClr val="111638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.fc(x)</a:t>
              </a:r>
            </a:p>
          </p:txBody>
        </p:sp>
        <p:sp>
          <p:nvSpPr>
            <p:cNvPr id="107" name="Translation footer badge">
              <a:extLst>
                <a:ext uri="{FF2B5EF4-FFF2-40B4-BE49-F238E27FC236}">
                  <a16:creationId xmlns:a16="http://schemas.microsoft.com/office/drawing/2014/main" id="{56D74355-D613-4B70-94D0-A54100DE4FE1}"/>
                </a:ext>
              </a:extLst>
            </p:cNvPr>
            <p:cNvSpPr>
              <a:spLocks noGrp="1"/>
            </p:cNvSpPr>
            <p:nvPr/>
          </p:nvSpPr>
          <p:spPr>
            <a:xfrm>
              <a:off x="3895725" y="6324600"/>
              <a:ext cx="457200" cy="466725"/>
            </a:xfrm>
            <a:prstGeom prst="ellipse">
              <a:avLst/>
            </a:prstGeom>
            <a:gradFill>
              <a:gsLst>
                <a:gs pos="0">
                  <a:srgbClr val="C9EBFF"/>
                </a:gs>
                <a:gs pos="100000">
                  <a:srgbClr val="A9D7F5"/>
                </a:gs>
              </a:gsLst>
              <a:lin ang="5400000"/>
            </a:gradFill>
            <a:ln w="0">
              <a:noFill/>
              <a:prstDash val="solid"/>
            </a:ln>
          </p:spPr>
        </p:sp>
        <p:sp>
          <p:nvSpPr>
            <p:cNvPr id="108" name="Translation mapping 0">
              <a:extLst>
                <a:ext uri="{FF2B5EF4-FFF2-40B4-BE49-F238E27FC236}">
                  <a16:creationId xmlns:a16="http://schemas.microsoft.com/office/drawing/2014/main" id="{9C92DF46-6B94-4034-A1C4-276980B1E79D}"/>
                </a:ext>
              </a:extLst>
            </p:cNvPr>
            <p:cNvSpPr>
              <a:spLocks noGrp="1"/>
            </p:cNvSpPr>
            <p:nvPr/>
          </p:nvSpPr>
          <p:spPr>
            <a:xfrm>
              <a:off x="4043570" y="6469856"/>
              <a:ext cx="39480" cy="82550"/>
            </a:xfrm>
            <a:custGeom>
              <a:avLst/>
              <a:gdLst/>
              <a:ahLst/>
              <a:cxnLst/>
              <a:rect l="0" t="0" r="0" b="0"/>
              <a:pathLst>
                <a:path w="39480" h="82550">
                  <a:moveTo>
                    <a:pt x="39480" y="0"/>
                  </a:moveTo>
                  <a:lnTo>
                    <a:pt x="35891" y="3589"/>
                  </a:lnTo>
                  <a:lnTo>
                    <a:pt x="32302" y="7178"/>
                  </a:lnTo>
                  <a:lnTo>
                    <a:pt x="28713" y="10767"/>
                  </a:lnTo>
                  <a:lnTo>
                    <a:pt x="25124" y="14357"/>
                  </a:lnTo>
                  <a:lnTo>
                    <a:pt x="21535" y="17946"/>
                  </a:lnTo>
                  <a:lnTo>
                    <a:pt x="17946" y="21535"/>
                  </a:lnTo>
                  <a:lnTo>
                    <a:pt x="14357" y="25124"/>
                  </a:lnTo>
                  <a:lnTo>
                    <a:pt x="10767" y="28713"/>
                  </a:lnTo>
                  <a:lnTo>
                    <a:pt x="7178" y="32302"/>
                  </a:lnTo>
                  <a:lnTo>
                    <a:pt x="3589" y="35891"/>
                  </a:lnTo>
                  <a:lnTo>
                    <a:pt x="0" y="39480"/>
                  </a:lnTo>
                  <a:lnTo>
                    <a:pt x="0" y="43070"/>
                  </a:lnTo>
                  <a:lnTo>
                    <a:pt x="3589" y="46659"/>
                  </a:lnTo>
                  <a:lnTo>
                    <a:pt x="7178" y="50248"/>
                  </a:lnTo>
                  <a:lnTo>
                    <a:pt x="10767" y="53837"/>
                  </a:lnTo>
                  <a:lnTo>
                    <a:pt x="14357" y="57426"/>
                  </a:lnTo>
                  <a:lnTo>
                    <a:pt x="17946" y="61015"/>
                  </a:lnTo>
                  <a:lnTo>
                    <a:pt x="21535" y="64604"/>
                  </a:lnTo>
                  <a:lnTo>
                    <a:pt x="25124" y="68193"/>
                  </a:lnTo>
                  <a:lnTo>
                    <a:pt x="28713" y="71783"/>
                  </a:lnTo>
                  <a:lnTo>
                    <a:pt x="32302" y="75372"/>
                  </a:lnTo>
                  <a:lnTo>
                    <a:pt x="35891" y="78961"/>
                  </a:lnTo>
                  <a:lnTo>
                    <a:pt x="39480" y="82550"/>
                  </a:lnTo>
                </a:path>
              </a:pathLst>
            </a:custGeom>
            <a:noFill/>
            <a:ln w="20638">
              <a:solidFill>
                <a:srgbClr val="073552"/>
              </a:solidFill>
            </a:ln>
          </p:spPr>
        </p:sp>
        <p:sp>
          <p:nvSpPr>
            <p:cNvPr id="109" name="Translation mapping 1">
              <a:extLst>
                <a:ext uri="{FF2B5EF4-FFF2-40B4-BE49-F238E27FC236}">
                  <a16:creationId xmlns:a16="http://schemas.microsoft.com/office/drawing/2014/main" id="{6D1AE9F6-01E8-4FD8-AF75-0B25D04B106B}"/>
                </a:ext>
              </a:extLst>
            </p:cNvPr>
            <p:cNvSpPr>
              <a:spLocks noGrp="1"/>
            </p:cNvSpPr>
            <p:nvPr/>
          </p:nvSpPr>
          <p:spPr>
            <a:xfrm>
              <a:off x="4041775" y="6511131"/>
              <a:ext cx="165100" cy="953"/>
            </a:xfrm>
            <a:custGeom>
              <a:avLst/>
              <a:gdLst/>
              <a:ahLst/>
              <a:cxnLst/>
              <a:rect l="0" t="0" r="0" b="0"/>
              <a:pathLst>
                <a:path w="165100" h="953">
                  <a:moveTo>
                    <a:pt x="0" y="0"/>
                  </a:moveTo>
                  <a:lnTo>
                    <a:pt x="5159" y="0"/>
                  </a:lnTo>
                  <a:lnTo>
                    <a:pt x="10319" y="0"/>
                  </a:lnTo>
                  <a:lnTo>
                    <a:pt x="15478" y="0"/>
                  </a:lnTo>
                  <a:lnTo>
                    <a:pt x="20638" y="0"/>
                  </a:lnTo>
                  <a:lnTo>
                    <a:pt x="25797" y="0"/>
                  </a:lnTo>
                  <a:lnTo>
                    <a:pt x="30956" y="0"/>
                  </a:lnTo>
                  <a:lnTo>
                    <a:pt x="36116" y="0"/>
                  </a:lnTo>
                  <a:lnTo>
                    <a:pt x="41275" y="0"/>
                  </a:lnTo>
                  <a:lnTo>
                    <a:pt x="46434" y="0"/>
                  </a:lnTo>
                  <a:lnTo>
                    <a:pt x="51594" y="0"/>
                  </a:lnTo>
                  <a:lnTo>
                    <a:pt x="56753" y="0"/>
                  </a:lnTo>
                  <a:lnTo>
                    <a:pt x="61913" y="0"/>
                  </a:lnTo>
                  <a:lnTo>
                    <a:pt x="67072" y="0"/>
                  </a:lnTo>
                  <a:lnTo>
                    <a:pt x="72231" y="0"/>
                  </a:lnTo>
                  <a:lnTo>
                    <a:pt x="77391" y="0"/>
                  </a:lnTo>
                  <a:lnTo>
                    <a:pt x="82550" y="0"/>
                  </a:lnTo>
                  <a:lnTo>
                    <a:pt x="87709" y="0"/>
                  </a:lnTo>
                  <a:lnTo>
                    <a:pt x="92869" y="0"/>
                  </a:lnTo>
                  <a:lnTo>
                    <a:pt x="98028" y="0"/>
                  </a:lnTo>
                  <a:lnTo>
                    <a:pt x="103188" y="0"/>
                  </a:lnTo>
                  <a:lnTo>
                    <a:pt x="108347" y="0"/>
                  </a:lnTo>
                  <a:lnTo>
                    <a:pt x="113506" y="0"/>
                  </a:lnTo>
                  <a:lnTo>
                    <a:pt x="118666" y="0"/>
                  </a:lnTo>
                  <a:lnTo>
                    <a:pt x="123825" y="0"/>
                  </a:lnTo>
                  <a:lnTo>
                    <a:pt x="128984" y="0"/>
                  </a:lnTo>
                  <a:lnTo>
                    <a:pt x="134144" y="0"/>
                  </a:lnTo>
                  <a:lnTo>
                    <a:pt x="139303" y="0"/>
                  </a:lnTo>
                  <a:lnTo>
                    <a:pt x="144463" y="0"/>
                  </a:lnTo>
                  <a:lnTo>
                    <a:pt x="149622" y="0"/>
                  </a:lnTo>
                  <a:lnTo>
                    <a:pt x="154781" y="0"/>
                  </a:lnTo>
                  <a:lnTo>
                    <a:pt x="159941" y="0"/>
                  </a:lnTo>
                  <a:lnTo>
                    <a:pt x="165100" y="0"/>
                  </a:lnTo>
                </a:path>
              </a:pathLst>
            </a:custGeom>
            <a:noFill/>
            <a:ln w="20638">
              <a:solidFill>
                <a:srgbClr val="073552"/>
              </a:solidFill>
            </a:ln>
          </p:spPr>
        </p:sp>
        <p:sp>
          <p:nvSpPr>
            <p:cNvPr id="110" name="Translation mapping 2">
              <a:extLst>
                <a:ext uri="{FF2B5EF4-FFF2-40B4-BE49-F238E27FC236}">
                  <a16:creationId xmlns:a16="http://schemas.microsoft.com/office/drawing/2014/main" id="{D1175B78-8FAA-4B6A-97A4-E67DC3BC24BB}"/>
                </a:ext>
              </a:extLst>
            </p:cNvPr>
            <p:cNvSpPr>
              <a:spLocks noGrp="1"/>
            </p:cNvSpPr>
            <p:nvPr/>
          </p:nvSpPr>
          <p:spPr>
            <a:xfrm>
              <a:off x="4165600" y="6573044"/>
              <a:ext cx="39480" cy="82550"/>
            </a:xfrm>
            <a:custGeom>
              <a:avLst/>
              <a:gdLst/>
              <a:ahLst/>
              <a:cxnLst/>
              <a:rect l="0" t="0" r="0" b="0"/>
              <a:pathLst>
                <a:path w="39480" h="82550">
                  <a:moveTo>
                    <a:pt x="0" y="82550"/>
                  </a:moveTo>
                  <a:lnTo>
                    <a:pt x="3589" y="78961"/>
                  </a:lnTo>
                  <a:lnTo>
                    <a:pt x="7178" y="75372"/>
                  </a:lnTo>
                  <a:lnTo>
                    <a:pt x="10767" y="71783"/>
                  </a:lnTo>
                  <a:lnTo>
                    <a:pt x="14357" y="68193"/>
                  </a:lnTo>
                  <a:lnTo>
                    <a:pt x="17946" y="64604"/>
                  </a:lnTo>
                  <a:lnTo>
                    <a:pt x="21535" y="61015"/>
                  </a:lnTo>
                  <a:lnTo>
                    <a:pt x="25124" y="57426"/>
                  </a:lnTo>
                  <a:lnTo>
                    <a:pt x="28713" y="53837"/>
                  </a:lnTo>
                  <a:lnTo>
                    <a:pt x="32302" y="50248"/>
                  </a:lnTo>
                  <a:lnTo>
                    <a:pt x="35891" y="46659"/>
                  </a:lnTo>
                  <a:lnTo>
                    <a:pt x="39480" y="43070"/>
                  </a:lnTo>
                  <a:lnTo>
                    <a:pt x="39480" y="39480"/>
                  </a:lnTo>
                  <a:lnTo>
                    <a:pt x="35891" y="35891"/>
                  </a:lnTo>
                  <a:lnTo>
                    <a:pt x="32302" y="32302"/>
                  </a:lnTo>
                  <a:lnTo>
                    <a:pt x="28713" y="28713"/>
                  </a:lnTo>
                  <a:lnTo>
                    <a:pt x="25124" y="25124"/>
                  </a:lnTo>
                  <a:lnTo>
                    <a:pt x="21535" y="21535"/>
                  </a:lnTo>
                  <a:lnTo>
                    <a:pt x="17946" y="17946"/>
                  </a:lnTo>
                  <a:lnTo>
                    <a:pt x="14357" y="14357"/>
                  </a:lnTo>
                  <a:lnTo>
                    <a:pt x="10767" y="10767"/>
                  </a:lnTo>
                  <a:lnTo>
                    <a:pt x="7178" y="7178"/>
                  </a:lnTo>
                  <a:lnTo>
                    <a:pt x="3589" y="3589"/>
                  </a:lnTo>
                  <a:lnTo>
                    <a:pt x="0" y="0"/>
                  </a:lnTo>
                </a:path>
              </a:pathLst>
            </a:custGeom>
            <a:noFill/>
            <a:ln w="20638">
              <a:solidFill>
                <a:srgbClr val="073552"/>
              </a:solidFill>
            </a:ln>
          </p:spPr>
        </p:sp>
        <p:sp>
          <p:nvSpPr>
            <p:cNvPr id="111" name="Translation mapping 3">
              <a:extLst>
                <a:ext uri="{FF2B5EF4-FFF2-40B4-BE49-F238E27FC236}">
                  <a16:creationId xmlns:a16="http://schemas.microsoft.com/office/drawing/2014/main" id="{FB4D7FB1-4193-4A6A-A712-6EB1083F86ED}"/>
                </a:ext>
              </a:extLst>
            </p:cNvPr>
            <p:cNvSpPr>
              <a:spLocks noGrp="1"/>
            </p:cNvSpPr>
            <p:nvPr/>
          </p:nvSpPr>
          <p:spPr>
            <a:xfrm>
              <a:off x="4041775" y="6614319"/>
              <a:ext cx="165100" cy="0"/>
            </a:xfrm>
            <a:custGeom>
              <a:avLst/>
              <a:gdLst/>
              <a:ahLst/>
              <a:cxnLst/>
              <a:rect l="0" t="0" r="0" b="0"/>
              <a:pathLst>
                <a:path w="165100">
                  <a:moveTo>
                    <a:pt x="165100" y="0"/>
                  </a:moveTo>
                  <a:lnTo>
                    <a:pt x="159941" y="0"/>
                  </a:lnTo>
                  <a:lnTo>
                    <a:pt x="154781" y="0"/>
                  </a:lnTo>
                  <a:lnTo>
                    <a:pt x="149622" y="0"/>
                  </a:lnTo>
                  <a:lnTo>
                    <a:pt x="144463" y="0"/>
                  </a:lnTo>
                  <a:lnTo>
                    <a:pt x="139303" y="0"/>
                  </a:lnTo>
                  <a:lnTo>
                    <a:pt x="134144" y="0"/>
                  </a:lnTo>
                  <a:lnTo>
                    <a:pt x="128984" y="0"/>
                  </a:lnTo>
                  <a:lnTo>
                    <a:pt x="123825" y="0"/>
                  </a:lnTo>
                  <a:lnTo>
                    <a:pt x="118666" y="0"/>
                  </a:lnTo>
                  <a:lnTo>
                    <a:pt x="113506" y="0"/>
                  </a:lnTo>
                  <a:lnTo>
                    <a:pt x="108347" y="0"/>
                  </a:lnTo>
                  <a:lnTo>
                    <a:pt x="103188" y="0"/>
                  </a:lnTo>
                  <a:lnTo>
                    <a:pt x="98028" y="0"/>
                  </a:lnTo>
                  <a:lnTo>
                    <a:pt x="92869" y="0"/>
                  </a:lnTo>
                  <a:lnTo>
                    <a:pt x="87709" y="0"/>
                  </a:lnTo>
                  <a:lnTo>
                    <a:pt x="82550" y="0"/>
                  </a:lnTo>
                  <a:lnTo>
                    <a:pt x="77391" y="0"/>
                  </a:lnTo>
                  <a:lnTo>
                    <a:pt x="72231" y="0"/>
                  </a:lnTo>
                  <a:lnTo>
                    <a:pt x="67072" y="0"/>
                  </a:lnTo>
                  <a:lnTo>
                    <a:pt x="61913" y="0"/>
                  </a:lnTo>
                  <a:lnTo>
                    <a:pt x="56753" y="0"/>
                  </a:lnTo>
                  <a:lnTo>
                    <a:pt x="51594" y="0"/>
                  </a:lnTo>
                  <a:lnTo>
                    <a:pt x="46434" y="0"/>
                  </a:lnTo>
                  <a:lnTo>
                    <a:pt x="41275" y="0"/>
                  </a:lnTo>
                  <a:lnTo>
                    <a:pt x="36116" y="0"/>
                  </a:lnTo>
                  <a:lnTo>
                    <a:pt x="30956" y="0"/>
                  </a:lnTo>
                  <a:lnTo>
                    <a:pt x="25797" y="0"/>
                  </a:lnTo>
                  <a:lnTo>
                    <a:pt x="20638" y="0"/>
                  </a:lnTo>
                  <a:lnTo>
                    <a:pt x="15478" y="0"/>
                  </a:lnTo>
                  <a:lnTo>
                    <a:pt x="10319" y="0"/>
                  </a:lnTo>
                  <a:lnTo>
                    <a:pt x="5159" y="0"/>
                  </a:lnTo>
                  <a:lnTo>
                    <a:pt x="0" y="0"/>
                  </a:lnTo>
                </a:path>
              </a:pathLst>
            </a:custGeom>
            <a:noFill/>
            <a:ln w="20638">
              <a:solidFill>
                <a:srgbClr val="073552"/>
              </a:solidFill>
            </a:ln>
          </p:spPr>
        </p:sp>
        <p:sp>
          <p:nvSpPr>
            <p:cNvPr id="112" name="Translation footer 1">
              <a:extLst>
                <a:ext uri="{FF2B5EF4-FFF2-40B4-BE49-F238E27FC236}">
                  <a16:creationId xmlns:a16="http://schemas.microsoft.com/office/drawing/2014/main" id="{8C96D86C-8C28-4BC6-8412-6E72593F17EE}"/>
                </a:ext>
              </a:extLst>
            </p:cNvPr>
            <p:cNvSpPr>
              <a:spLocks noGrp="1"/>
            </p:cNvSpPr>
            <p:nvPr/>
          </p:nvSpPr>
          <p:spPr>
            <a:xfrm>
              <a:off x="4467225" y="6400800"/>
              <a:ext cx="1733550" cy="2095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1155" b="0">
                  <a:solidFill>
                    <a:srgbClr val="2C4370"/>
                  </a:solidFill>
                  <a:latin typeface="Arial Narrow"/>
                  <a:ea typeface="Arial Narrow"/>
                  <a:cs typeface="Arial Narrow"/>
                </a:defRPr>
              </a:pPr>
              <a:r>
                <a:rPr sz="1155" b="0" dirty="0">
                  <a:solidFill>
                    <a:srgbClr val="2C4370"/>
                  </a:solidFill>
                  <a:latin typeface="Times New Roman" panose="02020603050405020304" pitchFamily="18" charset="0"/>
                  <a:ea typeface="Arial Narrow"/>
                  <a:cs typeface="Times New Roman" panose="02020603050405020304" pitchFamily="18" charset="0"/>
                </a:rPr>
                <a:t>Cross-framework translation</a:t>
              </a:r>
            </a:p>
          </p:txBody>
        </p:sp>
        <p:sp>
          <p:nvSpPr>
            <p:cNvPr id="113" name="Translation footer 2">
              <a:extLst>
                <a:ext uri="{FF2B5EF4-FFF2-40B4-BE49-F238E27FC236}">
                  <a16:creationId xmlns:a16="http://schemas.microsoft.com/office/drawing/2014/main" id="{6D3AE30E-108A-4401-9189-2F5F4524D440}"/>
                </a:ext>
              </a:extLst>
            </p:cNvPr>
            <p:cNvSpPr>
              <a:spLocks noGrp="1"/>
            </p:cNvSpPr>
            <p:nvPr/>
          </p:nvSpPr>
          <p:spPr>
            <a:xfrm>
              <a:off x="4467225" y="6581775"/>
              <a:ext cx="1733550" cy="2095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1155" b="0">
                  <a:solidFill>
                    <a:srgbClr val="2C4370"/>
                  </a:solidFill>
                  <a:latin typeface="Arial Narrow"/>
                  <a:ea typeface="Arial Narrow"/>
                  <a:cs typeface="Arial Narrow"/>
                </a:defRPr>
              </a:pPr>
              <a:r>
                <a:rPr sz="1155" b="0" dirty="0">
                  <a:solidFill>
                    <a:srgbClr val="2C4370"/>
                  </a:solidFill>
                  <a:latin typeface="Times New Roman" panose="02020603050405020304" pitchFamily="18" charset="0"/>
                  <a:ea typeface="Arial Narrow"/>
                  <a:cs typeface="Times New Roman" panose="02020603050405020304" pitchFamily="18" charset="0"/>
                </a:rPr>
                <a:t>with API and semantic mapping</a:t>
              </a:r>
            </a:p>
          </p:txBody>
        </p:sp>
      </p:grpSp>
      <p:grpSp>
        <p:nvGrpSpPr>
          <p:cNvPr id="365" name="Verifier"/>
          <p:cNvGrpSpPr/>
          <p:nvPr/>
        </p:nvGrpSpPr>
        <p:grpSpPr>
          <a:xfrm>
            <a:off x="6486525" y="2667000"/>
            <a:ext cx="2962275" cy="4324350"/>
            <a:chOff x="6486525" y="2667000"/>
            <a:chExt cx="2962275" cy="4324350"/>
          </a:xfrm>
        </p:grpSpPr>
        <p:sp>
          <p:nvSpPr>
            <p:cNvPr id="114" name="Verifier outer card">
              <a:extLst>
                <a:ext uri="{FF2B5EF4-FFF2-40B4-BE49-F238E27FC236}">
                  <a16:creationId xmlns:a16="http://schemas.microsoft.com/office/drawing/2014/main" id="{C4F9AD8C-A508-4EC6-A4F7-307B0F18EFCF}"/>
                </a:ext>
              </a:extLst>
            </p:cNvPr>
            <p:cNvSpPr>
              <a:spLocks noGrp="1"/>
            </p:cNvSpPr>
            <p:nvPr/>
          </p:nvSpPr>
          <p:spPr>
            <a:xfrm>
              <a:off x="6486525" y="2667000"/>
              <a:ext cx="2962275" cy="4324350"/>
            </a:xfrm>
            <a:prstGeom prst="roundRect">
              <a:avLst>
                <a:gd name="adj" fmla="val 7717"/>
              </a:avLst>
            </a:prstGeom>
            <a:gradFill>
              <a:gsLst>
                <a:gs pos="0">
                  <a:srgbClr val="FFF0E0"/>
                </a:gs>
                <a:gs pos="100000">
                  <a:srgbClr val="FFE5CC"/>
                </a:gs>
              </a:gsLst>
              <a:lin ang="5400000"/>
            </a:gradFill>
            <a:ln w="23813">
              <a:solidFill>
                <a:srgbClr val="E89B5C"/>
              </a:solidFill>
            </a:ln>
          </p:spPr>
        </p:sp>
        <p:sp>
          <p:nvSpPr>
            <p:cNvPr id="115" name="Verifier icon badge">
              <a:extLst>
                <a:ext uri="{FF2B5EF4-FFF2-40B4-BE49-F238E27FC236}">
                  <a16:creationId xmlns:a16="http://schemas.microsoft.com/office/drawing/2014/main" id="{0712F6F9-E248-4F64-A142-9E9E1E6B6A68}"/>
                </a:ext>
              </a:extLst>
            </p:cNvPr>
            <p:cNvSpPr>
              <a:spLocks noGrp="1"/>
            </p:cNvSpPr>
            <p:nvPr/>
          </p:nvSpPr>
          <p:spPr>
            <a:xfrm>
              <a:off x="6696075" y="2762250"/>
              <a:ext cx="828675" cy="828675"/>
            </a:xfrm>
            <a:prstGeom prst="roundRect">
              <a:avLst>
                <a:gd name="adj" fmla="val 40230"/>
              </a:avLst>
            </a:prstGeom>
            <a:gradFill>
              <a:gsLst>
                <a:gs pos="0">
                  <a:srgbClr val="FFC16C"/>
                </a:gs>
                <a:gs pos="100000">
                  <a:srgbClr val="F9A745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16" name="Verifier magnifying glass 0">
              <a:extLst>
                <a:ext uri="{FF2B5EF4-FFF2-40B4-BE49-F238E27FC236}">
                  <a16:creationId xmlns:a16="http://schemas.microsoft.com/office/drawing/2014/main" id="{D1B718EF-F7C2-4593-A2EB-8258EDC30D32}"/>
                </a:ext>
              </a:extLst>
            </p:cNvPr>
            <p:cNvSpPr>
              <a:spLocks noGrp="1"/>
            </p:cNvSpPr>
            <p:nvPr/>
          </p:nvSpPr>
          <p:spPr>
            <a:xfrm>
              <a:off x="7235666" y="3282791"/>
              <a:ext cx="103346" cy="103346"/>
            </a:xfrm>
            <a:custGeom>
              <a:avLst/>
              <a:gdLst/>
              <a:ahLst/>
              <a:cxnLst/>
              <a:rect l="0" t="0" r="0" b="0"/>
              <a:pathLst>
                <a:path w="103346" h="103346">
                  <a:moveTo>
                    <a:pt x="103346" y="103346"/>
                  </a:moveTo>
                  <a:lnTo>
                    <a:pt x="95397" y="95397"/>
                  </a:lnTo>
                  <a:lnTo>
                    <a:pt x="87447" y="87447"/>
                  </a:lnTo>
                  <a:lnTo>
                    <a:pt x="79497" y="79497"/>
                  </a:lnTo>
                  <a:lnTo>
                    <a:pt x="71547" y="71547"/>
                  </a:lnTo>
                  <a:lnTo>
                    <a:pt x="63598" y="63598"/>
                  </a:lnTo>
                  <a:lnTo>
                    <a:pt x="55648" y="55648"/>
                  </a:lnTo>
                  <a:lnTo>
                    <a:pt x="47698" y="47698"/>
                  </a:lnTo>
                  <a:lnTo>
                    <a:pt x="39749" y="39749"/>
                  </a:lnTo>
                  <a:lnTo>
                    <a:pt x="31799" y="31799"/>
                  </a:lnTo>
                  <a:lnTo>
                    <a:pt x="23849" y="23849"/>
                  </a:lnTo>
                  <a:lnTo>
                    <a:pt x="15899" y="15899"/>
                  </a:lnTo>
                  <a:lnTo>
                    <a:pt x="7950" y="7950"/>
                  </a:ln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381705"/>
              </a:solidFill>
            </a:ln>
          </p:spPr>
        </p:sp>
        <p:sp>
          <p:nvSpPr>
            <p:cNvPr id="117" name="Verifier magnifying glass 1">
              <a:extLst>
                <a:ext uri="{FF2B5EF4-FFF2-40B4-BE49-F238E27FC236}">
                  <a16:creationId xmlns:a16="http://schemas.microsoft.com/office/drawing/2014/main" id="{3043A9A5-2746-488E-88ED-0656D5EA393D}"/>
                </a:ext>
              </a:extLst>
            </p:cNvPr>
            <p:cNvSpPr>
              <a:spLocks noGrp="1"/>
            </p:cNvSpPr>
            <p:nvPr/>
          </p:nvSpPr>
          <p:spPr>
            <a:xfrm>
              <a:off x="6910388" y="2957513"/>
              <a:ext cx="381000" cy="381000"/>
            </a:xfrm>
            <a:custGeom>
              <a:avLst/>
              <a:gdLst/>
              <a:ahLst/>
              <a:cxnLst/>
              <a:rect l="0" t="0" r="0" b="0"/>
              <a:pathLst>
                <a:path w="381000" h="381000">
                  <a:moveTo>
                    <a:pt x="381000" y="190500"/>
                  </a:moveTo>
                  <a:lnTo>
                    <a:pt x="380662" y="201849"/>
                  </a:lnTo>
                  <a:lnTo>
                    <a:pt x="379616" y="213418"/>
                  </a:lnTo>
                  <a:lnTo>
                    <a:pt x="377823" y="225148"/>
                  </a:lnTo>
                  <a:lnTo>
                    <a:pt x="375245" y="236971"/>
                  </a:lnTo>
                  <a:lnTo>
                    <a:pt x="371856" y="248811"/>
                  </a:lnTo>
                  <a:lnTo>
                    <a:pt x="367637" y="260590"/>
                  </a:lnTo>
                  <a:lnTo>
                    <a:pt x="362994" y="271347"/>
                  </a:lnTo>
                  <a:lnTo>
                    <a:pt x="357638" y="281907"/>
                  </a:lnTo>
                  <a:lnTo>
                    <a:pt x="351579" y="292205"/>
                  </a:lnTo>
                  <a:lnTo>
                    <a:pt x="344837" y="302170"/>
                  </a:lnTo>
                  <a:lnTo>
                    <a:pt x="337441" y="311737"/>
                  </a:lnTo>
                  <a:lnTo>
                    <a:pt x="329428" y="320843"/>
                  </a:lnTo>
                  <a:lnTo>
                    <a:pt x="320843" y="329428"/>
                  </a:lnTo>
                  <a:lnTo>
                    <a:pt x="311737" y="337441"/>
                  </a:lnTo>
                  <a:lnTo>
                    <a:pt x="302170" y="344837"/>
                  </a:lnTo>
                  <a:lnTo>
                    <a:pt x="292205" y="351579"/>
                  </a:lnTo>
                  <a:lnTo>
                    <a:pt x="281907" y="357638"/>
                  </a:lnTo>
                  <a:lnTo>
                    <a:pt x="271347" y="362994"/>
                  </a:lnTo>
                  <a:lnTo>
                    <a:pt x="260590" y="367637"/>
                  </a:lnTo>
                  <a:lnTo>
                    <a:pt x="248811" y="371856"/>
                  </a:lnTo>
                  <a:lnTo>
                    <a:pt x="236971" y="375245"/>
                  </a:lnTo>
                  <a:lnTo>
                    <a:pt x="225148" y="377823"/>
                  </a:lnTo>
                  <a:lnTo>
                    <a:pt x="213418" y="379616"/>
                  </a:lnTo>
                  <a:lnTo>
                    <a:pt x="201849" y="380662"/>
                  </a:lnTo>
                  <a:lnTo>
                    <a:pt x="190500" y="381000"/>
                  </a:lnTo>
                  <a:lnTo>
                    <a:pt x="179151" y="380662"/>
                  </a:lnTo>
                  <a:lnTo>
                    <a:pt x="167582" y="379616"/>
                  </a:lnTo>
                  <a:lnTo>
                    <a:pt x="155852" y="377823"/>
                  </a:lnTo>
                  <a:lnTo>
                    <a:pt x="144029" y="375245"/>
                  </a:lnTo>
                  <a:lnTo>
                    <a:pt x="132189" y="371856"/>
                  </a:lnTo>
                  <a:lnTo>
                    <a:pt x="120410" y="367637"/>
                  </a:lnTo>
                  <a:lnTo>
                    <a:pt x="109653" y="362994"/>
                  </a:lnTo>
                  <a:lnTo>
                    <a:pt x="99093" y="357638"/>
                  </a:lnTo>
                  <a:lnTo>
                    <a:pt x="88795" y="351579"/>
                  </a:lnTo>
                  <a:lnTo>
                    <a:pt x="78830" y="344837"/>
                  </a:lnTo>
                  <a:lnTo>
                    <a:pt x="69263" y="337441"/>
                  </a:lnTo>
                  <a:lnTo>
                    <a:pt x="60157" y="329428"/>
                  </a:lnTo>
                  <a:lnTo>
                    <a:pt x="51572" y="320843"/>
                  </a:lnTo>
                  <a:lnTo>
                    <a:pt x="43559" y="311737"/>
                  </a:lnTo>
                  <a:lnTo>
                    <a:pt x="36163" y="302170"/>
                  </a:lnTo>
                  <a:lnTo>
                    <a:pt x="29421" y="292205"/>
                  </a:lnTo>
                  <a:lnTo>
                    <a:pt x="23362" y="281907"/>
                  </a:lnTo>
                  <a:lnTo>
                    <a:pt x="18006" y="271347"/>
                  </a:lnTo>
                  <a:lnTo>
                    <a:pt x="13363" y="260590"/>
                  </a:lnTo>
                  <a:lnTo>
                    <a:pt x="9144" y="248811"/>
                  </a:lnTo>
                  <a:lnTo>
                    <a:pt x="5755" y="236971"/>
                  </a:lnTo>
                  <a:lnTo>
                    <a:pt x="3177" y="225148"/>
                  </a:lnTo>
                  <a:lnTo>
                    <a:pt x="1384" y="213418"/>
                  </a:lnTo>
                  <a:lnTo>
                    <a:pt x="338" y="201849"/>
                  </a:lnTo>
                  <a:lnTo>
                    <a:pt x="0" y="190500"/>
                  </a:lnTo>
                  <a:lnTo>
                    <a:pt x="338" y="179151"/>
                  </a:lnTo>
                  <a:lnTo>
                    <a:pt x="1384" y="167582"/>
                  </a:lnTo>
                  <a:lnTo>
                    <a:pt x="3177" y="155852"/>
                  </a:lnTo>
                  <a:lnTo>
                    <a:pt x="5755" y="144029"/>
                  </a:lnTo>
                  <a:lnTo>
                    <a:pt x="9144" y="132189"/>
                  </a:lnTo>
                  <a:lnTo>
                    <a:pt x="13363" y="120410"/>
                  </a:lnTo>
                  <a:lnTo>
                    <a:pt x="18006" y="109653"/>
                  </a:lnTo>
                  <a:lnTo>
                    <a:pt x="23362" y="99093"/>
                  </a:lnTo>
                  <a:lnTo>
                    <a:pt x="29421" y="88795"/>
                  </a:lnTo>
                  <a:lnTo>
                    <a:pt x="36163" y="78830"/>
                  </a:lnTo>
                  <a:lnTo>
                    <a:pt x="43559" y="69263"/>
                  </a:lnTo>
                  <a:lnTo>
                    <a:pt x="51572" y="60157"/>
                  </a:lnTo>
                  <a:lnTo>
                    <a:pt x="60157" y="51572"/>
                  </a:lnTo>
                  <a:lnTo>
                    <a:pt x="69263" y="43559"/>
                  </a:lnTo>
                  <a:lnTo>
                    <a:pt x="78830" y="36163"/>
                  </a:lnTo>
                  <a:lnTo>
                    <a:pt x="88795" y="29421"/>
                  </a:lnTo>
                  <a:lnTo>
                    <a:pt x="99093" y="23362"/>
                  </a:lnTo>
                  <a:lnTo>
                    <a:pt x="109653" y="18006"/>
                  </a:lnTo>
                  <a:lnTo>
                    <a:pt x="120410" y="13363"/>
                  </a:lnTo>
                  <a:lnTo>
                    <a:pt x="132189" y="9144"/>
                  </a:lnTo>
                  <a:lnTo>
                    <a:pt x="144029" y="5755"/>
                  </a:lnTo>
                  <a:lnTo>
                    <a:pt x="155852" y="3177"/>
                  </a:lnTo>
                  <a:lnTo>
                    <a:pt x="167582" y="1384"/>
                  </a:lnTo>
                  <a:lnTo>
                    <a:pt x="179151" y="338"/>
                  </a:lnTo>
                  <a:lnTo>
                    <a:pt x="190500" y="0"/>
                  </a:lnTo>
                  <a:lnTo>
                    <a:pt x="201849" y="338"/>
                  </a:lnTo>
                  <a:lnTo>
                    <a:pt x="213418" y="1384"/>
                  </a:lnTo>
                  <a:lnTo>
                    <a:pt x="225148" y="3177"/>
                  </a:lnTo>
                  <a:lnTo>
                    <a:pt x="236970" y="5755"/>
                  </a:lnTo>
                  <a:lnTo>
                    <a:pt x="248811" y="9144"/>
                  </a:lnTo>
                  <a:lnTo>
                    <a:pt x="260590" y="13363"/>
                  </a:lnTo>
                  <a:lnTo>
                    <a:pt x="271347" y="18006"/>
                  </a:lnTo>
                  <a:lnTo>
                    <a:pt x="281907" y="23362"/>
                  </a:lnTo>
                  <a:lnTo>
                    <a:pt x="292205" y="29421"/>
                  </a:lnTo>
                  <a:lnTo>
                    <a:pt x="302170" y="36163"/>
                  </a:lnTo>
                  <a:lnTo>
                    <a:pt x="311737" y="43559"/>
                  </a:lnTo>
                  <a:lnTo>
                    <a:pt x="320843" y="51572"/>
                  </a:lnTo>
                  <a:lnTo>
                    <a:pt x="329428" y="60157"/>
                  </a:lnTo>
                  <a:lnTo>
                    <a:pt x="337441" y="69263"/>
                  </a:lnTo>
                  <a:lnTo>
                    <a:pt x="344837" y="78830"/>
                  </a:lnTo>
                  <a:lnTo>
                    <a:pt x="351579" y="88795"/>
                  </a:lnTo>
                  <a:lnTo>
                    <a:pt x="357638" y="99093"/>
                  </a:lnTo>
                  <a:lnTo>
                    <a:pt x="362994" y="109653"/>
                  </a:lnTo>
                  <a:lnTo>
                    <a:pt x="367637" y="120410"/>
                  </a:lnTo>
                  <a:lnTo>
                    <a:pt x="371856" y="132189"/>
                  </a:lnTo>
                  <a:lnTo>
                    <a:pt x="375245" y="144029"/>
                  </a:lnTo>
                  <a:lnTo>
                    <a:pt x="377823" y="155852"/>
                  </a:lnTo>
                  <a:lnTo>
                    <a:pt x="379616" y="167582"/>
                  </a:lnTo>
                  <a:lnTo>
                    <a:pt x="380662" y="179151"/>
                  </a:lnTo>
                  <a:lnTo>
                    <a:pt x="381000" y="190500"/>
                  </a:lnTo>
                  <a:close/>
                </a:path>
              </a:pathLst>
            </a:custGeom>
            <a:noFill/>
            <a:ln w="47625">
              <a:solidFill>
                <a:srgbClr val="381705"/>
              </a:solidFill>
            </a:ln>
          </p:spPr>
        </p:sp>
        <p:sp>
          <p:nvSpPr>
            <p:cNvPr id="118" name="Verifier heading">
              <a:extLst>
                <a:ext uri="{FF2B5EF4-FFF2-40B4-BE49-F238E27FC236}">
                  <a16:creationId xmlns:a16="http://schemas.microsoft.com/office/drawing/2014/main" id="{AADB5499-B4A4-4A4F-B614-51317FBA6B95}"/>
                </a:ext>
              </a:extLst>
            </p:cNvPr>
            <p:cNvSpPr>
              <a:spLocks noGrp="1"/>
            </p:cNvSpPr>
            <p:nvPr/>
          </p:nvSpPr>
          <p:spPr>
            <a:xfrm>
              <a:off x="7664904" y="3019425"/>
              <a:ext cx="1666875" cy="3429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2100" b="1">
                  <a:solidFill>
                    <a:srgbClr val="2A160C"/>
                  </a:solidFill>
                  <a:latin typeface="Arial Narrow"/>
                  <a:ea typeface="Arial Narrow"/>
                  <a:cs typeface="Arial Narrow"/>
                </a:defRPr>
              </a:pPr>
              <a:r>
                <a:rPr sz="2100" b="1" dirty="0">
                  <a:solidFill>
                    <a:srgbClr val="2A160C"/>
                  </a:solidFill>
                  <a:latin typeface="Times New Roman" panose="02020603050405020304" pitchFamily="18" charset="0"/>
                  <a:ea typeface="Arial Narrow"/>
                  <a:cs typeface="Times New Roman" panose="02020603050405020304" pitchFamily="18" charset="0"/>
                </a:rPr>
                <a:t>Verifier</a:t>
              </a:r>
            </a:p>
          </p:txBody>
        </p:sp>
        <p:sp>
          <p:nvSpPr>
            <p:cNvPr id="121" name="Layered diagnosis card">
              <a:extLst>
                <a:ext uri="{FF2B5EF4-FFF2-40B4-BE49-F238E27FC236}">
                  <a16:creationId xmlns:a16="http://schemas.microsoft.com/office/drawing/2014/main" id="{5800421B-E5AA-4420-8D6D-E12CA864E743}"/>
                </a:ext>
              </a:extLst>
            </p:cNvPr>
            <p:cNvSpPr>
              <a:spLocks noGrp="1"/>
            </p:cNvSpPr>
            <p:nvPr/>
          </p:nvSpPr>
          <p:spPr>
            <a:xfrm>
              <a:off x="6600825" y="3705225"/>
              <a:ext cx="2714625" cy="3190875"/>
            </a:xfrm>
            <a:prstGeom prst="roundRect">
              <a:avLst>
                <a:gd name="adj" fmla="val 4912"/>
              </a:avLst>
            </a:prstGeom>
            <a:gradFill>
              <a:gsLst>
                <a:gs pos="0">
                  <a:srgbClr val="FFFDF9"/>
                </a:gs>
                <a:gs pos="100000">
                  <a:srgbClr val="FFF5EB"/>
                </a:gs>
              </a:gsLst>
              <a:lin ang="5400000"/>
            </a:gradFill>
            <a:ln w="11430">
              <a:solidFill>
                <a:srgbClr val="EDB27D"/>
              </a:solidFill>
            </a:ln>
          </p:spPr>
        </p:sp>
        <p:sp>
          <p:nvSpPr>
            <p:cNvPr id="122" name="Layered diagnosis heading">
              <a:extLst>
                <a:ext uri="{FF2B5EF4-FFF2-40B4-BE49-F238E27FC236}">
                  <a16:creationId xmlns:a16="http://schemas.microsoft.com/office/drawing/2014/main" id="{9202D5FB-E588-4F39-8222-04EB4FA7686B}"/>
                </a:ext>
              </a:extLst>
            </p:cNvPr>
            <p:cNvSpPr>
              <a:spLocks noGrp="1"/>
            </p:cNvSpPr>
            <p:nvPr/>
          </p:nvSpPr>
          <p:spPr>
            <a:xfrm>
              <a:off x="6791325" y="3781425"/>
              <a:ext cx="1352550" cy="2571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1500" b="1">
                  <a:solidFill>
                    <a:srgbClr val="251816"/>
                  </a:solidFill>
                  <a:latin typeface="Arial Narrow"/>
                  <a:ea typeface="Arial Narrow"/>
                  <a:cs typeface="Arial Narrow"/>
                </a:defRPr>
              </a:pPr>
              <a:r>
                <a:rPr sz="1500" b="1">
                  <a:solidFill>
                    <a:srgbClr val="251816"/>
                  </a:solidFill>
                  <a:latin typeface="Times New Roman" panose="02020603050405020304" pitchFamily="18" charset="0"/>
                  <a:ea typeface="Arial Narrow"/>
                  <a:cs typeface="Times New Roman" panose="02020603050405020304" pitchFamily="18" charset="0"/>
                </a:rPr>
                <a:t>Layered Diagnosis</a:t>
              </a:r>
            </a:p>
          </p:txBody>
        </p:sp>
        <p:sp>
          <p:nvSpPr>
            <p:cNvPr id="123" name="Layered diagnosis example">
              <a:extLst>
                <a:ext uri="{FF2B5EF4-FFF2-40B4-BE49-F238E27FC236}">
                  <a16:creationId xmlns:a16="http://schemas.microsoft.com/office/drawing/2014/main" id="{B2ABBF84-211A-4005-B75A-9852F9639F70}"/>
                </a:ext>
              </a:extLst>
            </p:cNvPr>
            <p:cNvSpPr>
              <a:spLocks noGrp="1"/>
            </p:cNvSpPr>
            <p:nvPr/>
          </p:nvSpPr>
          <p:spPr>
            <a:xfrm>
              <a:off x="8305800" y="3800475"/>
              <a:ext cx="885825" cy="238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1350" b="0">
                  <a:solidFill>
                    <a:srgbClr val="251816"/>
                  </a:solidFill>
                  <a:latin typeface="Arial Narrow"/>
                  <a:ea typeface="Arial Narrow"/>
                  <a:cs typeface="Arial Narrow"/>
                </a:defRPr>
              </a:pPr>
              <a:r>
                <a:rPr sz="1350" b="0">
                  <a:solidFill>
                    <a:srgbClr val="251816"/>
                  </a:solidFill>
                  <a:latin typeface="Times New Roman" panose="02020603050405020304" pitchFamily="18" charset="0"/>
                  <a:ea typeface="Arial Narrow"/>
                  <a:cs typeface="Times New Roman" panose="02020603050405020304" pitchFamily="18" charset="0"/>
                </a:rPr>
                <a:t>(example)</a:t>
              </a:r>
            </a:p>
          </p:txBody>
        </p:sp>
        <p:sp>
          <p:nvSpPr>
            <p:cNvPr id="124" name="Diagnosis stages white well">
              <a:extLst>
                <a:ext uri="{FF2B5EF4-FFF2-40B4-BE49-F238E27FC236}">
                  <a16:creationId xmlns:a16="http://schemas.microsoft.com/office/drawing/2014/main" id="{49D083A6-9B2B-4EA0-BCD3-651EAC2CCA84}"/>
                </a:ext>
              </a:extLst>
            </p:cNvPr>
            <p:cNvSpPr>
              <a:spLocks noGrp="1"/>
            </p:cNvSpPr>
            <p:nvPr/>
          </p:nvSpPr>
          <p:spPr>
            <a:xfrm>
              <a:off x="6686550" y="4038600"/>
              <a:ext cx="2562225" cy="2762250"/>
            </a:xfrm>
            <a:prstGeom prst="roundRect">
              <a:avLst>
                <a:gd name="adj" fmla="val 3717"/>
              </a:avLst>
            </a:prstGeom>
            <a:solidFill>
              <a:srgbClr val="FFFFFF"/>
            </a:solidFill>
            <a:ln w="7620">
              <a:solidFill>
                <a:srgbClr val="EFE4D8"/>
              </a:solidFill>
            </a:ln>
          </p:spPr>
        </p:sp>
        <p:sp>
          <p:nvSpPr>
            <p:cNvPr id="125" name="Diagnosis execution to forward">
              <a:extLst>
                <a:ext uri="{FF2B5EF4-FFF2-40B4-BE49-F238E27FC236}">
                  <a16:creationId xmlns:a16="http://schemas.microsoft.com/office/drawing/2014/main" id="{B6A7AB81-0FCE-4387-876F-AC80482D618E}"/>
                </a:ext>
              </a:extLst>
            </p:cNvPr>
            <p:cNvSpPr>
              <a:spLocks noGrp="1"/>
            </p:cNvSpPr>
            <p:nvPr/>
          </p:nvSpPr>
          <p:spPr>
            <a:xfrm>
              <a:off x="7010400" y="4467225"/>
              <a:ext cx="953" cy="133350"/>
            </a:xfrm>
            <a:custGeom>
              <a:avLst/>
              <a:gdLst/>
              <a:ahLst/>
              <a:cxnLst/>
              <a:rect l="0" t="0" r="0" b="0"/>
              <a:pathLst>
                <a:path w="953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14288">
              <a:solidFill>
                <a:srgbClr val="91A797"/>
              </a:solidFill>
            </a:ln>
          </p:spPr>
        </p:sp>
        <p:sp>
          <p:nvSpPr>
            <p:cNvPr id="126" name="Diagnosis stage small arrow">
              <a:extLst>
                <a:ext uri="{FF2B5EF4-FFF2-40B4-BE49-F238E27FC236}">
                  <a16:creationId xmlns:a16="http://schemas.microsoft.com/office/drawing/2014/main" id="{F9AA8634-3129-4809-997E-1CAAED55523F}"/>
                </a:ext>
              </a:extLst>
            </p:cNvPr>
            <p:cNvSpPr>
              <a:spLocks noGrp="1"/>
            </p:cNvSpPr>
            <p:nvPr/>
          </p:nvSpPr>
          <p:spPr>
            <a:xfrm>
              <a:off x="6972300" y="4552950"/>
              <a:ext cx="76200" cy="57150"/>
            </a:xfrm>
            <a:custGeom>
              <a:avLst/>
              <a:gdLst/>
              <a:ahLst/>
              <a:cxnLst/>
              <a:rect l="0" t="0" r="0" b="0"/>
              <a:pathLst>
                <a:path w="76200" h="57150">
                  <a:moveTo>
                    <a:pt x="0" y="0"/>
                  </a:moveTo>
                  <a:lnTo>
                    <a:pt x="38100" y="571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91A797"/>
            </a:solidFill>
            <a:ln w="0">
              <a:noFill/>
            </a:ln>
          </p:spPr>
        </p:sp>
        <p:sp>
          <p:nvSpPr>
            <p:cNvPr id="127" name="Execution passed circle">
              <a:extLst>
                <a:ext uri="{FF2B5EF4-FFF2-40B4-BE49-F238E27FC236}">
                  <a16:creationId xmlns:a16="http://schemas.microsoft.com/office/drawing/2014/main" id="{CC160728-B256-4F40-8AFF-C98AB0AD97C5}"/>
                </a:ext>
              </a:extLst>
            </p:cNvPr>
            <p:cNvSpPr>
              <a:spLocks noGrp="1"/>
            </p:cNvSpPr>
            <p:nvPr/>
          </p:nvSpPr>
          <p:spPr>
            <a:xfrm>
              <a:off x="6848475" y="4133850"/>
              <a:ext cx="333375" cy="333375"/>
            </a:xfrm>
            <a:prstGeom prst="ellipse">
              <a:avLst/>
            </a:prstGeom>
            <a:gradFill>
              <a:gsLst>
                <a:gs pos="0">
                  <a:srgbClr val="65BC6A"/>
                </a:gs>
                <a:gs pos="100000">
                  <a:srgbClr val="43AE59"/>
                </a:gs>
              </a:gsLst>
              <a:lin ang="5400000"/>
            </a:gradFill>
            <a:ln w="10478">
              <a:solidFill>
                <a:srgbClr val="FFFFFF"/>
              </a:solidFill>
              <a:prstDash val="solid"/>
            </a:ln>
          </p:spPr>
        </p:sp>
        <p:sp>
          <p:nvSpPr>
            <p:cNvPr id="128" name="Execution passed tick">
              <a:extLst>
                <a:ext uri="{FF2B5EF4-FFF2-40B4-BE49-F238E27FC236}">
                  <a16:creationId xmlns:a16="http://schemas.microsoft.com/office/drawing/2014/main" id="{B458C121-E13A-48F1-8430-34B0C0526E12}"/>
                </a:ext>
              </a:extLst>
            </p:cNvPr>
            <p:cNvSpPr>
              <a:spLocks noGrp="1"/>
            </p:cNvSpPr>
            <p:nvPr/>
          </p:nvSpPr>
          <p:spPr>
            <a:xfrm>
              <a:off x="6941820" y="4250531"/>
              <a:ext cx="153353" cy="106680"/>
            </a:xfrm>
            <a:custGeom>
              <a:avLst/>
              <a:gdLst/>
              <a:ahLst/>
              <a:cxnLst/>
              <a:rect l="0" t="0" r="0" b="0"/>
              <a:pathLst>
                <a:path w="153353" h="106680">
                  <a:moveTo>
                    <a:pt x="0" y="56674"/>
                  </a:moveTo>
                  <a:lnTo>
                    <a:pt x="53340" y="106680"/>
                  </a:lnTo>
                  <a:lnTo>
                    <a:pt x="153353" y="0"/>
                  </a:lnTo>
                </a:path>
              </a:pathLst>
            </a:custGeom>
            <a:noFill/>
            <a:ln w="36671">
              <a:solidFill>
                <a:srgbClr val="FFFFFF"/>
              </a:solidFill>
            </a:ln>
          </p:spPr>
        </p:sp>
        <p:sp>
          <p:nvSpPr>
            <p:cNvPr id="129" name="Execution label">
              <a:extLst>
                <a:ext uri="{FF2B5EF4-FFF2-40B4-BE49-F238E27FC236}">
                  <a16:creationId xmlns:a16="http://schemas.microsoft.com/office/drawing/2014/main" id="{11482B36-A7DE-43BE-8B5D-4472519D0956}"/>
                </a:ext>
              </a:extLst>
            </p:cNvPr>
            <p:cNvSpPr>
              <a:spLocks noGrp="1"/>
            </p:cNvSpPr>
            <p:nvPr/>
          </p:nvSpPr>
          <p:spPr>
            <a:xfrm>
              <a:off x="7362825" y="4191000"/>
              <a:ext cx="1752600" cy="238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1500" b="1">
                  <a:solidFill>
                    <a:srgbClr val="102F45"/>
                  </a:solidFill>
                  <a:latin typeface="Arial Narrow"/>
                  <a:ea typeface="Arial Narrow"/>
                  <a:cs typeface="Arial Narrow"/>
                </a:defRPr>
              </a:pPr>
              <a:r>
                <a:rPr sz="1500" b="1">
                  <a:solidFill>
                    <a:srgbClr val="102F45"/>
                  </a:solidFill>
                  <a:latin typeface="Times New Roman" panose="02020603050405020304" pitchFamily="18" charset="0"/>
                  <a:ea typeface="Arial Narrow"/>
                  <a:cs typeface="Times New Roman" panose="02020603050405020304" pitchFamily="18" charset="0"/>
                </a:rPr>
                <a:t>Execution</a:t>
              </a:r>
            </a:p>
          </p:txBody>
        </p:sp>
        <p:sp>
          <p:nvSpPr>
            <p:cNvPr id="131" name="Diagnosis forward to gradients">
              <a:extLst>
                <a:ext uri="{FF2B5EF4-FFF2-40B4-BE49-F238E27FC236}">
                  <a16:creationId xmlns:a16="http://schemas.microsoft.com/office/drawing/2014/main" id="{AA666038-AF42-477D-B1D4-EE881098EFE2}"/>
                </a:ext>
              </a:extLst>
            </p:cNvPr>
            <p:cNvSpPr>
              <a:spLocks noGrp="1"/>
            </p:cNvSpPr>
            <p:nvPr/>
          </p:nvSpPr>
          <p:spPr>
            <a:xfrm>
              <a:off x="7010400" y="4905375"/>
              <a:ext cx="953" cy="152400"/>
            </a:xfrm>
            <a:custGeom>
              <a:avLst/>
              <a:gdLst/>
              <a:ahLst/>
              <a:cxnLst/>
              <a:rect l="0" t="0" r="0" b="0"/>
              <a:pathLst>
                <a:path w="953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14288">
              <a:solidFill>
                <a:srgbClr val="91A797"/>
              </a:solidFill>
            </a:ln>
          </p:spPr>
        </p:sp>
        <p:sp>
          <p:nvSpPr>
            <p:cNvPr id="132" name="Diagnosis next stage arrow">
              <a:extLst>
                <a:ext uri="{FF2B5EF4-FFF2-40B4-BE49-F238E27FC236}">
                  <a16:creationId xmlns:a16="http://schemas.microsoft.com/office/drawing/2014/main" id="{722EF062-410F-4733-B717-A7327CC63FA9}"/>
                </a:ext>
              </a:extLst>
            </p:cNvPr>
            <p:cNvSpPr>
              <a:spLocks noGrp="1"/>
            </p:cNvSpPr>
            <p:nvPr/>
          </p:nvSpPr>
          <p:spPr>
            <a:xfrm>
              <a:off x="6972300" y="4991100"/>
              <a:ext cx="76200" cy="57150"/>
            </a:xfrm>
            <a:custGeom>
              <a:avLst/>
              <a:gdLst/>
              <a:ahLst/>
              <a:cxnLst/>
              <a:rect l="0" t="0" r="0" b="0"/>
              <a:pathLst>
                <a:path w="76200" h="57150">
                  <a:moveTo>
                    <a:pt x="0" y="0"/>
                  </a:moveTo>
                  <a:lnTo>
                    <a:pt x="38100" y="571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91A797"/>
            </a:solidFill>
            <a:ln w="0">
              <a:noFill/>
            </a:ln>
          </p:spPr>
        </p:sp>
        <p:sp>
          <p:nvSpPr>
            <p:cNvPr id="133" name="Forward passed circle">
              <a:extLst>
                <a:ext uri="{FF2B5EF4-FFF2-40B4-BE49-F238E27FC236}">
                  <a16:creationId xmlns:a16="http://schemas.microsoft.com/office/drawing/2014/main" id="{986D71ED-459B-440A-81EC-ED4E466DD232}"/>
                </a:ext>
              </a:extLst>
            </p:cNvPr>
            <p:cNvSpPr>
              <a:spLocks noGrp="1"/>
            </p:cNvSpPr>
            <p:nvPr/>
          </p:nvSpPr>
          <p:spPr>
            <a:xfrm>
              <a:off x="6848475" y="4581525"/>
              <a:ext cx="333375" cy="333375"/>
            </a:xfrm>
            <a:prstGeom prst="ellipse">
              <a:avLst/>
            </a:prstGeom>
            <a:gradFill>
              <a:gsLst>
                <a:gs pos="0">
                  <a:srgbClr val="65BC6A"/>
                </a:gs>
                <a:gs pos="100000">
                  <a:srgbClr val="43AE59"/>
                </a:gs>
              </a:gsLst>
              <a:lin ang="5400000"/>
            </a:gradFill>
            <a:ln w="10478">
              <a:solidFill>
                <a:srgbClr val="FFFFFF"/>
              </a:solidFill>
              <a:prstDash val="solid"/>
            </a:ln>
          </p:spPr>
        </p:sp>
        <p:sp>
          <p:nvSpPr>
            <p:cNvPr id="134" name="Forward passed tick">
              <a:extLst>
                <a:ext uri="{FF2B5EF4-FFF2-40B4-BE49-F238E27FC236}">
                  <a16:creationId xmlns:a16="http://schemas.microsoft.com/office/drawing/2014/main" id="{6EBD1BA3-FE8E-4511-B368-E67AE7906F75}"/>
                </a:ext>
              </a:extLst>
            </p:cNvPr>
            <p:cNvSpPr>
              <a:spLocks noGrp="1"/>
            </p:cNvSpPr>
            <p:nvPr/>
          </p:nvSpPr>
          <p:spPr>
            <a:xfrm>
              <a:off x="6941820" y="4698206"/>
              <a:ext cx="153353" cy="106680"/>
            </a:xfrm>
            <a:custGeom>
              <a:avLst/>
              <a:gdLst/>
              <a:ahLst/>
              <a:cxnLst/>
              <a:rect l="0" t="0" r="0" b="0"/>
              <a:pathLst>
                <a:path w="153353" h="106680">
                  <a:moveTo>
                    <a:pt x="0" y="56674"/>
                  </a:moveTo>
                  <a:lnTo>
                    <a:pt x="53340" y="106680"/>
                  </a:lnTo>
                  <a:lnTo>
                    <a:pt x="153353" y="0"/>
                  </a:lnTo>
                </a:path>
              </a:pathLst>
            </a:custGeom>
            <a:noFill/>
            <a:ln w="36671">
              <a:solidFill>
                <a:srgbClr val="FFFFFF"/>
              </a:solidFill>
            </a:ln>
          </p:spPr>
        </p:sp>
        <p:sp>
          <p:nvSpPr>
            <p:cNvPr id="135" name="Forward label">
              <a:extLst>
                <a:ext uri="{FF2B5EF4-FFF2-40B4-BE49-F238E27FC236}">
                  <a16:creationId xmlns:a16="http://schemas.microsoft.com/office/drawing/2014/main" id="{840E291A-1CF9-4D08-A311-887C867335F4}"/>
                </a:ext>
              </a:extLst>
            </p:cNvPr>
            <p:cNvSpPr>
              <a:spLocks noGrp="1"/>
            </p:cNvSpPr>
            <p:nvPr/>
          </p:nvSpPr>
          <p:spPr>
            <a:xfrm>
              <a:off x="7362825" y="4638675"/>
              <a:ext cx="1752600" cy="238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1500" b="1">
                  <a:solidFill>
                    <a:srgbClr val="075197"/>
                  </a:solidFill>
                  <a:latin typeface="Arial Narrow"/>
                  <a:ea typeface="Arial Narrow"/>
                  <a:cs typeface="Arial Narrow"/>
                </a:defRPr>
              </a:pPr>
              <a:r>
                <a:rPr sz="1500" b="1">
                  <a:solidFill>
                    <a:srgbClr val="075197"/>
                  </a:solidFill>
                  <a:latin typeface="Times New Roman" panose="02020603050405020304" pitchFamily="18" charset="0"/>
                  <a:ea typeface="Arial Narrow"/>
                  <a:cs typeface="Times New Roman" panose="02020603050405020304" pitchFamily="18" charset="0"/>
                </a:rPr>
                <a:t>Forward</a:t>
              </a:r>
            </a:p>
          </p:txBody>
        </p:sp>
        <p:sp>
          <p:nvSpPr>
            <p:cNvPr id="137" name="Gradient failure stage">
              <a:extLst>
                <a:ext uri="{FF2B5EF4-FFF2-40B4-BE49-F238E27FC236}">
                  <a16:creationId xmlns:a16="http://schemas.microsoft.com/office/drawing/2014/main" id="{AFB28F79-89A3-4656-88A0-35347D87AE84}"/>
                </a:ext>
              </a:extLst>
            </p:cNvPr>
            <p:cNvSpPr>
              <a:spLocks noGrp="1"/>
            </p:cNvSpPr>
            <p:nvPr/>
          </p:nvSpPr>
          <p:spPr>
            <a:xfrm>
              <a:off x="6734175" y="5019675"/>
              <a:ext cx="2438400" cy="1171575"/>
            </a:xfrm>
            <a:prstGeom prst="roundRect">
              <a:avLst>
                <a:gd name="adj" fmla="val 8943"/>
              </a:avLst>
            </a:prstGeom>
            <a:gradFill>
              <a:gsLst>
                <a:gs pos="0">
                  <a:srgbClr val="FFE8DF"/>
                </a:gs>
                <a:gs pos="100000">
                  <a:srgbClr val="FFD3C9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38" name="Failure red circle">
              <a:extLst>
                <a:ext uri="{FF2B5EF4-FFF2-40B4-BE49-F238E27FC236}">
                  <a16:creationId xmlns:a16="http://schemas.microsoft.com/office/drawing/2014/main" id="{5CCE87E2-5513-40D5-B312-A6BB683F34D0}"/>
                </a:ext>
              </a:extLst>
            </p:cNvPr>
            <p:cNvSpPr>
              <a:spLocks noGrp="1"/>
            </p:cNvSpPr>
            <p:nvPr/>
          </p:nvSpPr>
          <p:spPr>
            <a:xfrm>
              <a:off x="6829425" y="5105400"/>
              <a:ext cx="352425" cy="352425"/>
            </a:xfrm>
            <a:prstGeom prst="ellipse">
              <a:avLst/>
            </a:prstGeom>
            <a:gradFill>
              <a:gsLst>
                <a:gs pos="0">
                  <a:srgbClr val="FF8361"/>
                </a:gs>
                <a:gs pos="100000">
                  <a:srgbClr val="DB3E2D"/>
                </a:gs>
              </a:gsLst>
              <a:lin ang="5400000"/>
            </a:gra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139" name="Failure exclamation">
              <a:extLst>
                <a:ext uri="{FF2B5EF4-FFF2-40B4-BE49-F238E27FC236}">
                  <a16:creationId xmlns:a16="http://schemas.microsoft.com/office/drawing/2014/main" id="{5195828C-DB1A-4F49-85DD-4FC0180E338B}"/>
                </a:ext>
              </a:extLst>
            </p:cNvPr>
            <p:cNvSpPr>
              <a:spLocks noGrp="1"/>
            </p:cNvSpPr>
            <p:nvPr/>
          </p:nvSpPr>
          <p:spPr>
            <a:xfrm>
              <a:off x="6896100" y="5095875"/>
              <a:ext cx="228600" cy="3524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>
                <a:defRPr sz="2175" b="1">
                  <a:solidFill>
                    <a:srgbClr val="FFFFFF"/>
                  </a:solidFill>
                  <a:latin typeface="Arial Narrow"/>
                  <a:ea typeface="Arial Narrow"/>
                  <a:cs typeface="Arial Narrow"/>
                </a:defRPr>
              </a:pPr>
              <a:r>
                <a:rPr sz="2175" b="1">
                  <a:solidFill>
                    <a:srgbClr val="FFFFFF"/>
                  </a:solidFill>
                  <a:latin typeface="Times New Roman" panose="02020603050405020304" pitchFamily="18" charset="0"/>
                  <a:ea typeface="Arial Narrow"/>
                  <a:cs typeface="Times New Roman" panose="02020603050405020304" pitchFamily="18" charset="0"/>
                </a:rPr>
                <a:t>!</a:t>
              </a:r>
            </a:p>
          </p:txBody>
        </p:sp>
        <p:sp>
          <p:nvSpPr>
            <p:cNvPr id="140" name="Gradient stage label">
              <a:extLst>
                <a:ext uri="{FF2B5EF4-FFF2-40B4-BE49-F238E27FC236}">
                  <a16:creationId xmlns:a16="http://schemas.microsoft.com/office/drawing/2014/main" id="{33613361-BC3D-4FAF-9CEF-6EC55766D4B2}"/>
                </a:ext>
              </a:extLst>
            </p:cNvPr>
            <p:cNvSpPr>
              <a:spLocks noGrp="1"/>
            </p:cNvSpPr>
            <p:nvPr/>
          </p:nvSpPr>
          <p:spPr>
            <a:xfrm>
              <a:off x="7362825" y="5114925"/>
              <a:ext cx="175260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1425" b="1">
                  <a:solidFill>
                    <a:srgbClr val="351B19"/>
                  </a:solidFill>
                  <a:latin typeface="Arial Narrow"/>
                  <a:ea typeface="Arial Narrow"/>
                  <a:cs typeface="Arial Narrow"/>
                </a:defRPr>
              </a:pPr>
              <a:r>
                <a:rPr sz="1425" b="1">
                  <a:solidFill>
                    <a:srgbClr val="351B19"/>
                  </a:solidFill>
                  <a:latin typeface="Times New Roman" panose="02020603050405020304" pitchFamily="18" charset="0"/>
                  <a:ea typeface="Arial Narrow"/>
                  <a:cs typeface="Times New Roman" panose="02020603050405020304" pitchFamily="18" charset="0"/>
                </a:rPr>
                <a:t>Gradients &amp; Updates</a:t>
              </a:r>
            </a:p>
          </p:txBody>
        </p:sp>
        <p:sp>
          <p:nvSpPr>
            <p:cNvPr id="141" name="Gradient stage detail">
              <a:extLst>
                <a:ext uri="{FF2B5EF4-FFF2-40B4-BE49-F238E27FC236}">
                  <a16:creationId xmlns:a16="http://schemas.microsoft.com/office/drawing/2014/main" id="{8C4C5387-2EA0-4AB4-8A3A-9B4EF6C659DC}"/>
                </a:ext>
              </a:extLst>
            </p:cNvPr>
            <p:cNvSpPr>
              <a:spLocks noGrp="1"/>
            </p:cNvSpPr>
            <p:nvPr/>
          </p:nvSpPr>
          <p:spPr>
            <a:xfrm>
              <a:off x="7362825" y="5324475"/>
              <a:ext cx="1752600" cy="2000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1163" b="0">
                  <a:solidFill>
                    <a:srgbClr val="793846"/>
                  </a:solidFill>
                  <a:latin typeface="Arial Narrow"/>
                  <a:ea typeface="Arial Narrow"/>
                  <a:cs typeface="Arial Narrow"/>
                </a:defRPr>
              </a:pPr>
              <a:r>
                <a:rPr sz="1163" b="0">
                  <a:solidFill>
                    <a:srgbClr val="793846"/>
                  </a:solidFill>
                  <a:latin typeface="Times New Roman" panose="02020603050405020304" pitchFamily="18" charset="0"/>
                  <a:ea typeface="Arial Narrow"/>
                  <a:cs typeface="Times New Roman" panose="02020603050405020304" pitchFamily="18" charset="0"/>
                </a:rPr>
                <a:t>First failing stage + evidence</a:t>
              </a:r>
            </a:p>
          </p:txBody>
        </p:sp>
        <p:sp>
          <p:nvSpPr>
            <p:cNvPr id="142" name="Runtime error box">
              <a:extLst>
                <a:ext uri="{FF2B5EF4-FFF2-40B4-BE49-F238E27FC236}">
                  <a16:creationId xmlns:a16="http://schemas.microsoft.com/office/drawing/2014/main" id="{646B703A-8705-4752-BC40-BE8CFAFC4271}"/>
                </a:ext>
              </a:extLst>
            </p:cNvPr>
            <p:cNvSpPr>
              <a:spLocks noGrp="1"/>
            </p:cNvSpPr>
            <p:nvPr/>
          </p:nvSpPr>
          <p:spPr>
            <a:xfrm>
              <a:off x="6800850" y="5534025"/>
              <a:ext cx="2305050" cy="590550"/>
            </a:xfrm>
            <a:prstGeom prst="roundRect">
              <a:avLst>
                <a:gd name="adj" fmla="val 9677"/>
              </a:avLst>
            </a:prstGeom>
            <a:solidFill>
              <a:srgbClr val="FCE3E9"/>
            </a:solidFill>
            <a:ln w="9525">
              <a:solidFill>
                <a:srgbClr val="E8BFC7"/>
              </a:solidFill>
            </a:ln>
          </p:spPr>
        </p:sp>
        <p:sp>
          <p:nvSpPr>
            <p:cNvPr id="143" name="Runtime failure evidence line 1">
              <a:extLst>
                <a:ext uri="{FF2B5EF4-FFF2-40B4-BE49-F238E27FC236}">
                  <a16:creationId xmlns:a16="http://schemas.microsoft.com/office/drawing/2014/main" id="{3C57441B-F3C4-46E9-A3E5-3FEB33B9C776}"/>
                </a:ext>
              </a:extLst>
            </p:cNvPr>
            <p:cNvSpPr>
              <a:spLocks noGrp="1"/>
            </p:cNvSpPr>
            <p:nvPr/>
          </p:nvSpPr>
          <p:spPr>
            <a:xfrm>
              <a:off x="6877050" y="5617636"/>
              <a:ext cx="2171700" cy="1714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953" b="0">
                  <a:solidFill>
                    <a:srgbClr val="131846"/>
                  </a:solidFill>
                  <a:latin typeface="Consolas"/>
                  <a:ea typeface="Consolas"/>
                  <a:cs typeface="Consolas"/>
                </a:defRPr>
              </a:pPr>
              <a:r>
                <a:rPr dirty="0" err="1">
                  <a:solidFill>
                    <a:srgbClr val="11163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RuntimeError</a:t>
              </a:r>
              <a:r>
                <a:rPr dirty="0">
                  <a:solidFill>
                    <a:srgbClr val="11163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gradient does not</a:t>
              </a:r>
            </a:p>
          </p:txBody>
        </p:sp>
        <p:sp>
          <p:nvSpPr>
            <p:cNvPr id="144" name="Runtime failure evidence line 2">
              <a:extLst>
                <a:ext uri="{FF2B5EF4-FFF2-40B4-BE49-F238E27FC236}">
                  <a16:creationId xmlns:a16="http://schemas.microsoft.com/office/drawing/2014/main" id="{E9776098-E9DD-4DBB-8116-B41AE5D3584B}"/>
                </a:ext>
              </a:extLst>
            </p:cNvPr>
            <p:cNvSpPr>
              <a:spLocks noGrp="1"/>
            </p:cNvSpPr>
            <p:nvPr/>
          </p:nvSpPr>
          <p:spPr>
            <a:xfrm>
              <a:off x="6877050" y="5779561"/>
              <a:ext cx="2171700" cy="1714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953" b="0">
                  <a:solidFill>
                    <a:srgbClr val="131846"/>
                  </a:solidFill>
                  <a:latin typeface="Consolas"/>
                  <a:ea typeface="Consolas"/>
                  <a:cs typeface="Consolas"/>
                </a:defRPr>
              </a:pPr>
              <a:r>
                <a:rPr dirty="0">
                  <a:solidFill>
                    <a:srgbClr val="11163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exist for parameter </a:t>
              </a:r>
              <a:r>
                <a:rPr dirty="0">
                  <a:solidFill>
                    <a:srgbClr val="00607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'</a:t>
              </a:r>
              <a:r>
                <a:rPr dirty="0" err="1">
                  <a:solidFill>
                    <a:srgbClr val="00607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fc.weight</a:t>
              </a:r>
              <a:r>
                <a:rPr dirty="0">
                  <a:solidFill>
                    <a:srgbClr val="00607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'</a:t>
              </a:r>
            </a:p>
          </p:txBody>
        </p:sp>
        <p:sp>
          <p:nvSpPr>
            <p:cNvPr id="145" name="Runtime failure evidence line 3">
              <a:extLst>
                <a:ext uri="{FF2B5EF4-FFF2-40B4-BE49-F238E27FC236}">
                  <a16:creationId xmlns:a16="http://schemas.microsoft.com/office/drawing/2014/main" id="{0BEF7493-42A5-4C38-BEF9-299AB0EF2DAC}"/>
                </a:ext>
              </a:extLst>
            </p:cNvPr>
            <p:cNvSpPr>
              <a:spLocks noGrp="1"/>
            </p:cNvSpPr>
            <p:nvPr/>
          </p:nvSpPr>
          <p:spPr>
            <a:xfrm>
              <a:off x="6877050" y="5941486"/>
              <a:ext cx="2171700" cy="1714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953" b="0">
                  <a:solidFill>
                    <a:srgbClr val="131846"/>
                  </a:solidFill>
                  <a:latin typeface="Consolas"/>
                  <a:ea typeface="Consolas"/>
                  <a:cs typeface="Consolas"/>
                </a:defRPr>
              </a:pPr>
              <a:r>
                <a:rPr>
                  <a:solidFill>
                    <a:srgbClr val="11163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...</a:t>
              </a:r>
            </a:p>
          </p:txBody>
        </p:sp>
        <p:sp>
          <p:nvSpPr>
            <p:cNvPr id="146" name="Not reached stem">
              <a:extLst>
                <a:ext uri="{FF2B5EF4-FFF2-40B4-BE49-F238E27FC236}">
                  <a16:creationId xmlns:a16="http://schemas.microsoft.com/office/drawing/2014/main" id="{B868C2CE-34EC-444D-951A-DB94EAB19C18}"/>
                </a:ext>
              </a:extLst>
            </p:cNvPr>
            <p:cNvSpPr>
              <a:spLocks noGrp="1"/>
            </p:cNvSpPr>
            <p:nvPr/>
          </p:nvSpPr>
          <p:spPr>
            <a:xfrm>
              <a:off x="7010400" y="6200775"/>
              <a:ext cx="953" cy="114300"/>
            </a:xfrm>
            <a:custGeom>
              <a:avLst/>
              <a:gdLst/>
              <a:ahLst/>
              <a:cxnLst/>
              <a:rect l="0" t="0" r="0" b="0"/>
              <a:pathLst>
                <a:path w="953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4288">
              <a:solidFill>
                <a:srgbClr val="AEB0B7"/>
              </a:solidFill>
            </a:ln>
          </p:spPr>
        </p:sp>
        <p:sp>
          <p:nvSpPr>
            <p:cNvPr id="147" name="Not reached dashed circle">
              <a:extLst>
                <a:ext uri="{FF2B5EF4-FFF2-40B4-BE49-F238E27FC236}">
                  <a16:creationId xmlns:a16="http://schemas.microsoft.com/office/drawing/2014/main" id="{17542C5C-D32B-409C-A227-D10CC9AC7C70}"/>
                </a:ext>
              </a:extLst>
            </p:cNvPr>
            <p:cNvSpPr>
              <a:spLocks noGrp="1"/>
            </p:cNvSpPr>
            <p:nvPr/>
          </p:nvSpPr>
          <p:spPr>
            <a:xfrm>
              <a:off x="6858000" y="6334125"/>
              <a:ext cx="304800" cy="304800"/>
            </a:xfrm>
            <a:prstGeom prst="ellipse">
              <a:avLst/>
            </a:prstGeom>
            <a:noFill/>
            <a:ln w="19050">
              <a:solidFill>
                <a:srgbClr val="AFB1B9"/>
              </a:solidFill>
              <a:prstDash val="dash"/>
            </a:ln>
          </p:spPr>
        </p:sp>
        <p:sp>
          <p:nvSpPr>
            <p:cNvPr id="148" name="Later behavior label">
              <a:extLst>
                <a:ext uri="{FF2B5EF4-FFF2-40B4-BE49-F238E27FC236}">
                  <a16:creationId xmlns:a16="http://schemas.microsoft.com/office/drawing/2014/main" id="{439F2DF7-D166-4981-BF88-A6FD5A42EC1E}"/>
                </a:ext>
              </a:extLst>
            </p:cNvPr>
            <p:cNvSpPr>
              <a:spLocks noGrp="1"/>
            </p:cNvSpPr>
            <p:nvPr/>
          </p:nvSpPr>
          <p:spPr>
            <a:xfrm>
              <a:off x="7362825" y="6296025"/>
              <a:ext cx="1809750" cy="238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1350" b="1">
                  <a:solidFill>
                    <a:srgbClr val="656978"/>
                  </a:solidFill>
                  <a:latin typeface="Arial Narrow"/>
                  <a:ea typeface="Arial Narrow"/>
                  <a:cs typeface="Arial Narrow"/>
                </a:defRPr>
              </a:pPr>
              <a:r>
                <a:rPr sz="1350" b="1">
                  <a:solidFill>
                    <a:srgbClr val="656978"/>
                  </a:solidFill>
                  <a:latin typeface="Times New Roman" panose="02020603050405020304" pitchFamily="18" charset="0"/>
                  <a:ea typeface="Arial Narrow"/>
                  <a:cs typeface="Times New Roman" panose="02020603050405020304" pitchFamily="18" charset="0"/>
                </a:rPr>
                <a:t>Later Training Behavior</a:t>
              </a:r>
            </a:p>
          </p:txBody>
        </p:sp>
        <p:sp>
          <p:nvSpPr>
            <p:cNvPr id="149" name="Later behavior detail">
              <a:extLst>
                <a:ext uri="{FF2B5EF4-FFF2-40B4-BE49-F238E27FC236}">
                  <a16:creationId xmlns:a16="http://schemas.microsoft.com/office/drawing/2014/main" id="{A412CE74-95FA-4235-87FA-0FF57FEC2FE1}"/>
                </a:ext>
              </a:extLst>
            </p:cNvPr>
            <p:cNvSpPr>
              <a:spLocks noGrp="1"/>
            </p:cNvSpPr>
            <p:nvPr/>
          </p:nvSpPr>
          <p:spPr>
            <a:xfrm>
              <a:off x="7362825" y="6515100"/>
              <a:ext cx="1676400" cy="2095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1200" b="0">
                  <a:solidFill>
                    <a:srgbClr val="7C8290"/>
                  </a:solidFill>
                  <a:latin typeface="Arial Narrow"/>
                  <a:ea typeface="Arial Narrow"/>
                  <a:cs typeface="Arial Narrow"/>
                </a:defRPr>
              </a:pPr>
              <a:r>
                <a:rPr sz="1200" b="0">
                  <a:solidFill>
                    <a:srgbClr val="7C8290"/>
                  </a:solidFill>
                  <a:latin typeface="Times New Roman" panose="02020603050405020304" pitchFamily="18" charset="0"/>
                  <a:ea typeface="Arial Narrow"/>
                  <a:cs typeface="Times New Roman" panose="02020603050405020304" pitchFamily="18" charset="0"/>
                </a:rPr>
                <a:t>(not reached)</a:t>
              </a:r>
            </a:p>
          </p:txBody>
        </p:sp>
      </p:grpSp>
      <p:grpSp>
        <p:nvGrpSpPr>
          <p:cNvPr id="366" name="Repair"/>
          <p:cNvGrpSpPr/>
          <p:nvPr/>
        </p:nvGrpSpPr>
        <p:grpSpPr>
          <a:xfrm>
            <a:off x="9572625" y="2667000"/>
            <a:ext cx="2667000" cy="4324350"/>
            <a:chOff x="9572625" y="2667000"/>
            <a:chExt cx="2667000" cy="4324350"/>
          </a:xfrm>
        </p:grpSpPr>
        <p:sp>
          <p:nvSpPr>
            <p:cNvPr id="150" name="Repair outer card">
              <a:extLst>
                <a:ext uri="{FF2B5EF4-FFF2-40B4-BE49-F238E27FC236}">
                  <a16:creationId xmlns:a16="http://schemas.microsoft.com/office/drawing/2014/main" id="{B2089157-6ADD-4A25-92AC-0421F6E86537}"/>
                </a:ext>
              </a:extLst>
            </p:cNvPr>
            <p:cNvSpPr>
              <a:spLocks noGrp="1"/>
            </p:cNvSpPr>
            <p:nvPr/>
          </p:nvSpPr>
          <p:spPr>
            <a:xfrm>
              <a:off x="9572625" y="2667000"/>
              <a:ext cx="2667000" cy="4324350"/>
            </a:xfrm>
            <a:prstGeom prst="roundRect">
              <a:avLst>
                <a:gd name="adj" fmla="val 8571"/>
              </a:avLst>
            </a:prstGeom>
            <a:gradFill>
              <a:gsLst>
                <a:gs pos="0">
                  <a:srgbClr val="EBFFEF"/>
                </a:gs>
                <a:gs pos="100000">
                  <a:srgbClr val="DBF7DF"/>
                </a:gs>
              </a:gsLst>
              <a:lin ang="5400000"/>
            </a:gradFill>
            <a:ln w="23813">
              <a:solidFill>
                <a:srgbClr val="6AA968"/>
              </a:solidFill>
            </a:ln>
          </p:spPr>
        </p:sp>
        <p:sp>
          <p:nvSpPr>
            <p:cNvPr id="151" name="Repair icon badge">
              <a:extLst>
                <a:ext uri="{FF2B5EF4-FFF2-40B4-BE49-F238E27FC236}">
                  <a16:creationId xmlns:a16="http://schemas.microsoft.com/office/drawing/2014/main" id="{7968AE60-0928-4CC4-9D36-D37607ACF3A0}"/>
                </a:ext>
              </a:extLst>
            </p:cNvPr>
            <p:cNvSpPr>
              <a:spLocks noGrp="1"/>
            </p:cNvSpPr>
            <p:nvPr/>
          </p:nvSpPr>
          <p:spPr>
            <a:xfrm>
              <a:off x="9763125" y="2781300"/>
              <a:ext cx="790575" cy="809625"/>
            </a:xfrm>
            <a:prstGeom prst="roundRect">
              <a:avLst>
                <a:gd name="adj" fmla="val 42169"/>
              </a:avLst>
            </a:prstGeom>
            <a:gradFill>
              <a:gsLst>
                <a:gs pos="0">
                  <a:srgbClr val="ACECB0"/>
                </a:gs>
                <a:gs pos="100000">
                  <a:srgbClr val="8CD99A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52" name="Repair wrench 0">
              <a:extLst>
                <a:ext uri="{FF2B5EF4-FFF2-40B4-BE49-F238E27FC236}">
                  <a16:creationId xmlns:a16="http://schemas.microsoft.com/office/drawing/2014/main" id="{2742BCF5-2C03-4437-A607-BE77393645B1}"/>
                </a:ext>
              </a:extLst>
            </p:cNvPr>
            <p:cNvSpPr>
              <a:spLocks noGrp="1"/>
            </p:cNvSpPr>
            <p:nvPr/>
          </p:nvSpPr>
          <p:spPr>
            <a:xfrm>
              <a:off x="9933878" y="2943251"/>
              <a:ext cx="468277" cy="476245"/>
            </a:xfrm>
            <a:custGeom>
              <a:avLst/>
              <a:gdLst/>
              <a:ahLst/>
              <a:cxnLst/>
              <a:rect l="0" t="0" r="0" b="0"/>
              <a:pathLst>
                <a:path w="468277" h="476245">
                  <a:moveTo>
                    <a:pt x="297281" y="102368"/>
                  </a:moveTo>
                  <a:lnTo>
                    <a:pt x="291476" y="112527"/>
                  </a:lnTo>
                  <a:lnTo>
                    <a:pt x="291159" y="124275"/>
                  </a:lnTo>
                  <a:lnTo>
                    <a:pt x="296404" y="134744"/>
                  </a:lnTo>
                  <a:lnTo>
                    <a:pt x="304626" y="143174"/>
                  </a:lnTo>
                  <a:lnTo>
                    <a:pt x="312882" y="151570"/>
                  </a:lnTo>
                  <a:lnTo>
                    <a:pt x="321138" y="159966"/>
                  </a:lnTo>
                  <a:lnTo>
                    <a:pt x="329394" y="168362"/>
                  </a:lnTo>
                  <a:lnTo>
                    <a:pt x="337913" y="176456"/>
                  </a:lnTo>
                  <a:lnTo>
                    <a:pt x="348765" y="180490"/>
                  </a:lnTo>
                  <a:lnTo>
                    <a:pt x="360196" y="178764"/>
                  </a:lnTo>
                  <a:lnTo>
                    <a:pt x="369521" y="171780"/>
                  </a:lnTo>
                  <a:lnTo>
                    <a:pt x="377778" y="163385"/>
                  </a:lnTo>
                  <a:lnTo>
                    <a:pt x="386036" y="154990"/>
                  </a:lnTo>
                  <a:lnTo>
                    <a:pt x="394293" y="146596"/>
                  </a:lnTo>
                  <a:lnTo>
                    <a:pt x="402551" y="138201"/>
                  </a:lnTo>
                  <a:lnTo>
                    <a:pt x="410808" y="129806"/>
                  </a:lnTo>
                  <a:lnTo>
                    <a:pt x="419066" y="121411"/>
                  </a:lnTo>
                  <a:lnTo>
                    <a:pt x="427323" y="113017"/>
                  </a:lnTo>
                  <a:lnTo>
                    <a:pt x="435581" y="104622"/>
                  </a:lnTo>
                  <a:lnTo>
                    <a:pt x="444349" y="96875"/>
                  </a:lnTo>
                  <a:lnTo>
                    <a:pt x="455682" y="96334"/>
                  </a:lnTo>
                  <a:lnTo>
                    <a:pt x="463216" y="104848"/>
                  </a:lnTo>
                  <a:lnTo>
                    <a:pt x="465861" y="116410"/>
                  </a:lnTo>
                  <a:lnTo>
                    <a:pt x="467552" y="128155"/>
                  </a:lnTo>
                  <a:lnTo>
                    <a:pt x="468277" y="140002"/>
                  </a:lnTo>
                  <a:lnTo>
                    <a:pt x="468031" y="151870"/>
                  </a:lnTo>
                  <a:lnTo>
                    <a:pt x="466816" y="163676"/>
                  </a:lnTo>
                  <a:lnTo>
                    <a:pt x="464641" y="175339"/>
                  </a:lnTo>
                  <a:lnTo>
                    <a:pt x="461524" y="186778"/>
                  </a:lnTo>
                  <a:lnTo>
                    <a:pt x="457484" y="197915"/>
                  </a:lnTo>
                  <a:lnTo>
                    <a:pt x="452551" y="208673"/>
                  </a:lnTo>
                  <a:lnTo>
                    <a:pt x="446756" y="218978"/>
                  </a:lnTo>
                  <a:lnTo>
                    <a:pt x="440139" y="228757"/>
                  </a:lnTo>
                  <a:lnTo>
                    <a:pt x="432745" y="237942"/>
                  </a:lnTo>
                  <a:lnTo>
                    <a:pt x="424626" y="246470"/>
                  </a:lnTo>
                  <a:lnTo>
                    <a:pt x="415840" y="254285"/>
                  </a:lnTo>
                  <a:lnTo>
                    <a:pt x="406449" y="261335"/>
                  </a:lnTo>
                  <a:lnTo>
                    <a:pt x="396514" y="267567"/>
                  </a:lnTo>
                  <a:lnTo>
                    <a:pt x="386104" y="272936"/>
                  </a:lnTo>
                  <a:lnTo>
                    <a:pt x="375291" y="277407"/>
                  </a:lnTo>
                  <a:lnTo>
                    <a:pt x="364151" y="280950"/>
                  </a:lnTo>
                  <a:lnTo>
                    <a:pt x="352759" y="283540"/>
                  </a:lnTo>
                  <a:lnTo>
                    <a:pt x="341196" y="285161"/>
                  </a:lnTo>
                  <a:lnTo>
                    <a:pt x="329540" y="285802"/>
                  </a:lnTo>
                  <a:lnTo>
                    <a:pt x="317873" y="285457"/>
                  </a:lnTo>
                  <a:lnTo>
                    <a:pt x="306273" y="284128"/>
                  </a:lnTo>
                  <a:lnTo>
                    <a:pt x="294823" y="281823"/>
                  </a:lnTo>
                  <a:lnTo>
                    <a:pt x="283601" y="278557"/>
                  </a:lnTo>
                  <a:lnTo>
                    <a:pt x="272684" y="274354"/>
                  </a:lnTo>
                  <a:lnTo>
                    <a:pt x="263791" y="279301"/>
                  </a:lnTo>
                  <a:lnTo>
                    <a:pt x="255535" y="287697"/>
                  </a:lnTo>
                  <a:lnTo>
                    <a:pt x="247279" y="296093"/>
                  </a:lnTo>
                  <a:lnTo>
                    <a:pt x="239022" y="304489"/>
                  </a:lnTo>
                  <a:lnTo>
                    <a:pt x="230766" y="312885"/>
                  </a:lnTo>
                  <a:lnTo>
                    <a:pt x="222510" y="321281"/>
                  </a:lnTo>
                  <a:lnTo>
                    <a:pt x="214254" y="329678"/>
                  </a:lnTo>
                  <a:lnTo>
                    <a:pt x="205998" y="338074"/>
                  </a:lnTo>
                  <a:lnTo>
                    <a:pt x="197742" y="346470"/>
                  </a:lnTo>
                  <a:lnTo>
                    <a:pt x="189485" y="354866"/>
                  </a:lnTo>
                  <a:lnTo>
                    <a:pt x="181229" y="363262"/>
                  </a:lnTo>
                  <a:lnTo>
                    <a:pt x="172973" y="371658"/>
                  </a:lnTo>
                  <a:lnTo>
                    <a:pt x="164717" y="380054"/>
                  </a:lnTo>
                  <a:lnTo>
                    <a:pt x="156461" y="388450"/>
                  </a:lnTo>
                  <a:lnTo>
                    <a:pt x="148204" y="396846"/>
                  </a:lnTo>
                  <a:lnTo>
                    <a:pt x="139948" y="405243"/>
                  </a:lnTo>
                  <a:lnTo>
                    <a:pt x="131692" y="413639"/>
                  </a:lnTo>
                  <a:lnTo>
                    <a:pt x="123436" y="422035"/>
                  </a:lnTo>
                  <a:lnTo>
                    <a:pt x="115180" y="430431"/>
                  </a:lnTo>
                  <a:lnTo>
                    <a:pt x="106924" y="438827"/>
                  </a:lnTo>
                  <a:lnTo>
                    <a:pt x="98667" y="447223"/>
                  </a:lnTo>
                  <a:lnTo>
                    <a:pt x="90411" y="455619"/>
                  </a:lnTo>
                  <a:lnTo>
                    <a:pt x="82068" y="463923"/>
                  </a:lnTo>
                  <a:lnTo>
                    <a:pt x="72435" y="470584"/>
                  </a:lnTo>
                  <a:lnTo>
                    <a:pt x="61536" y="474763"/>
                  </a:lnTo>
                  <a:lnTo>
                    <a:pt x="49978" y="476245"/>
                  </a:lnTo>
                  <a:lnTo>
                    <a:pt x="38397" y="474963"/>
                  </a:lnTo>
                  <a:lnTo>
                    <a:pt x="27429" y="470973"/>
                  </a:lnTo>
                  <a:lnTo>
                    <a:pt x="17685" y="464480"/>
                  </a:lnTo>
                  <a:lnTo>
                    <a:pt x="9686" y="455867"/>
                  </a:lnTo>
                  <a:lnTo>
                    <a:pt x="3877" y="445599"/>
                  </a:lnTo>
                  <a:lnTo>
                    <a:pt x="595" y="434232"/>
                  </a:lnTo>
                  <a:lnTo>
                    <a:pt x="0" y="422401"/>
                  </a:lnTo>
                  <a:lnTo>
                    <a:pt x="2119" y="410752"/>
                  </a:lnTo>
                  <a:lnTo>
                    <a:pt x="6855" y="399929"/>
                  </a:lnTo>
                  <a:lnTo>
                    <a:pt x="13949" y="390533"/>
                  </a:lnTo>
                  <a:lnTo>
                    <a:pt x="22202" y="382133"/>
                  </a:lnTo>
                  <a:lnTo>
                    <a:pt x="30458" y="373737"/>
                  </a:lnTo>
                  <a:lnTo>
                    <a:pt x="38714" y="365341"/>
                  </a:lnTo>
                  <a:lnTo>
                    <a:pt x="46971" y="356945"/>
                  </a:lnTo>
                  <a:lnTo>
                    <a:pt x="55227" y="348549"/>
                  </a:lnTo>
                  <a:lnTo>
                    <a:pt x="63483" y="340153"/>
                  </a:lnTo>
                  <a:lnTo>
                    <a:pt x="71739" y="331757"/>
                  </a:lnTo>
                  <a:lnTo>
                    <a:pt x="79995" y="323361"/>
                  </a:lnTo>
                  <a:lnTo>
                    <a:pt x="88251" y="314964"/>
                  </a:lnTo>
                  <a:lnTo>
                    <a:pt x="96508" y="306568"/>
                  </a:lnTo>
                  <a:lnTo>
                    <a:pt x="104764" y="298172"/>
                  </a:lnTo>
                  <a:lnTo>
                    <a:pt x="113020" y="289776"/>
                  </a:lnTo>
                  <a:lnTo>
                    <a:pt x="121276" y="281380"/>
                  </a:lnTo>
                  <a:lnTo>
                    <a:pt x="129532" y="272984"/>
                  </a:lnTo>
                  <a:lnTo>
                    <a:pt x="137789" y="264588"/>
                  </a:lnTo>
                  <a:lnTo>
                    <a:pt x="146045" y="256192"/>
                  </a:lnTo>
                  <a:lnTo>
                    <a:pt x="154301" y="247795"/>
                  </a:lnTo>
                  <a:lnTo>
                    <a:pt x="162557" y="239399"/>
                  </a:lnTo>
                  <a:lnTo>
                    <a:pt x="170813" y="231003"/>
                  </a:lnTo>
                  <a:lnTo>
                    <a:pt x="179069" y="222607"/>
                  </a:lnTo>
                  <a:lnTo>
                    <a:pt x="187326" y="214211"/>
                  </a:lnTo>
                  <a:lnTo>
                    <a:pt x="195582" y="205815"/>
                  </a:lnTo>
                  <a:lnTo>
                    <a:pt x="197340" y="196144"/>
                  </a:lnTo>
                  <a:lnTo>
                    <a:pt x="193430" y="184959"/>
                  </a:lnTo>
                  <a:lnTo>
                    <a:pt x="190447" y="173483"/>
                  </a:lnTo>
                  <a:lnTo>
                    <a:pt x="188413" y="161794"/>
                  </a:lnTo>
                  <a:lnTo>
                    <a:pt x="187342" y="149974"/>
                  </a:lnTo>
                  <a:lnTo>
                    <a:pt x="187239" y="138103"/>
                  </a:lnTo>
                  <a:lnTo>
                    <a:pt x="188105" y="126266"/>
                  </a:lnTo>
                  <a:lnTo>
                    <a:pt x="189933" y="114542"/>
                  </a:lnTo>
                  <a:lnTo>
                    <a:pt x="192710" y="103012"/>
                  </a:lnTo>
                  <a:lnTo>
                    <a:pt x="196419" y="91757"/>
                  </a:lnTo>
                  <a:lnTo>
                    <a:pt x="201034" y="80853"/>
                  </a:lnTo>
                  <a:lnTo>
                    <a:pt x="206524" y="70378"/>
                  </a:lnTo>
                  <a:lnTo>
                    <a:pt x="212853" y="60404"/>
                  </a:lnTo>
                  <a:lnTo>
                    <a:pt x="219973" y="50998"/>
                  </a:lnTo>
                  <a:lnTo>
                    <a:pt x="227834" y="42223"/>
                  </a:lnTo>
                  <a:lnTo>
                    <a:pt x="236384" y="34141"/>
                  </a:lnTo>
                  <a:lnTo>
                    <a:pt x="245564" y="26810"/>
                  </a:lnTo>
                  <a:lnTo>
                    <a:pt x="255312" y="20281"/>
                  </a:lnTo>
                  <a:lnTo>
                    <a:pt x="265561" y="14598"/>
                  </a:lnTo>
                  <a:lnTo>
                    <a:pt x="276237" y="9800"/>
                  </a:lnTo>
                  <a:lnTo>
                    <a:pt x="287268" y="5918"/>
                  </a:lnTo>
                  <a:lnTo>
                    <a:pt x="298578" y="2980"/>
                  </a:lnTo>
                  <a:lnTo>
                    <a:pt x="310087" y="1006"/>
                  </a:lnTo>
                  <a:lnTo>
                    <a:pt x="321719" y="10"/>
                  </a:lnTo>
                  <a:lnTo>
                    <a:pt x="333391" y="0"/>
                  </a:lnTo>
                  <a:lnTo>
                    <a:pt x="345024" y="978"/>
                  </a:lnTo>
                  <a:lnTo>
                    <a:pt x="356537" y="2936"/>
                  </a:lnTo>
                  <a:lnTo>
                    <a:pt x="367748" y="6144"/>
                  </a:lnTo>
                  <a:lnTo>
                    <a:pt x="374244" y="15504"/>
                  </a:lnTo>
                  <a:lnTo>
                    <a:pt x="371491" y="26716"/>
                  </a:lnTo>
                  <a:lnTo>
                    <a:pt x="363352" y="35221"/>
                  </a:lnTo>
                  <a:lnTo>
                    <a:pt x="355093" y="43614"/>
                  </a:lnTo>
                  <a:lnTo>
                    <a:pt x="346834" y="52007"/>
                  </a:lnTo>
                  <a:lnTo>
                    <a:pt x="338576" y="60401"/>
                  </a:lnTo>
                  <a:lnTo>
                    <a:pt x="330317" y="68794"/>
                  </a:lnTo>
                  <a:lnTo>
                    <a:pt x="322058" y="77188"/>
                  </a:lnTo>
                  <a:lnTo>
                    <a:pt x="313799" y="85581"/>
                  </a:lnTo>
                  <a:lnTo>
                    <a:pt x="305540" y="93974"/>
                  </a:lnTo>
                  <a:lnTo>
                    <a:pt x="297281" y="102368"/>
                  </a:lnTo>
                  <a:close/>
                </a:path>
              </a:pathLst>
            </a:custGeom>
            <a:solidFill>
              <a:srgbClr val="0E3A35"/>
            </a:solidFill>
            <a:ln w="46831">
              <a:solidFill>
                <a:srgbClr val="0C3534"/>
              </a:solidFill>
            </a:ln>
          </p:spPr>
        </p:sp>
        <p:sp>
          <p:nvSpPr>
            <p:cNvPr id="153" name="Repair heading">
              <a:extLst>
                <a:ext uri="{FF2B5EF4-FFF2-40B4-BE49-F238E27FC236}">
                  <a16:creationId xmlns:a16="http://schemas.microsoft.com/office/drawing/2014/main" id="{8714A14A-0AAF-4F06-9E6F-78AE4F178DE3}"/>
                </a:ext>
              </a:extLst>
            </p:cNvPr>
            <p:cNvSpPr>
              <a:spLocks noGrp="1"/>
            </p:cNvSpPr>
            <p:nvPr/>
          </p:nvSpPr>
          <p:spPr>
            <a:xfrm>
              <a:off x="10712904" y="3019425"/>
              <a:ext cx="1400175" cy="3429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2100" b="1">
                  <a:solidFill>
                    <a:srgbClr val="091322"/>
                  </a:solidFill>
                  <a:latin typeface="Arial Narrow"/>
                  <a:ea typeface="Arial Narrow"/>
                  <a:cs typeface="Arial Narrow"/>
                </a:defRPr>
              </a:pPr>
              <a:r>
                <a:rPr sz="2100" b="1" dirty="0">
                  <a:solidFill>
                    <a:srgbClr val="091322"/>
                  </a:solidFill>
                  <a:latin typeface="Times New Roman" panose="02020603050405020304" pitchFamily="18" charset="0"/>
                  <a:ea typeface="Arial Narrow"/>
                  <a:cs typeface="Times New Roman" panose="02020603050405020304" pitchFamily="18" charset="0"/>
                </a:rPr>
                <a:t>Repair</a:t>
              </a:r>
            </a:p>
          </p:txBody>
        </p:sp>
        <p:sp>
          <p:nvSpPr>
            <p:cNvPr id="156" name="Repaired candidate card">
              <a:extLst>
                <a:ext uri="{FF2B5EF4-FFF2-40B4-BE49-F238E27FC236}">
                  <a16:creationId xmlns:a16="http://schemas.microsoft.com/office/drawing/2014/main" id="{A4349BD1-A5FE-4C3B-B5F8-2212D10A5C12}"/>
                </a:ext>
              </a:extLst>
            </p:cNvPr>
            <p:cNvSpPr>
              <a:spLocks noGrp="1"/>
            </p:cNvSpPr>
            <p:nvPr/>
          </p:nvSpPr>
          <p:spPr>
            <a:xfrm>
              <a:off x="9686925" y="3705225"/>
              <a:ext cx="2447925" cy="3190875"/>
            </a:xfrm>
            <a:prstGeom prst="roundRect">
              <a:avLst>
                <a:gd name="adj" fmla="val 5447"/>
              </a:avLst>
            </a:prstGeom>
            <a:gradFill>
              <a:gsLst>
                <a:gs pos="0">
                  <a:srgbClr val="FFFFFF"/>
                </a:gs>
                <a:gs pos="100000">
                  <a:srgbClr val="F3FFF8"/>
                </a:gs>
              </a:gsLst>
              <a:lin ang="5400000"/>
            </a:gradFill>
            <a:ln w="11430">
              <a:solidFill>
                <a:srgbClr val="ACD8B9"/>
              </a:solidFill>
            </a:ln>
          </p:spPr>
        </p:sp>
        <p:sp>
          <p:nvSpPr>
            <p:cNvPr id="157" name="Repaired candidate heading">
              <a:extLst>
                <a:ext uri="{FF2B5EF4-FFF2-40B4-BE49-F238E27FC236}">
                  <a16:creationId xmlns:a16="http://schemas.microsoft.com/office/drawing/2014/main" id="{BE150A97-F374-4278-81CF-EB708E9F8866}"/>
                </a:ext>
              </a:extLst>
            </p:cNvPr>
            <p:cNvSpPr>
              <a:spLocks noGrp="1"/>
            </p:cNvSpPr>
            <p:nvPr/>
          </p:nvSpPr>
          <p:spPr>
            <a:xfrm>
              <a:off x="9858375" y="3781425"/>
              <a:ext cx="2171700" cy="2476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1500" b="1">
                  <a:solidFill>
                    <a:srgbClr val="132C5F"/>
                  </a:solidFill>
                  <a:latin typeface="Arial Narrow"/>
                  <a:ea typeface="Arial Narrow"/>
                  <a:cs typeface="Arial Narrow"/>
                </a:defRPr>
              </a:pPr>
              <a:r>
                <a:rPr lang="en-US" sz="1500" b="1" dirty="0">
                  <a:solidFill>
                    <a:srgbClr val="132C5F"/>
                  </a:solidFill>
                  <a:latin typeface="Times New Roman" panose="02020603050405020304" pitchFamily="18" charset="0"/>
                  <a:ea typeface="Arial Narrow"/>
                  <a:cs typeface="Times New Roman" panose="02020603050405020304" pitchFamily="18" charset="0"/>
                </a:rPr>
                <a:t>Revised Target Program</a:t>
              </a:r>
              <a:endParaRPr sz="1500" b="1" dirty="0">
                <a:solidFill>
                  <a:srgbClr val="132C5F"/>
                </a:solidFill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</a:endParaRPr>
            </a:p>
          </p:txBody>
        </p:sp>
        <p:sp>
          <p:nvSpPr>
            <p:cNvPr id="158" name="Repair code well">
              <a:extLst>
                <a:ext uri="{FF2B5EF4-FFF2-40B4-BE49-F238E27FC236}">
                  <a16:creationId xmlns:a16="http://schemas.microsoft.com/office/drawing/2014/main" id="{16FC2FE8-92A6-45E2-9949-2DAB7C481471}"/>
                </a:ext>
              </a:extLst>
            </p:cNvPr>
            <p:cNvSpPr>
              <a:spLocks noGrp="1"/>
            </p:cNvSpPr>
            <p:nvPr/>
          </p:nvSpPr>
          <p:spPr>
            <a:xfrm>
              <a:off x="9782175" y="4038600"/>
              <a:ext cx="2286000" cy="2314575"/>
            </a:xfrm>
            <a:prstGeom prst="roundRect">
              <a:avLst>
                <a:gd name="adj" fmla="val 3750"/>
              </a:avLst>
            </a:prstGeom>
            <a:solidFill>
              <a:srgbClr val="FFFFFF"/>
            </a:solidFill>
            <a:ln w="7620">
              <a:solidFill>
                <a:srgbClr val="D4EEDB"/>
              </a:solidFill>
            </a:ln>
          </p:spPr>
        </p:sp>
        <p:sp>
          <p:nvSpPr>
            <p:cNvPr id="159" name="Repaired MindSpore code line 1">
              <a:extLst>
                <a:ext uri="{FF2B5EF4-FFF2-40B4-BE49-F238E27FC236}">
                  <a16:creationId xmlns:a16="http://schemas.microsoft.com/office/drawing/2014/main" id="{9923ADD9-5055-4618-AABC-91B4DC21DE0A}"/>
                </a:ext>
              </a:extLst>
            </p:cNvPr>
            <p:cNvSpPr>
              <a:spLocks noGrp="1"/>
            </p:cNvSpPr>
            <p:nvPr/>
          </p:nvSpPr>
          <p:spPr>
            <a:xfrm>
              <a:off x="9906000" y="4194175"/>
              <a:ext cx="2114550" cy="18573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998" b="0">
                  <a:solidFill>
                    <a:srgbClr val="131846"/>
                  </a:solidFill>
                  <a:latin typeface="Consolas"/>
                  <a:ea typeface="Consolas"/>
                  <a:cs typeface="Consolas"/>
                </a:defRPr>
              </a:pPr>
              <a:r>
                <a:rPr>
                  <a:solidFill>
                    <a:srgbClr val="C800D4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import</a:t>
              </a:r>
              <a:r>
                <a:rPr>
                  <a:solidFill>
                    <a:srgbClr val="111638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 mindspore </a:t>
              </a:r>
              <a:r>
                <a:rPr>
                  <a:solidFill>
                    <a:srgbClr val="C800D4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as</a:t>
              </a:r>
              <a:r>
                <a:rPr>
                  <a:solidFill>
                    <a:srgbClr val="111638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 ms</a:t>
              </a:r>
            </a:p>
          </p:txBody>
        </p:sp>
        <p:sp>
          <p:nvSpPr>
            <p:cNvPr id="160" name="Repaired MindSpore code line 2">
              <a:extLst>
                <a:ext uri="{FF2B5EF4-FFF2-40B4-BE49-F238E27FC236}">
                  <a16:creationId xmlns:a16="http://schemas.microsoft.com/office/drawing/2014/main" id="{12F5009D-5EDE-4D0F-B784-FFAA2A26B54D}"/>
                </a:ext>
              </a:extLst>
            </p:cNvPr>
            <p:cNvSpPr>
              <a:spLocks noGrp="1"/>
            </p:cNvSpPr>
            <p:nvPr/>
          </p:nvSpPr>
          <p:spPr>
            <a:xfrm>
              <a:off x="9906000" y="4370388"/>
              <a:ext cx="2114550" cy="18573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998" b="0">
                  <a:solidFill>
                    <a:srgbClr val="131846"/>
                  </a:solidFill>
                  <a:latin typeface="Consolas"/>
                  <a:ea typeface="Consolas"/>
                  <a:cs typeface="Consolas"/>
                </a:defRPr>
              </a:pPr>
              <a:r>
                <a:rPr dirty="0">
                  <a:solidFill>
                    <a:srgbClr val="C800D4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import</a:t>
              </a:r>
              <a:r>
                <a:rPr dirty="0">
                  <a:solidFill>
                    <a:srgbClr val="111638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 </a:t>
              </a:r>
              <a:r>
                <a:rPr dirty="0" err="1">
                  <a:solidFill>
                    <a:srgbClr val="111638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mindspore.nn</a:t>
              </a:r>
              <a:r>
                <a:rPr dirty="0">
                  <a:solidFill>
                    <a:srgbClr val="111638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 </a:t>
              </a:r>
              <a:r>
                <a:rPr dirty="0">
                  <a:solidFill>
                    <a:srgbClr val="C800D4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as</a:t>
              </a:r>
              <a:r>
                <a:rPr dirty="0">
                  <a:solidFill>
                    <a:srgbClr val="111638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 </a:t>
              </a:r>
              <a:r>
                <a:rPr dirty="0" err="1">
                  <a:solidFill>
                    <a:srgbClr val="111638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nn</a:t>
              </a:r>
              <a:endParaRPr dirty="0">
                <a:solidFill>
                  <a:srgbClr val="111638"/>
                </a:solidFill>
                <a:latin typeface="Consolas" panose="020B06090202040302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161" name="Repaired MindSpore code line 3">
              <a:extLst>
                <a:ext uri="{FF2B5EF4-FFF2-40B4-BE49-F238E27FC236}">
                  <a16:creationId xmlns:a16="http://schemas.microsoft.com/office/drawing/2014/main" id="{9E5D5EA3-D799-41CF-B89B-73B8683294B2}"/>
                </a:ext>
              </a:extLst>
            </p:cNvPr>
            <p:cNvSpPr>
              <a:spLocks noGrp="1"/>
            </p:cNvSpPr>
            <p:nvPr/>
          </p:nvSpPr>
          <p:spPr>
            <a:xfrm>
              <a:off x="9906000" y="4476750"/>
              <a:ext cx="2114550" cy="18573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998" b="0">
                  <a:solidFill>
                    <a:srgbClr val="131846"/>
                  </a:solidFill>
                  <a:latin typeface="Consolas"/>
                  <a:ea typeface="Consolas"/>
                  <a:cs typeface="Consolas"/>
                </a:defRPr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2" name="Repaired MindSpore code line 4">
              <a:extLst>
                <a:ext uri="{FF2B5EF4-FFF2-40B4-BE49-F238E27FC236}">
                  <a16:creationId xmlns:a16="http://schemas.microsoft.com/office/drawing/2014/main" id="{4DB59CD0-09D0-4D58-A663-C5F45B0E800E}"/>
                </a:ext>
              </a:extLst>
            </p:cNvPr>
            <p:cNvSpPr>
              <a:spLocks noGrp="1"/>
            </p:cNvSpPr>
            <p:nvPr/>
          </p:nvSpPr>
          <p:spPr>
            <a:xfrm>
              <a:off x="9906000" y="4722813"/>
              <a:ext cx="2114550" cy="18573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998" b="0">
                  <a:solidFill>
                    <a:srgbClr val="131846"/>
                  </a:solidFill>
                  <a:latin typeface="Consolas"/>
                  <a:ea typeface="Consolas"/>
                  <a:cs typeface="Consolas"/>
                </a:defRPr>
              </a:pPr>
              <a:r>
                <a:rPr dirty="0">
                  <a:solidFill>
                    <a:srgbClr val="C800D4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class</a:t>
              </a:r>
              <a:r>
                <a:rPr dirty="0">
                  <a:solidFill>
                    <a:srgbClr val="111638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 </a:t>
              </a:r>
              <a:r>
                <a:rPr dirty="0">
                  <a:solidFill>
                    <a:srgbClr val="005BDE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Net</a:t>
              </a:r>
              <a:r>
                <a:rPr dirty="0">
                  <a:solidFill>
                    <a:srgbClr val="111638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(</a:t>
              </a:r>
              <a:r>
                <a:rPr dirty="0" err="1">
                  <a:solidFill>
                    <a:srgbClr val="111638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nn.Cell</a:t>
              </a:r>
              <a:r>
                <a:rPr dirty="0">
                  <a:solidFill>
                    <a:srgbClr val="111638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):</a:t>
              </a:r>
            </a:p>
          </p:txBody>
        </p:sp>
        <p:sp>
          <p:nvSpPr>
            <p:cNvPr id="168" name="Added repair highlight">
              <a:extLst>
                <a:ext uri="{FF2B5EF4-FFF2-40B4-BE49-F238E27FC236}">
                  <a16:creationId xmlns:a16="http://schemas.microsoft.com/office/drawing/2014/main" id="{A4D136D9-9A7A-44D6-A68C-9934CC559F6D}"/>
                </a:ext>
              </a:extLst>
            </p:cNvPr>
            <p:cNvSpPr>
              <a:spLocks noGrp="1"/>
            </p:cNvSpPr>
            <p:nvPr/>
          </p:nvSpPr>
          <p:spPr>
            <a:xfrm>
              <a:off x="9858375" y="5392182"/>
              <a:ext cx="2152650" cy="774700"/>
            </a:xfrm>
            <a:prstGeom prst="roundRect">
              <a:avLst>
                <a:gd name="adj" fmla="val 13333"/>
              </a:avLst>
            </a:prstGeom>
            <a:solidFill>
              <a:srgbClr val="E0FBE6"/>
            </a:solidFill>
            <a:ln w="0">
              <a:noFill/>
            </a:ln>
          </p:spPr>
        </p:sp>
        <p:sp>
          <p:nvSpPr>
            <p:cNvPr id="169" name="Added repair code line 1">
              <a:extLst>
                <a:ext uri="{FF2B5EF4-FFF2-40B4-BE49-F238E27FC236}">
                  <a16:creationId xmlns:a16="http://schemas.microsoft.com/office/drawing/2014/main" id="{3E1BE2EB-E8F7-4163-B303-536839F70219}"/>
                </a:ext>
              </a:extLst>
            </p:cNvPr>
            <p:cNvSpPr>
              <a:spLocks noGrp="1"/>
            </p:cNvSpPr>
            <p:nvPr/>
          </p:nvSpPr>
          <p:spPr>
            <a:xfrm>
              <a:off x="9769475" y="5546725"/>
              <a:ext cx="2085975" cy="17335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968" b="0">
                  <a:solidFill>
                    <a:srgbClr val="131846"/>
                  </a:solidFill>
                  <a:latin typeface="Consolas"/>
                  <a:ea typeface="Consolas"/>
                  <a:cs typeface="Consolas"/>
                </a:defRPr>
              </a:pPr>
              <a:r>
                <a:rPr sz="1050" dirty="0">
                  <a:solidFill>
                    <a:srgbClr val="111638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  </a:t>
              </a:r>
              <a:r>
                <a:rPr sz="1050" dirty="0">
                  <a:solidFill>
                    <a:srgbClr val="C800D4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def</a:t>
              </a:r>
              <a:r>
                <a:rPr sz="1050" dirty="0">
                  <a:solidFill>
                    <a:srgbClr val="111638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 </a:t>
              </a:r>
              <a:r>
                <a:rPr sz="1050" dirty="0" err="1">
                  <a:solidFill>
                    <a:srgbClr val="005BDE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train_step</a:t>
              </a:r>
              <a:r>
                <a:rPr sz="1050" dirty="0">
                  <a:solidFill>
                    <a:srgbClr val="111638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(</a:t>
              </a:r>
              <a:r>
                <a:rPr sz="1050" dirty="0">
                  <a:solidFill>
                    <a:srgbClr val="005BDE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self</a:t>
              </a:r>
              <a:r>
                <a:rPr sz="1050" dirty="0">
                  <a:solidFill>
                    <a:srgbClr val="111638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, x, y):</a:t>
              </a:r>
            </a:p>
          </p:txBody>
        </p:sp>
        <p:sp>
          <p:nvSpPr>
            <p:cNvPr id="170" name="Added repair code line 2">
              <a:extLst>
                <a:ext uri="{FF2B5EF4-FFF2-40B4-BE49-F238E27FC236}">
                  <a16:creationId xmlns:a16="http://schemas.microsoft.com/office/drawing/2014/main" id="{7800F701-808A-46C5-A918-371B10CE111E}"/>
                </a:ext>
              </a:extLst>
            </p:cNvPr>
            <p:cNvSpPr>
              <a:spLocks noGrp="1"/>
            </p:cNvSpPr>
            <p:nvPr/>
          </p:nvSpPr>
          <p:spPr>
            <a:xfrm>
              <a:off x="9769475" y="5710555"/>
              <a:ext cx="2085975" cy="17335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968" b="0">
                  <a:solidFill>
                    <a:srgbClr val="131846"/>
                  </a:solidFill>
                  <a:latin typeface="Consolas"/>
                  <a:ea typeface="Consolas"/>
                  <a:cs typeface="Consolas"/>
                </a:defRPr>
              </a:pPr>
              <a:r>
                <a:rPr sz="1050" dirty="0">
                  <a:solidFill>
                    <a:srgbClr val="111638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     loss = </a:t>
              </a:r>
              <a:r>
                <a:rPr sz="1050" dirty="0" err="1">
                  <a:solidFill>
                    <a:srgbClr val="005BDE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self</a:t>
              </a:r>
              <a:r>
                <a:rPr sz="1050" dirty="0" err="1">
                  <a:solidFill>
                    <a:srgbClr val="111638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.loss_fn</a:t>
              </a:r>
              <a:r>
                <a:rPr sz="1050" dirty="0">
                  <a:solidFill>
                    <a:srgbClr val="111638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(x, y)</a:t>
              </a:r>
            </a:p>
          </p:txBody>
        </p:sp>
        <p:sp>
          <p:nvSpPr>
            <p:cNvPr id="171" name="Added repair code line 3">
              <a:extLst>
                <a:ext uri="{FF2B5EF4-FFF2-40B4-BE49-F238E27FC236}">
                  <a16:creationId xmlns:a16="http://schemas.microsoft.com/office/drawing/2014/main" id="{421BE9F4-6118-4912-9651-B69AF683D404}"/>
                </a:ext>
              </a:extLst>
            </p:cNvPr>
            <p:cNvSpPr>
              <a:spLocks noGrp="1"/>
            </p:cNvSpPr>
            <p:nvPr/>
          </p:nvSpPr>
          <p:spPr>
            <a:xfrm>
              <a:off x="9769475" y="5874385"/>
              <a:ext cx="2085975" cy="17335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968" b="0">
                  <a:solidFill>
                    <a:srgbClr val="131846"/>
                  </a:solidFill>
                  <a:latin typeface="Consolas"/>
                  <a:ea typeface="Consolas"/>
                  <a:cs typeface="Consolas"/>
                </a:defRPr>
              </a:pPr>
              <a:r>
                <a:rPr sz="1050" dirty="0">
                  <a:solidFill>
                    <a:srgbClr val="111638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     </a:t>
              </a:r>
              <a:r>
                <a:rPr sz="1050" dirty="0">
                  <a:solidFill>
                    <a:srgbClr val="C800D4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return</a:t>
              </a:r>
              <a:r>
                <a:rPr sz="1050" dirty="0">
                  <a:solidFill>
                    <a:srgbClr val="111638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 loss</a:t>
              </a:r>
            </a:p>
          </p:txBody>
        </p:sp>
        <p:sp>
          <p:nvSpPr>
            <p:cNvPr id="172" name="Repair knowledge badge">
              <a:extLst>
                <a:ext uri="{FF2B5EF4-FFF2-40B4-BE49-F238E27FC236}">
                  <a16:creationId xmlns:a16="http://schemas.microsoft.com/office/drawing/2014/main" id="{C20F839B-49E5-47DB-B8EF-5668A9A630F1}"/>
                </a:ext>
              </a:extLst>
            </p:cNvPr>
            <p:cNvSpPr>
              <a:spLocks noGrp="1"/>
            </p:cNvSpPr>
            <p:nvPr/>
          </p:nvSpPr>
          <p:spPr>
            <a:xfrm>
              <a:off x="9801225" y="6410325"/>
              <a:ext cx="419100" cy="428625"/>
            </a:xfrm>
            <a:prstGeom prst="ellipse">
              <a:avLst/>
            </a:prstGeom>
            <a:gradFill>
              <a:gsLst>
                <a:gs pos="0">
                  <a:srgbClr val="FFF3C3"/>
                </a:gs>
                <a:gs pos="100000">
                  <a:srgbClr val="FFE6A0"/>
                </a:gs>
              </a:gsLst>
              <a:lin ang="5400000"/>
            </a:gradFill>
            <a:ln w="0">
              <a:noFill/>
              <a:prstDash val="solid"/>
            </a:ln>
          </p:spPr>
        </p:sp>
        <p:sp>
          <p:nvSpPr>
            <p:cNvPr id="173" name="Repair knowledge lightbulb 0">
              <a:extLst>
                <a:ext uri="{FF2B5EF4-FFF2-40B4-BE49-F238E27FC236}">
                  <a16:creationId xmlns:a16="http://schemas.microsoft.com/office/drawing/2014/main" id="{A0683B27-211D-4E12-99F8-023E60E8D80E}"/>
                </a:ext>
              </a:extLst>
            </p:cNvPr>
            <p:cNvSpPr>
              <a:spLocks noGrp="1"/>
            </p:cNvSpPr>
            <p:nvPr/>
          </p:nvSpPr>
          <p:spPr>
            <a:xfrm>
              <a:off x="9960770" y="6528594"/>
              <a:ext cx="109535" cy="138112"/>
            </a:xfrm>
            <a:custGeom>
              <a:avLst/>
              <a:gdLst/>
              <a:ahLst/>
              <a:cxnLst/>
              <a:rect l="0" t="0" r="0" b="0"/>
              <a:pathLst>
                <a:path w="109535" h="138112">
                  <a:moveTo>
                    <a:pt x="82152" y="138112"/>
                  </a:moveTo>
                  <a:lnTo>
                    <a:pt x="83296" y="132614"/>
                  </a:lnTo>
                  <a:lnTo>
                    <a:pt x="84982" y="127342"/>
                  </a:lnTo>
                  <a:lnTo>
                    <a:pt x="87185" y="122383"/>
                  </a:lnTo>
                  <a:lnTo>
                    <a:pt x="89810" y="117759"/>
                  </a:lnTo>
                  <a:lnTo>
                    <a:pt x="92735" y="113431"/>
                  </a:lnTo>
                  <a:lnTo>
                    <a:pt x="95857" y="109325"/>
                  </a:lnTo>
                  <a:lnTo>
                    <a:pt x="99028" y="105284"/>
                  </a:lnTo>
                  <a:lnTo>
                    <a:pt x="101815" y="100815"/>
                  </a:lnTo>
                  <a:lnTo>
                    <a:pt x="104190" y="95982"/>
                  </a:lnTo>
                  <a:lnTo>
                    <a:pt x="106136" y="90854"/>
                  </a:lnTo>
                  <a:lnTo>
                    <a:pt x="107646" y="85497"/>
                  </a:lnTo>
                  <a:lnTo>
                    <a:pt x="108716" y="79973"/>
                  </a:lnTo>
                  <a:lnTo>
                    <a:pt x="109346" y="74343"/>
                  </a:lnTo>
                  <a:lnTo>
                    <a:pt x="109535" y="68662"/>
                  </a:lnTo>
                  <a:lnTo>
                    <a:pt x="109327" y="62982"/>
                  </a:lnTo>
                  <a:lnTo>
                    <a:pt x="108752" y="57342"/>
                  </a:lnTo>
                  <a:lnTo>
                    <a:pt x="107809" y="51781"/>
                  </a:lnTo>
                  <a:lnTo>
                    <a:pt x="106504" y="46338"/>
                  </a:lnTo>
                  <a:lnTo>
                    <a:pt x="104845" y="41050"/>
                  </a:lnTo>
                  <a:lnTo>
                    <a:pt x="102845" y="35953"/>
                  </a:lnTo>
                  <a:lnTo>
                    <a:pt x="100519" y="31081"/>
                  </a:lnTo>
                  <a:lnTo>
                    <a:pt x="97883" y="26467"/>
                  </a:lnTo>
                  <a:lnTo>
                    <a:pt x="94957" y="22141"/>
                  </a:lnTo>
                  <a:lnTo>
                    <a:pt x="91759" y="18131"/>
                  </a:lnTo>
                  <a:lnTo>
                    <a:pt x="88312" y="14464"/>
                  </a:lnTo>
                  <a:lnTo>
                    <a:pt x="84638" y="11165"/>
                  </a:lnTo>
                  <a:lnTo>
                    <a:pt x="80762" y="8258"/>
                  </a:lnTo>
                  <a:lnTo>
                    <a:pt x="76709" y="5765"/>
                  </a:lnTo>
                  <a:lnTo>
                    <a:pt x="72506" y="3702"/>
                  </a:lnTo>
                  <a:lnTo>
                    <a:pt x="68182" y="2086"/>
                  </a:lnTo>
                  <a:lnTo>
                    <a:pt x="63767" y="928"/>
                  </a:lnTo>
                  <a:lnTo>
                    <a:pt x="59290" y="232"/>
                  </a:lnTo>
                  <a:lnTo>
                    <a:pt x="54784" y="0"/>
                  </a:lnTo>
                  <a:lnTo>
                    <a:pt x="50278" y="229"/>
                  </a:lnTo>
                  <a:lnTo>
                    <a:pt x="45801" y="921"/>
                  </a:lnTo>
                  <a:lnTo>
                    <a:pt x="41385" y="2076"/>
                  </a:lnTo>
                  <a:lnTo>
                    <a:pt x="37061" y="3689"/>
                  </a:lnTo>
                  <a:lnTo>
                    <a:pt x="32857" y="5748"/>
                  </a:lnTo>
                  <a:lnTo>
                    <a:pt x="28802" y="8239"/>
                  </a:lnTo>
                  <a:lnTo>
                    <a:pt x="24925" y="11142"/>
                  </a:lnTo>
                  <a:lnTo>
                    <a:pt x="21250" y="14438"/>
                  </a:lnTo>
                  <a:lnTo>
                    <a:pt x="17801" y="18102"/>
                  </a:lnTo>
                  <a:lnTo>
                    <a:pt x="14601" y="22110"/>
                  </a:lnTo>
                  <a:lnTo>
                    <a:pt x="11672" y="26434"/>
                  </a:lnTo>
                  <a:lnTo>
                    <a:pt x="9035" y="31047"/>
                  </a:lnTo>
                  <a:lnTo>
                    <a:pt x="6706" y="35917"/>
                  </a:lnTo>
                  <a:lnTo>
                    <a:pt x="4704" y="41012"/>
                  </a:lnTo>
                  <a:lnTo>
                    <a:pt x="3043" y="46299"/>
                  </a:lnTo>
                  <a:lnTo>
                    <a:pt x="1735" y="51741"/>
                  </a:lnTo>
                  <a:lnTo>
                    <a:pt x="789" y="57301"/>
                  </a:lnTo>
                  <a:lnTo>
                    <a:pt x="211" y="62940"/>
                  </a:lnTo>
                  <a:lnTo>
                    <a:pt x="0" y="68621"/>
                  </a:lnTo>
                  <a:lnTo>
                    <a:pt x="145" y="74304"/>
                  </a:lnTo>
                  <a:lnTo>
                    <a:pt x="705" y="79946"/>
                  </a:lnTo>
                  <a:lnTo>
                    <a:pt x="1756" y="85474"/>
                  </a:lnTo>
                  <a:lnTo>
                    <a:pt x="3314" y="90809"/>
                  </a:lnTo>
                  <a:lnTo>
                    <a:pt x="5348" y="95883"/>
                  </a:lnTo>
                  <a:lnTo>
                    <a:pt x="7795" y="100658"/>
                  </a:lnTo>
                  <a:lnTo>
                    <a:pt x="10586" y="105125"/>
                  </a:lnTo>
                  <a:lnTo>
                    <a:pt x="13654" y="109293"/>
                  </a:lnTo>
                  <a:lnTo>
                    <a:pt x="16760" y="113417"/>
                  </a:lnTo>
                  <a:lnTo>
                    <a:pt x="19651" y="117782"/>
                  </a:lnTo>
                  <a:lnTo>
                    <a:pt x="22249" y="122431"/>
                  </a:lnTo>
                  <a:lnTo>
                    <a:pt x="24463" y="127383"/>
                  </a:lnTo>
                  <a:lnTo>
                    <a:pt x="26202" y="132627"/>
                  </a:lnTo>
                  <a:lnTo>
                    <a:pt x="27383" y="138112"/>
                  </a:lnTo>
                </a:path>
              </a:pathLst>
            </a:custGeom>
            <a:noFill/>
            <a:ln w="18256">
              <a:solidFill>
                <a:srgbClr val="352D18"/>
              </a:solidFill>
            </a:ln>
          </p:spPr>
        </p:sp>
        <p:sp>
          <p:nvSpPr>
            <p:cNvPr id="174" name="Repair knowledge lightbulb 1">
              <a:extLst>
                <a:ext uri="{FF2B5EF4-FFF2-40B4-BE49-F238E27FC236}">
                  <a16:creationId xmlns:a16="http://schemas.microsoft.com/office/drawing/2014/main" id="{FBE4B917-7DEB-4A9D-9394-3BE82B60E07E}"/>
                </a:ext>
              </a:extLst>
            </p:cNvPr>
            <p:cNvSpPr>
              <a:spLocks noGrp="1"/>
            </p:cNvSpPr>
            <p:nvPr/>
          </p:nvSpPr>
          <p:spPr>
            <a:xfrm>
              <a:off x="9988153" y="6712744"/>
              <a:ext cx="54769" cy="953"/>
            </a:xfrm>
            <a:custGeom>
              <a:avLst/>
              <a:gdLst/>
              <a:ahLst/>
              <a:cxnLst/>
              <a:rect l="0" t="0" r="0" b="0"/>
              <a:pathLst>
                <a:path w="54769" h="953">
                  <a:moveTo>
                    <a:pt x="0" y="0"/>
                  </a:moveTo>
                  <a:lnTo>
                    <a:pt x="4564" y="0"/>
                  </a:lnTo>
                  <a:lnTo>
                    <a:pt x="9128" y="0"/>
                  </a:lnTo>
                  <a:lnTo>
                    <a:pt x="13692" y="0"/>
                  </a:lnTo>
                  <a:lnTo>
                    <a:pt x="18256" y="0"/>
                  </a:lnTo>
                  <a:lnTo>
                    <a:pt x="22820" y="0"/>
                  </a:lnTo>
                  <a:lnTo>
                    <a:pt x="27384" y="0"/>
                  </a:lnTo>
                  <a:lnTo>
                    <a:pt x="31948" y="0"/>
                  </a:lnTo>
                  <a:lnTo>
                    <a:pt x="36512" y="0"/>
                  </a:lnTo>
                  <a:lnTo>
                    <a:pt x="41077" y="0"/>
                  </a:lnTo>
                  <a:lnTo>
                    <a:pt x="45641" y="0"/>
                  </a:lnTo>
                  <a:lnTo>
                    <a:pt x="50205" y="0"/>
                  </a:lnTo>
                  <a:lnTo>
                    <a:pt x="54769" y="0"/>
                  </a:lnTo>
                </a:path>
              </a:pathLst>
            </a:custGeom>
            <a:noFill/>
            <a:ln w="18256">
              <a:solidFill>
                <a:srgbClr val="352D18"/>
              </a:solidFill>
            </a:ln>
          </p:spPr>
        </p:sp>
        <p:sp>
          <p:nvSpPr>
            <p:cNvPr id="175" name="Repair knowledge lightbulb 2">
              <a:extLst>
                <a:ext uri="{FF2B5EF4-FFF2-40B4-BE49-F238E27FC236}">
                  <a16:creationId xmlns:a16="http://schemas.microsoft.com/office/drawing/2014/main" id="{EB3487D3-06A2-4C3F-A672-86538DA2277E}"/>
                </a:ext>
              </a:extLst>
            </p:cNvPr>
            <p:cNvSpPr>
              <a:spLocks noGrp="1"/>
            </p:cNvSpPr>
            <p:nvPr/>
          </p:nvSpPr>
          <p:spPr>
            <a:xfrm>
              <a:off x="9997281" y="6758781"/>
              <a:ext cx="36513" cy="953"/>
            </a:xfrm>
            <a:custGeom>
              <a:avLst/>
              <a:gdLst/>
              <a:ahLst/>
              <a:cxnLst/>
              <a:rect l="0" t="0" r="0" b="0"/>
              <a:pathLst>
                <a:path w="36513" h="953">
                  <a:moveTo>
                    <a:pt x="0" y="0"/>
                  </a:moveTo>
                  <a:lnTo>
                    <a:pt x="4564" y="0"/>
                  </a:lnTo>
                  <a:lnTo>
                    <a:pt x="9128" y="0"/>
                  </a:lnTo>
                  <a:lnTo>
                    <a:pt x="13692" y="0"/>
                  </a:lnTo>
                  <a:lnTo>
                    <a:pt x="18256" y="0"/>
                  </a:lnTo>
                  <a:lnTo>
                    <a:pt x="22820" y="0"/>
                  </a:lnTo>
                  <a:lnTo>
                    <a:pt x="27384" y="0"/>
                  </a:lnTo>
                  <a:lnTo>
                    <a:pt x="31948" y="0"/>
                  </a:lnTo>
                  <a:lnTo>
                    <a:pt x="36513" y="0"/>
                  </a:lnTo>
                </a:path>
              </a:pathLst>
            </a:custGeom>
            <a:noFill/>
            <a:ln w="18256">
              <a:solidFill>
                <a:srgbClr val="352D18"/>
              </a:solidFill>
            </a:ln>
          </p:spPr>
        </p:sp>
        <p:sp>
          <p:nvSpPr>
            <p:cNvPr id="176" name="Repair footer 1">
              <a:extLst>
                <a:ext uri="{FF2B5EF4-FFF2-40B4-BE49-F238E27FC236}">
                  <a16:creationId xmlns:a16="http://schemas.microsoft.com/office/drawing/2014/main" id="{A3D21A60-D600-487C-99EC-9437C56CC951}"/>
                </a:ext>
              </a:extLst>
            </p:cNvPr>
            <p:cNvSpPr>
              <a:spLocks noGrp="1"/>
            </p:cNvSpPr>
            <p:nvPr/>
          </p:nvSpPr>
          <p:spPr>
            <a:xfrm>
              <a:off x="10315575" y="6457950"/>
              <a:ext cx="1724025" cy="2190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1177" b="0">
                  <a:solidFill>
                    <a:srgbClr val="264762"/>
                  </a:solidFill>
                  <a:latin typeface="Arial Narrow"/>
                  <a:ea typeface="Arial Narrow"/>
                  <a:cs typeface="Arial Narrow"/>
                </a:defRPr>
              </a:pPr>
              <a:r>
                <a:rPr sz="1177" b="0">
                  <a:solidFill>
                    <a:srgbClr val="264762"/>
                  </a:solidFill>
                  <a:latin typeface="Times New Roman" panose="02020603050405020304" pitchFamily="18" charset="0"/>
                  <a:ea typeface="Arial Narrow"/>
                  <a:cs typeface="Times New Roman" panose="02020603050405020304" pitchFamily="18" charset="0"/>
                </a:rPr>
                <a:t>Targeted patching with</a:t>
              </a:r>
            </a:p>
          </p:txBody>
        </p:sp>
        <p:sp>
          <p:nvSpPr>
            <p:cNvPr id="177" name="Repair footer 2">
              <a:extLst>
                <a:ext uri="{FF2B5EF4-FFF2-40B4-BE49-F238E27FC236}">
                  <a16:creationId xmlns:a16="http://schemas.microsoft.com/office/drawing/2014/main" id="{70EB2D74-2645-4533-BC19-59C9BD4FC3B2}"/>
                </a:ext>
              </a:extLst>
            </p:cNvPr>
            <p:cNvSpPr>
              <a:spLocks noGrp="1"/>
            </p:cNvSpPr>
            <p:nvPr/>
          </p:nvSpPr>
          <p:spPr>
            <a:xfrm>
              <a:off x="10315575" y="6648450"/>
              <a:ext cx="1724025" cy="2190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1177" b="0">
                  <a:solidFill>
                    <a:srgbClr val="264762"/>
                  </a:solidFill>
                  <a:latin typeface="Arial Narrow"/>
                  <a:ea typeface="Arial Narrow"/>
                  <a:cs typeface="Arial Narrow"/>
                </a:defRPr>
              </a:pPr>
              <a:r>
                <a:rPr sz="1177" b="0">
                  <a:solidFill>
                    <a:srgbClr val="264762"/>
                  </a:solidFill>
                  <a:latin typeface="Times New Roman" panose="02020603050405020304" pitchFamily="18" charset="0"/>
                  <a:ea typeface="Arial Narrow"/>
                  <a:cs typeface="Times New Roman" panose="02020603050405020304" pitchFamily="18" charset="0"/>
                </a:rPr>
                <a:t>framework-aware expertise</a:t>
              </a:r>
            </a:p>
          </p:txBody>
        </p:sp>
      </p:grpSp>
      <p:grpSp>
        <p:nvGrpSpPr>
          <p:cNvPr id="367" name="Main flow arrows"/>
          <p:cNvGrpSpPr/>
          <p:nvPr/>
        </p:nvGrpSpPr>
        <p:grpSpPr>
          <a:xfrm>
            <a:off x="3171825" y="3048000"/>
            <a:ext cx="9544050" cy="2352675"/>
            <a:chOff x="3171825" y="3048000"/>
            <a:chExt cx="9544050" cy="2352675"/>
          </a:xfrm>
        </p:grpSpPr>
        <p:sp>
          <p:nvSpPr>
            <p:cNvPr id="178" name="Input to translator">
              <a:extLst>
                <a:ext uri="{FF2B5EF4-FFF2-40B4-BE49-F238E27FC236}">
                  <a16:creationId xmlns:a16="http://schemas.microsoft.com/office/drawing/2014/main" id="{5824BFA6-7A60-4487-B8C8-A0EB97AE811A}"/>
                </a:ext>
              </a:extLst>
            </p:cNvPr>
            <p:cNvSpPr>
              <a:spLocks noGrp="1"/>
            </p:cNvSpPr>
            <p:nvPr/>
          </p:nvSpPr>
          <p:spPr>
            <a:xfrm>
              <a:off x="3171825" y="3981450"/>
              <a:ext cx="476250" cy="514350"/>
            </a:xfrm>
            <a:custGeom>
              <a:avLst/>
              <a:gdLst/>
              <a:ahLst/>
              <a:cxnLst/>
              <a:rect l="0" t="0" r="0" b="0"/>
              <a:pathLst>
                <a:path w="476250" h="514350">
                  <a:moveTo>
                    <a:pt x="0" y="154305"/>
                  </a:moveTo>
                  <a:lnTo>
                    <a:pt x="271463" y="154305"/>
                  </a:lnTo>
                  <a:lnTo>
                    <a:pt x="271463" y="0"/>
                  </a:lnTo>
                  <a:lnTo>
                    <a:pt x="476250" y="257175"/>
                  </a:lnTo>
                  <a:lnTo>
                    <a:pt x="271463" y="514350"/>
                  </a:lnTo>
                  <a:lnTo>
                    <a:pt x="271463" y="360045"/>
                  </a:lnTo>
                  <a:lnTo>
                    <a:pt x="0" y="360045"/>
                  </a:lnTo>
                  <a:close/>
                </a:path>
              </a:pathLst>
            </a:custGeom>
            <a:gradFill>
              <a:gsLst>
                <a:gs pos="0">
                  <a:srgbClr val="ACD4E8"/>
                </a:gs>
                <a:gs pos="100000">
                  <a:srgbClr val="7C8E9E"/>
                </a:gs>
              </a:gsLst>
              <a:lin ang="5400000"/>
            </a:gradFill>
            <a:ln w="19050">
              <a:solidFill>
                <a:srgbClr val="FFFFFF"/>
              </a:solidFill>
            </a:ln>
          </p:spPr>
        </p:sp>
        <p:sp>
          <p:nvSpPr>
            <p:cNvPr id="179" name="Translator to verifier upper">
              <a:extLst>
                <a:ext uri="{FF2B5EF4-FFF2-40B4-BE49-F238E27FC236}">
                  <a16:creationId xmlns:a16="http://schemas.microsoft.com/office/drawing/2014/main" id="{6445A77B-BE7B-405A-A56F-D5623AC66123}"/>
                </a:ext>
              </a:extLst>
            </p:cNvPr>
            <p:cNvSpPr>
              <a:spLocks noGrp="1"/>
            </p:cNvSpPr>
            <p:nvPr/>
          </p:nvSpPr>
          <p:spPr>
            <a:xfrm>
              <a:off x="6238875" y="3048000"/>
              <a:ext cx="381000" cy="409575"/>
            </a:xfrm>
            <a:custGeom>
              <a:avLst/>
              <a:gdLst/>
              <a:ahLst/>
              <a:cxnLst/>
              <a:rect l="0" t="0" r="0" b="0"/>
              <a:pathLst>
                <a:path w="381000" h="409575">
                  <a:moveTo>
                    <a:pt x="0" y="122872"/>
                  </a:moveTo>
                  <a:lnTo>
                    <a:pt x="217170" y="122872"/>
                  </a:lnTo>
                  <a:lnTo>
                    <a:pt x="217170" y="0"/>
                  </a:lnTo>
                  <a:lnTo>
                    <a:pt x="381000" y="204788"/>
                  </a:lnTo>
                  <a:lnTo>
                    <a:pt x="217170" y="409575"/>
                  </a:lnTo>
                  <a:lnTo>
                    <a:pt x="217170" y="286703"/>
                  </a:lnTo>
                  <a:lnTo>
                    <a:pt x="0" y="286703"/>
                  </a:lnTo>
                  <a:close/>
                </a:path>
              </a:pathLst>
            </a:custGeom>
            <a:gradFill>
              <a:gsLst>
                <a:gs pos="0">
                  <a:srgbClr val="ACD4E8"/>
                </a:gs>
                <a:gs pos="100000">
                  <a:srgbClr val="77B6DC"/>
                </a:gs>
              </a:gsLst>
              <a:lin ang="5400000"/>
            </a:gradFill>
            <a:ln w="19050">
              <a:solidFill>
                <a:srgbClr val="FFFFFF"/>
              </a:solidFill>
            </a:ln>
          </p:spPr>
        </p:sp>
        <p:sp>
          <p:nvSpPr>
            <p:cNvPr id="180" name="Translator to verifier evidence">
              <a:extLst>
                <a:ext uri="{FF2B5EF4-FFF2-40B4-BE49-F238E27FC236}">
                  <a16:creationId xmlns:a16="http://schemas.microsoft.com/office/drawing/2014/main" id="{F4CDA9AB-CFBF-4307-BC09-6BA22873D50D}"/>
                </a:ext>
              </a:extLst>
            </p:cNvPr>
            <p:cNvSpPr>
              <a:spLocks noGrp="1"/>
            </p:cNvSpPr>
            <p:nvPr/>
          </p:nvSpPr>
          <p:spPr>
            <a:xfrm>
              <a:off x="6238875" y="4991100"/>
              <a:ext cx="381000" cy="409575"/>
            </a:xfrm>
            <a:custGeom>
              <a:avLst/>
              <a:gdLst/>
              <a:ahLst/>
              <a:cxnLst/>
              <a:rect l="0" t="0" r="0" b="0"/>
              <a:pathLst>
                <a:path w="381000" h="409575">
                  <a:moveTo>
                    <a:pt x="0" y="122872"/>
                  </a:moveTo>
                  <a:lnTo>
                    <a:pt x="217170" y="122872"/>
                  </a:lnTo>
                  <a:lnTo>
                    <a:pt x="217170" y="0"/>
                  </a:lnTo>
                  <a:lnTo>
                    <a:pt x="381000" y="204788"/>
                  </a:lnTo>
                  <a:lnTo>
                    <a:pt x="217170" y="409575"/>
                  </a:lnTo>
                  <a:lnTo>
                    <a:pt x="217170" y="286703"/>
                  </a:lnTo>
                  <a:lnTo>
                    <a:pt x="0" y="286703"/>
                  </a:lnTo>
                  <a:close/>
                </a:path>
              </a:pathLst>
            </a:custGeom>
            <a:gradFill>
              <a:gsLst>
                <a:gs pos="0">
                  <a:srgbClr val="ACD4E8"/>
                </a:gs>
                <a:gs pos="100000">
                  <a:srgbClr val="77B6DC"/>
                </a:gs>
              </a:gsLst>
              <a:lin ang="5400000"/>
            </a:gradFill>
            <a:ln w="19050">
              <a:solidFill>
                <a:srgbClr val="FFFFFF"/>
              </a:solidFill>
            </a:ln>
          </p:spPr>
        </p:sp>
        <p:sp>
          <p:nvSpPr>
            <p:cNvPr id="181" name="Verifier to repair upper">
              <a:extLst>
                <a:ext uri="{FF2B5EF4-FFF2-40B4-BE49-F238E27FC236}">
                  <a16:creationId xmlns:a16="http://schemas.microsoft.com/office/drawing/2014/main" id="{3FDF75E4-5058-4F24-8D71-0A6E67E577B4}"/>
                </a:ext>
              </a:extLst>
            </p:cNvPr>
            <p:cNvSpPr>
              <a:spLocks noGrp="1"/>
            </p:cNvSpPr>
            <p:nvPr/>
          </p:nvSpPr>
          <p:spPr>
            <a:xfrm>
              <a:off x="9324975" y="3048000"/>
              <a:ext cx="409575" cy="409575"/>
            </a:xfrm>
            <a:custGeom>
              <a:avLst/>
              <a:gdLst/>
              <a:ahLst/>
              <a:cxnLst/>
              <a:rect l="0" t="0" r="0" b="0"/>
              <a:pathLst>
                <a:path w="409575" h="409575">
                  <a:moveTo>
                    <a:pt x="0" y="122872"/>
                  </a:moveTo>
                  <a:lnTo>
                    <a:pt x="233458" y="122872"/>
                  </a:lnTo>
                  <a:lnTo>
                    <a:pt x="233458" y="0"/>
                  </a:lnTo>
                  <a:lnTo>
                    <a:pt x="409575" y="204788"/>
                  </a:lnTo>
                  <a:lnTo>
                    <a:pt x="233458" y="409575"/>
                  </a:lnTo>
                  <a:lnTo>
                    <a:pt x="233458" y="286703"/>
                  </a:lnTo>
                  <a:lnTo>
                    <a:pt x="0" y="286703"/>
                  </a:lnTo>
                  <a:close/>
                </a:path>
              </a:pathLst>
            </a:custGeom>
            <a:gradFill>
              <a:gsLst>
                <a:gs pos="0">
                  <a:srgbClr val="ACD4E8"/>
                </a:gs>
                <a:gs pos="100000">
                  <a:srgbClr val="77B6DC"/>
                </a:gs>
              </a:gsLst>
              <a:lin ang="5400000"/>
            </a:gradFill>
            <a:ln w="19050">
              <a:solidFill>
                <a:srgbClr val="FFFFFF"/>
              </a:solidFill>
            </a:ln>
          </p:spPr>
        </p:sp>
        <p:sp>
          <p:nvSpPr>
            <p:cNvPr id="182" name="Verifier to repair evidence">
              <a:extLst>
                <a:ext uri="{FF2B5EF4-FFF2-40B4-BE49-F238E27FC236}">
                  <a16:creationId xmlns:a16="http://schemas.microsoft.com/office/drawing/2014/main" id="{B07F597C-8000-4070-9F68-99D654BB8C88}"/>
                </a:ext>
              </a:extLst>
            </p:cNvPr>
            <p:cNvSpPr>
              <a:spLocks noGrp="1"/>
            </p:cNvSpPr>
            <p:nvPr/>
          </p:nvSpPr>
          <p:spPr>
            <a:xfrm>
              <a:off x="9324975" y="4991100"/>
              <a:ext cx="409575" cy="409575"/>
            </a:xfrm>
            <a:custGeom>
              <a:avLst/>
              <a:gdLst/>
              <a:ahLst/>
              <a:cxnLst/>
              <a:rect l="0" t="0" r="0" b="0"/>
              <a:pathLst>
                <a:path w="409575" h="409575">
                  <a:moveTo>
                    <a:pt x="0" y="122872"/>
                  </a:moveTo>
                  <a:lnTo>
                    <a:pt x="233458" y="122872"/>
                  </a:lnTo>
                  <a:lnTo>
                    <a:pt x="233458" y="0"/>
                  </a:lnTo>
                  <a:lnTo>
                    <a:pt x="409575" y="204788"/>
                  </a:lnTo>
                  <a:lnTo>
                    <a:pt x="233458" y="409575"/>
                  </a:lnTo>
                  <a:lnTo>
                    <a:pt x="233458" y="286703"/>
                  </a:lnTo>
                  <a:lnTo>
                    <a:pt x="0" y="286703"/>
                  </a:lnTo>
                  <a:close/>
                </a:path>
              </a:pathLst>
            </a:custGeom>
            <a:gradFill>
              <a:gsLst>
                <a:gs pos="0">
                  <a:srgbClr val="ACD4E8"/>
                </a:gs>
                <a:gs pos="100000">
                  <a:srgbClr val="77B6DC"/>
                </a:gs>
              </a:gsLst>
              <a:lin ang="5400000"/>
            </a:gradFill>
            <a:ln w="19050">
              <a:solidFill>
                <a:srgbClr val="FFFFFF"/>
              </a:solidFill>
            </a:ln>
          </p:spPr>
        </p:sp>
        <p:sp>
          <p:nvSpPr>
            <p:cNvPr id="183" name="Repair to target frameworks">
              <a:extLst>
                <a:ext uri="{FF2B5EF4-FFF2-40B4-BE49-F238E27FC236}">
                  <a16:creationId xmlns:a16="http://schemas.microsoft.com/office/drawing/2014/main" id="{CC282FC0-7008-4148-A398-A56E1286E3B9}"/>
                </a:ext>
              </a:extLst>
            </p:cNvPr>
            <p:cNvSpPr>
              <a:spLocks noGrp="1"/>
            </p:cNvSpPr>
            <p:nvPr/>
          </p:nvSpPr>
          <p:spPr>
            <a:xfrm>
              <a:off x="12268200" y="3800475"/>
              <a:ext cx="447675" cy="438150"/>
            </a:xfrm>
            <a:custGeom>
              <a:avLst/>
              <a:gdLst/>
              <a:ahLst/>
              <a:cxnLst/>
              <a:rect l="0" t="0" r="0" b="0"/>
              <a:pathLst>
                <a:path w="447675" h="438150">
                  <a:moveTo>
                    <a:pt x="0" y="131445"/>
                  </a:moveTo>
                  <a:lnTo>
                    <a:pt x="255175" y="131445"/>
                  </a:lnTo>
                  <a:lnTo>
                    <a:pt x="255175" y="0"/>
                  </a:lnTo>
                  <a:lnTo>
                    <a:pt x="447675" y="219075"/>
                  </a:lnTo>
                  <a:lnTo>
                    <a:pt x="255175" y="438150"/>
                  </a:lnTo>
                  <a:lnTo>
                    <a:pt x="255175" y="306705"/>
                  </a:lnTo>
                  <a:lnTo>
                    <a:pt x="0" y="306705"/>
                  </a:lnTo>
                  <a:close/>
                </a:path>
              </a:pathLst>
            </a:custGeom>
            <a:gradFill>
              <a:gsLst>
                <a:gs pos="0">
                  <a:srgbClr val="ACD4E8"/>
                </a:gs>
                <a:gs pos="100000">
                  <a:srgbClr val="8096A5"/>
                </a:gs>
              </a:gsLst>
              <a:lin ang="5400000"/>
            </a:gradFill>
            <a:ln w="19050">
              <a:solidFill>
                <a:srgbClr val="FFFFFF"/>
              </a:solidFill>
            </a:ln>
          </p:spPr>
        </p:sp>
      </p:grpSp>
      <p:grpSp>
        <p:nvGrpSpPr>
          <p:cNvPr id="368" name="Iteration feedback"/>
          <p:cNvGrpSpPr/>
          <p:nvPr/>
        </p:nvGrpSpPr>
        <p:grpSpPr>
          <a:xfrm>
            <a:off x="4924425" y="6934200"/>
            <a:ext cx="6000750" cy="352425"/>
            <a:chOff x="4924425" y="6934200"/>
            <a:chExt cx="6000750" cy="352425"/>
          </a:xfrm>
        </p:grpSpPr>
        <p:sp>
          <p:nvSpPr>
            <p:cNvPr id="184" name="Updated candidate return line">
              <a:extLst>
                <a:ext uri="{FF2B5EF4-FFF2-40B4-BE49-F238E27FC236}">
                  <a16:creationId xmlns:a16="http://schemas.microsoft.com/office/drawing/2014/main" id="{DCFC20AF-04D0-4F8B-B4F7-C702A679B355}"/>
                </a:ext>
              </a:extLst>
            </p:cNvPr>
            <p:cNvSpPr>
              <a:spLocks noGrp="1"/>
            </p:cNvSpPr>
            <p:nvPr/>
          </p:nvSpPr>
          <p:spPr>
            <a:xfrm>
              <a:off x="5029200" y="6934200"/>
              <a:ext cx="5895975" cy="352425"/>
            </a:xfrm>
            <a:custGeom>
              <a:avLst/>
              <a:gdLst/>
              <a:ahLst/>
              <a:cxnLst/>
              <a:rect l="0" t="0" r="0" b="0"/>
              <a:pathLst>
                <a:path w="5895975" h="352425">
                  <a:moveTo>
                    <a:pt x="5895975" y="0"/>
                  </a:moveTo>
                  <a:lnTo>
                    <a:pt x="5895975" y="190500"/>
                  </a:lnTo>
                  <a:lnTo>
                    <a:pt x="5857875" y="285750"/>
                  </a:lnTo>
                  <a:lnTo>
                    <a:pt x="5762625" y="352425"/>
                  </a:lnTo>
                  <a:lnTo>
                    <a:pt x="190500" y="352425"/>
                  </a:lnTo>
                  <a:lnTo>
                    <a:pt x="85725" y="323850"/>
                  </a:lnTo>
                  <a:lnTo>
                    <a:pt x="19050" y="228600"/>
                  </a:lnTo>
                  <a:lnTo>
                    <a:pt x="0" y="114300"/>
                  </a:lnTo>
                </a:path>
              </a:pathLst>
            </a:custGeom>
            <a:noFill/>
            <a:ln w="95250">
              <a:solidFill>
                <a:srgbClr val="FFFFFF"/>
              </a:solidFill>
            </a:ln>
          </p:spPr>
        </p:sp>
        <p:sp>
          <p:nvSpPr>
            <p:cNvPr id="185" name="Updated candidate return connector">
              <a:extLst>
                <a:ext uri="{FF2B5EF4-FFF2-40B4-BE49-F238E27FC236}">
                  <a16:creationId xmlns:a16="http://schemas.microsoft.com/office/drawing/2014/main" id="{5065094F-B1A6-4746-8D7D-D41BE25B4FBD}"/>
                </a:ext>
              </a:extLst>
            </p:cNvPr>
            <p:cNvSpPr>
              <a:spLocks noGrp="1"/>
            </p:cNvSpPr>
            <p:nvPr/>
          </p:nvSpPr>
          <p:spPr>
            <a:xfrm>
              <a:off x="5029200" y="6934200"/>
              <a:ext cx="5895975" cy="352425"/>
            </a:xfrm>
            <a:custGeom>
              <a:avLst/>
              <a:gdLst/>
              <a:ahLst/>
              <a:cxnLst/>
              <a:rect l="0" t="0" r="0" b="0"/>
              <a:pathLst>
                <a:path w="5895975" h="352425">
                  <a:moveTo>
                    <a:pt x="5895975" y="0"/>
                  </a:moveTo>
                  <a:lnTo>
                    <a:pt x="5895975" y="190500"/>
                  </a:lnTo>
                  <a:lnTo>
                    <a:pt x="5857875" y="285750"/>
                  </a:lnTo>
                  <a:lnTo>
                    <a:pt x="5762625" y="352425"/>
                  </a:lnTo>
                  <a:lnTo>
                    <a:pt x="190500" y="352425"/>
                  </a:lnTo>
                  <a:lnTo>
                    <a:pt x="85725" y="323850"/>
                  </a:lnTo>
                  <a:lnTo>
                    <a:pt x="19050" y="228600"/>
                  </a:lnTo>
                  <a:lnTo>
                    <a:pt x="0" y="114300"/>
                  </a:lnTo>
                </a:path>
              </a:pathLst>
            </a:custGeom>
            <a:noFill/>
            <a:ln w="57150">
              <a:solidFill>
                <a:srgbClr val="558DBB"/>
              </a:solidFill>
            </a:ln>
          </p:spPr>
        </p:sp>
        <p:sp>
          <p:nvSpPr>
            <p:cNvPr id="186" name="Updated candidate arrowhead">
              <a:extLst>
                <a:ext uri="{FF2B5EF4-FFF2-40B4-BE49-F238E27FC236}">
                  <a16:creationId xmlns:a16="http://schemas.microsoft.com/office/drawing/2014/main" id="{71E27698-72CE-4F48-847E-98AA402A19CB}"/>
                </a:ext>
              </a:extLst>
            </p:cNvPr>
            <p:cNvSpPr>
              <a:spLocks noGrp="1"/>
            </p:cNvSpPr>
            <p:nvPr/>
          </p:nvSpPr>
          <p:spPr>
            <a:xfrm>
              <a:off x="4924425" y="6953250"/>
              <a:ext cx="190500" cy="152400"/>
            </a:xfrm>
            <a:custGeom>
              <a:avLst/>
              <a:gdLst/>
              <a:ahLst/>
              <a:cxnLst/>
              <a:rect l="0" t="0" r="0" b="0"/>
              <a:pathLst>
                <a:path w="190500" h="152400">
                  <a:moveTo>
                    <a:pt x="0" y="152400"/>
                  </a:moveTo>
                  <a:lnTo>
                    <a:pt x="95250" y="0"/>
                  </a:lnTo>
                  <a:lnTo>
                    <a:pt x="190500" y="152400"/>
                  </a:lnTo>
                  <a:close/>
                </a:path>
              </a:pathLst>
            </a:custGeom>
            <a:solidFill>
              <a:srgbClr val="558DBB"/>
            </a:solidFill>
            <a:ln w="14288">
              <a:solidFill>
                <a:srgbClr val="FFFFFF"/>
              </a:solidFill>
            </a:ln>
          </p:spPr>
        </p:sp>
        <p:sp>
          <p:nvSpPr>
            <p:cNvPr id="187" name="Updated candidate next round label">
              <a:extLst>
                <a:ext uri="{FF2B5EF4-FFF2-40B4-BE49-F238E27FC236}">
                  <a16:creationId xmlns:a16="http://schemas.microsoft.com/office/drawing/2014/main" id="{A2272665-DC39-4167-8323-E40473749B08}"/>
                </a:ext>
              </a:extLst>
            </p:cNvPr>
            <p:cNvSpPr>
              <a:spLocks noGrp="1"/>
            </p:cNvSpPr>
            <p:nvPr/>
          </p:nvSpPr>
          <p:spPr>
            <a:xfrm>
              <a:off x="7115175" y="7077075"/>
              <a:ext cx="2886075" cy="2095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1200" b="0" i="1">
                  <a:solidFill>
                    <a:srgbClr val="0A559E"/>
                  </a:solidFill>
                  <a:latin typeface="Arial Narrow"/>
                  <a:ea typeface="Arial Narrow"/>
                  <a:cs typeface="Arial Narrow"/>
                </a:defRPr>
              </a:pPr>
              <a:r>
                <a:rPr sz="1200" b="0" i="1">
                  <a:solidFill>
                    <a:srgbClr val="0A559E"/>
                  </a:solidFill>
                  <a:latin typeface="Times New Roman" panose="02020603050405020304" pitchFamily="18" charset="0"/>
                  <a:ea typeface="Arial Narrow"/>
                  <a:cs typeface="Times New Roman" panose="02020603050405020304" pitchFamily="18" charset="0"/>
                </a:rPr>
                <a:t>Updated candidate (next round)</a:t>
              </a:r>
            </a:p>
          </p:txBody>
        </p:sp>
      </p:grpSp>
      <p:grpSp>
        <p:nvGrpSpPr>
          <p:cNvPr id="369" name="Shared workspace"/>
          <p:cNvGrpSpPr/>
          <p:nvPr/>
        </p:nvGrpSpPr>
        <p:grpSpPr>
          <a:xfrm>
            <a:off x="3705225" y="7429500"/>
            <a:ext cx="8524875" cy="904875"/>
            <a:chOff x="3705225" y="7429500"/>
            <a:chExt cx="8524875" cy="904875"/>
          </a:xfrm>
        </p:grpSpPr>
        <p:sp>
          <p:nvSpPr>
            <p:cNvPr id="188" name="Shared workspace card">
              <a:extLst>
                <a:ext uri="{FF2B5EF4-FFF2-40B4-BE49-F238E27FC236}">
                  <a16:creationId xmlns:a16="http://schemas.microsoft.com/office/drawing/2014/main" id="{AE233AC5-D4E5-484A-813A-0E0BFF6D1FB3}"/>
                </a:ext>
              </a:extLst>
            </p:cNvPr>
            <p:cNvSpPr>
              <a:spLocks noGrp="1"/>
            </p:cNvSpPr>
            <p:nvPr/>
          </p:nvSpPr>
          <p:spPr>
            <a:xfrm>
              <a:off x="3705225" y="7429500"/>
              <a:ext cx="8524875" cy="904875"/>
            </a:xfrm>
            <a:prstGeom prst="roundRect">
              <a:avLst>
                <a:gd name="adj" fmla="val 20000"/>
              </a:avLst>
            </a:prstGeom>
            <a:gradFill>
              <a:gsLst>
                <a:gs pos="0">
                  <a:srgbClr val="F5F2FF"/>
                </a:gs>
                <a:gs pos="100000">
                  <a:srgbClr val="F0EDFE"/>
                </a:gs>
              </a:gsLst>
              <a:lin ang="5400000"/>
            </a:gradFill>
            <a:ln w="22860">
              <a:solidFill>
                <a:srgbClr val="A397DE"/>
              </a:solidFill>
            </a:ln>
          </p:spPr>
        </p:sp>
        <p:sp>
          <p:nvSpPr>
            <p:cNvPr id="189" name="Database badge">
              <a:extLst>
                <a:ext uri="{FF2B5EF4-FFF2-40B4-BE49-F238E27FC236}">
                  <a16:creationId xmlns:a16="http://schemas.microsoft.com/office/drawing/2014/main" id="{DD8722EA-EC75-43F8-9E28-574374FFC4F4}"/>
                </a:ext>
              </a:extLst>
            </p:cNvPr>
            <p:cNvSpPr>
              <a:spLocks noGrp="1"/>
            </p:cNvSpPr>
            <p:nvPr/>
          </p:nvSpPr>
          <p:spPr>
            <a:xfrm>
              <a:off x="3857625" y="7562850"/>
              <a:ext cx="638175" cy="619125"/>
            </a:xfrm>
            <a:prstGeom prst="roundRect">
              <a:avLst>
                <a:gd name="adj" fmla="val 43077"/>
              </a:avLst>
            </a:prstGeom>
            <a:gradFill>
              <a:gsLst>
                <a:gs pos="0">
                  <a:srgbClr val="D4CCF8"/>
                </a:gs>
                <a:gs pos="100000">
                  <a:srgbClr val="B6B0EF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90" name="Workspace database 0">
              <a:extLst>
                <a:ext uri="{FF2B5EF4-FFF2-40B4-BE49-F238E27FC236}">
                  <a16:creationId xmlns:a16="http://schemas.microsoft.com/office/drawing/2014/main" id="{73BB5F78-8A0D-4C52-A7B5-25FEF4523673}"/>
                </a:ext>
              </a:extLst>
            </p:cNvPr>
            <p:cNvSpPr>
              <a:spLocks noGrp="1"/>
            </p:cNvSpPr>
            <p:nvPr/>
          </p:nvSpPr>
          <p:spPr>
            <a:xfrm>
              <a:off x="4050506" y="7710488"/>
              <a:ext cx="242887" cy="100013"/>
            </a:xfrm>
            <a:custGeom>
              <a:avLst/>
              <a:gdLst/>
              <a:ahLst/>
              <a:cxnLst/>
              <a:rect l="0" t="0" r="0" b="0"/>
              <a:pathLst>
                <a:path w="242887" h="100013">
                  <a:moveTo>
                    <a:pt x="242887" y="50006"/>
                  </a:moveTo>
                  <a:lnTo>
                    <a:pt x="241665" y="57083"/>
                  </a:lnTo>
                  <a:lnTo>
                    <a:pt x="237781" y="64355"/>
                  </a:lnTo>
                  <a:lnTo>
                    <a:pt x="232536" y="70208"/>
                  </a:lnTo>
                  <a:lnTo>
                    <a:pt x="227723" y="74204"/>
                  </a:lnTo>
                  <a:lnTo>
                    <a:pt x="221986" y="78054"/>
                  </a:lnTo>
                  <a:lnTo>
                    <a:pt x="215369" y="81706"/>
                  </a:lnTo>
                  <a:lnTo>
                    <a:pt x="207937" y="85109"/>
                  </a:lnTo>
                  <a:lnTo>
                    <a:pt x="202102" y="87390"/>
                  </a:lnTo>
                  <a:lnTo>
                    <a:pt x="196132" y="89437"/>
                  </a:lnTo>
                  <a:lnTo>
                    <a:pt x="189882" y="91316"/>
                  </a:lnTo>
                  <a:lnTo>
                    <a:pt x="183394" y="93017"/>
                  </a:lnTo>
                  <a:lnTo>
                    <a:pt x="176711" y="94534"/>
                  </a:lnTo>
                  <a:lnTo>
                    <a:pt x="169879" y="95863"/>
                  </a:lnTo>
                  <a:lnTo>
                    <a:pt x="162942" y="97002"/>
                  </a:lnTo>
                  <a:lnTo>
                    <a:pt x="155945" y="97952"/>
                  </a:lnTo>
                  <a:lnTo>
                    <a:pt x="148929" y="98715"/>
                  </a:lnTo>
                  <a:lnTo>
                    <a:pt x="141936" y="99295"/>
                  </a:lnTo>
                  <a:lnTo>
                    <a:pt x="135002" y="99700"/>
                  </a:lnTo>
                  <a:lnTo>
                    <a:pt x="128161" y="99936"/>
                  </a:lnTo>
                  <a:lnTo>
                    <a:pt x="121444" y="100013"/>
                  </a:lnTo>
                  <a:lnTo>
                    <a:pt x="114727" y="99936"/>
                  </a:lnTo>
                  <a:lnTo>
                    <a:pt x="107886" y="99700"/>
                  </a:lnTo>
                  <a:lnTo>
                    <a:pt x="100952" y="99295"/>
                  </a:lnTo>
                  <a:lnTo>
                    <a:pt x="93958" y="98715"/>
                  </a:lnTo>
                  <a:lnTo>
                    <a:pt x="86943" y="97952"/>
                  </a:lnTo>
                  <a:lnTo>
                    <a:pt x="79945" y="97002"/>
                  </a:lnTo>
                  <a:lnTo>
                    <a:pt x="73008" y="95863"/>
                  </a:lnTo>
                  <a:lnTo>
                    <a:pt x="66176" y="94534"/>
                  </a:lnTo>
                  <a:lnTo>
                    <a:pt x="59494" y="93017"/>
                  </a:lnTo>
                  <a:lnTo>
                    <a:pt x="53005" y="91316"/>
                  </a:lnTo>
                  <a:lnTo>
                    <a:pt x="46755" y="89437"/>
                  </a:lnTo>
                  <a:lnTo>
                    <a:pt x="40786" y="87390"/>
                  </a:lnTo>
                  <a:lnTo>
                    <a:pt x="34950" y="85109"/>
                  </a:lnTo>
                  <a:lnTo>
                    <a:pt x="27518" y="81706"/>
                  </a:lnTo>
                  <a:lnTo>
                    <a:pt x="20901" y="78054"/>
                  </a:lnTo>
                  <a:lnTo>
                    <a:pt x="15165" y="74204"/>
                  </a:lnTo>
                  <a:lnTo>
                    <a:pt x="10351" y="70208"/>
                  </a:lnTo>
                  <a:lnTo>
                    <a:pt x="5107" y="64355"/>
                  </a:lnTo>
                  <a:lnTo>
                    <a:pt x="1222" y="57083"/>
                  </a:lnTo>
                  <a:lnTo>
                    <a:pt x="0" y="50006"/>
                  </a:lnTo>
                  <a:lnTo>
                    <a:pt x="1222" y="42929"/>
                  </a:lnTo>
                  <a:lnTo>
                    <a:pt x="5107" y="35657"/>
                  </a:lnTo>
                  <a:lnTo>
                    <a:pt x="10351" y="29805"/>
                  </a:lnTo>
                  <a:lnTo>
                    <a:pt x="15165" y="25809"/>
                  </a:lnTo>
                  <a:lnTo>
                    <a:pt x="20901" y="21959"/>
                  </a:lnTo>
                  <a:lnTo>
                    <a:pt x="27518" y="18307"/>
                  </a:lnTo>
                  <a:lnTo>
                    <a:pt x="34950" y="14904"/>
                  </a:lnTo>
                  <a:lnTo>
                    <a:pt x="40786" y="12622"/>
                  </a:lnTo>
                  <a:lnTo>
                    <a:pt x="46755" y="10575"/>
                  </a:lnTo>
                  <a:lnTo>
                    <a:pt x="53005" y="8697"/>
                  </a:lnTo>
                  <a:lnTo>
                    <a:pt x="59494" y="6996"/>
                  </a:lnTo>
                  <a:lnTo>
                    <a:pt x="66176" y="5478"/>
                  </a:lnTo>
                  <a:lnTo>
                    <a:pt x="73008" y="4149"/>
                  </a:lnTo>
                  <a:lnTo>
                    <a:pt x="79945" y="3010"/>
                  </a:lnTo>
                  <a:lnTo>
                    <a:pt x="86943" y="2060"/>
                  </a:lnTo>
                  <a:lnTo>
                    <a:pt x="93958" y="1298"/>
                  </a:lnTo>
                  <a:lnTo>
                    <a:pt x="100952" y="717"/>
                  </a:lnTo>
                  <a:lnTo>
                    <a:pt x="107886" y="313"/>
                  </a:lnTo>
                  <a:lnTo>
                    <a:pt x="114727" y="77"/>
                  </a:lnTo>
                  <a:lnTo>
                    <a:pt x="121444" y="0"/>
                  </a:lnTo>
                  <a:lnTo>
                    <a:pt x="128161" y="77"/>
                  </a:lnTo>
                  <a:lnTo>
                    <a:pt x="135002" y="313"/>
                  </a:lnTo>
                  <a:lnTo>
                    <a:pt x="141936" y="717"/>
                  </a:lnTo>
                  <a:lnTo>
                    <a:pt x="148929" y="1298"/>
                  </a:lnTo>
                  <a:lnTo>
                    <a:pt x="155945" y="2060"/>
                  </a:lnTo>
                  <a:lnTo>
                    <a:pt x="162942" y="3010"/>
                  </a:lnTo>
                  <a:lnTo>
                    <a:pt x="169879" y="4149"/>
                  </a:lnTo>
                  <a:lnTo>
                    <a:pt x="176711" y="5478"/>
                  </a:lnTo>
                  <a:lnTo>
                    <a:pt x="183394" y="6996"/>
                  </a:lnTo>
                  <a:lnTo>
                    <a:pt x="189882" y="8697"/>
                  </a:lnTo>
                  <a:lnTo>
                    <a:pt x="196132" y="10575"/>
                  </a:lnTo>
                  <a:lnTo>
                    <a:pt x="202102" y="12622"/>
                  </a:lnTo>
                  <a:lnTo>
                    <a:pt x="207937" y="14904"/>
                  </a:lnTo>
                  <a:lnTo>
                    <a:pt x="215369" y="18307"/>
                  </a:lnTo>
                  <a:lnTo>
                    <a:pt x="221986" y="21959"/>
                  </a:lnTo>
                  <a:lnTo>
                    <a:pt x="227723" y="25809"/>
                  </a:lnTo>
                  <a:lnTo>
                    <a:pt x="232536" y="29805"/>
                  </a:lnTo>
                  <a:lnTo>
                    <a:pt x="237781" y="35657"/>
                  </a:lnTo>
                  <a:lnTo>
                    <a:pt x="241665" y="42929"/>
                  </a:lnTo>
                  <a:lnTo>
                    <a:pt x="242887" y="50006"/>
                  </a:lnTo>
                  <a:close/>
                </a:path>
              </a:pathLst>
            </a:custGeom>
            <a:solidFill>
              <a:srgbClr val="183A5D"/>
            </a:solidFill>
            <a:ln w="26988">
              <a:solidFill>
                <a:srgbClr val="133853"/>
              </a:solidFill>
            </a:ln>
          </p:spPr>
        </p:sp>
        <p:sp>
          <p:nvSpPr>
            <p:cNvPr id="191" name="Workspace database 1">
              <a:extLst>
                <a:ext uri="{FF2B5EF4-FFF2-40B4-BE49-F238E27FC236}">
                  <a16:creationId xmlns:a16="http://schemas.microsoft.com/office/drawing/2014/main" id="{09E928DE-F7ED-4795-8B73-DA4CE87F741E}"/>
                </a:ext>
              </a:extLst>
            </p:cNvPr>
            <p:cNvSpPr>
              <a:spLocks noGrp="1"/>
            </p:cNvSpPr>
            <p:nvPr/>
          </p:nvSpPr>
          <p:spPr>
            <a:xfrm>
              <a:off x="4050506" y="7760494"/>
              <a:ext cx="242888" cy="283333"/>
            </a:xfrm>
            <a:custGeom>
              <a:avLst/>
              <a:gdLst/>
              <a:ahLst/>
              <a:cxnLst/>
              <a:rect l="0" t="0" r="0" b="0"/>
              <a:pathLst>
                <a:path w="242888" h="283333">
                  <a:moveTo>
                    <a:pt x="0" y="0"/>
                  </a:moveTo>
                  <a:lnTo>
                    <a:pt x="0" y="8257"/>
                  </a:lnTo>
                  <a:lnTo>
                    <a:pt x="0" y="16513"/>
                  </a:lnTo>
                  <a:lnTo>
                    <a:pt x="0" y="24770"/>
                  </a:lnTo>
                  <a:lnTo>
                    <a:pt x="0" y="33027"/>
                  </a:lnTo>
                  <a:lnTo>
                    <a:pt x="0" y="41284"/>
                  </a:lnTo>
                  <a:lnTo>
                    <a:pt x="0" y="49540"/>
                  </a:lnTo>
                  <a:lnTo>
                    <a:pt x="0" y="57797"/>
                  </a:lnTo>
                  <a:lnTo>
                    <a:pt x="0" y="66054"/>
                  </a:lnTo>
                  <a:lnTo>
                    <a:pt x="0" y="74310"/>
                  </a:lnTo>
                  <a:lnTo>
                    <a:pt x="0" y="82567"/>
                  </a:lnTo>
                  <a:lnTo>
                    <a:pt x="0" y="90824"/>
                  </a:lnTo>
                  <a:lnTo>
                    <a:pt x="0" y="99080"/>
                  </a:lnTo>
                  <a:lnTo>
                    <a:pt x="0" y="107337"/>
                  </a:lnTo>
                  <a:lnTo>
                    <a:pt x="0" y="115594"/>
                  </a:lnTo>
                  <a:lnTo>
                    <a:pt x="0" y="123851"/>
                  </a:lnTo>
                  <a:lnTo>
                    <a:pt x="0" y="132107"/>
                  </a:lnTo>
                  <a:lnTo>
                    <a:pt x="0" y="140364"/>
                  </a:lnTo>
                  <a:lnTo>
                    <a:pt x="0" y="148621"/>
                  </a:lnTo>
                  <a:lnTo>
                    <a:pt x="0" y="156877"/>
                  </a:lnTo>
                  <a:lnTo>
                    <a:pt x="0" y="165134"/>
                  </a:lnTo>
                  <a:lnTo>
                    <a:pt x="0" y="173391"/>
                  </a:lnTo>
                  <a:lnTo>
                    <a:pt x="0" y="181647"/>
                  </a:lnTo>
                  <a:lnTo>
                    <a:pt x="0" y="189904"/>
                  </a:lnTo>
                  <a:lnTo>
                    <a:pt x="0" y="198161"/>
                  </a:lnTo>
                  <a:lnTo>
                    <a:pt x="0" y="206418"/>
                  </a:lnTo>
                  <a:lnTo>
                    <a:pt x="0" y="214674"/>
                  </a:lnTo>
                  <a:lnTo>
                    <a:pt x="0" y="222931"/>
                  </a:lnTo>
                  <a:lnTo>
                    <a:pt x="0" y="231188"/>
                  </a:lnTo>
                  <a:lnTo>
                    <a:pt x="858" y="239321"/>
                  </a:lnTo>
                  <a:lnTo>
                    <a:pt x="4198" y="246427"/>
                  </a:lnTo>
                  <a:lnTo>
                    <a:pt x="8947" y="252218"/>
                  </a:lnTo>
                  <a:lnTo>
                    <a:pt x="14399" y="256984"/>
                  </a:lnTo>
                  <a:lnTo>
                    <a:pt x="20238" y="260995"/>
                  </a:lnTo>
                  <a:lnTo>
                    <a:pt x="26314" y="264433"/>
                  </a:lnTo>
                  <a:lnTo>
                    <a:pt x="32546" y="267415"/>
                  </a:lnTo>
                  <a:lnTo>
                    <a:pt x="38888" y="270020"/>
                  </a:lnTo>
                  <a:lnTo>
                    <a:pt x="45310" y="272307"/>
                  </a:lnTo>
                  <a:lnTo>
                    <a:pt x="51793" y="274315"/>
                  </a:lnTo>
                  <a:lnTo>
                    <a:pt x="58323" y="276075"/>
                  </a:lnTo>
                  <a:lnTo>
                    <a:pt x="64891" y="277610"/>
                  </a:lnTo>
                  <a:lnTo>
                    <a:pt x="71487" y="278938"/>
                  </a:lnTo>
                  <a:lnTo>
                    <a:pt x="78108" y="280074"/>
                  </a:lnTo>
                  <a:lnTo>
                    <a:pt x="84747" y="281028"/>
                  </a:lnTo>
                  <a:lnTo>
                    <a:pt x="91401" y="281809"/>
                  </a:lnTo>
                  <a:lnTo>
                    <a:pt x="98066" y="282426"/>
                  </a:lnTo>
                  <a:lnTo>
                    <a:pt x="104740" y="282882"/>
                  </a:lnTo>
                  <a:lnTo>
                    <a:pt x="111419" y="283183"/>
                  </a:lnTo>
                  <a:lnTo>
                    <a:pt x="118102" y="283333"/>
                  </a:lnTo>
                  <a:lnTo>
                    <a:pt x="124786" y="283333"/>
                  </a:lnTo>
                  <a:lnTo>
                    <a:pt x="131468" y="283183"/>
                  </a:lnTo>
                  <a:lnTo>
                    <a:pt x="138148" y="282882"/>
                  </a:lnTo>
                  <a:lnTo>
                    <a:pt x="144822" y="282426"/>
                  </a:lnTo>
                  <a:lnTo>
                    <a:pt x="151487" y="281809"/>
                  </a:lnTo>
                  <a:lnTo>
                    <a:pt x="158141" y="281028"/>
                  </a:lnTo>
                  <a:lnTo>
                    <a:pt x="164780" y="280074"/>
                  </a:lnTo>
                  <a:lnTo>
                    <a:pt x="171400" y="278938"/>
                  </a:lnTo>
                  <a:lnTo>
                    <a:pt x="177997" y="277610"/>
                  </a:lnTo>
                  <a:lnTo>
                    <a:pt x="184564" y="276075"/>
                  </a:lnTo>
                  <a:lnTo>
                    <a:pt x="191094" y="274315"/>
                  </a:lnTo>
                  <a:lnTo>
                    <a:pt x="197577" y="272307"/>
                  </a:lnTo>
                  <a:lnTo>
                    <a:pt x="203999" y="270020"/>
                  </a:lnTo>
                  <a:lnTo>
                    <a:pt x="210341" y="267415"/>
                  </a:lnTo>
                  <a:lnTo>
                    <a:pt x="216573" y="264433"/>
                  </a:lnTo>
                  <a:lnTo>
                    <a:pt x="222649" y="260995"/>
                  </a:lnTo>
                  <a:lnTo>
                    <a:pt x="228489" y="256984"/>
                  </a:lnTo>
                  <a:lnTo>
                    <a:pt x="233941" y="252218"/>
                  </a:lnTo>
                  <a:lnTo>
                    <a:pt x="238689" y="246427"/>
                  </a:lnTo>
                  <a:lnTo>
                    <a:pt x="242029" y="239321"/>
                  </a:lnTo>
                  <a:lnTo>
                    <a:pt x="242888" y="231188"/>
                  </a:lnTo>
                  <a:lnTo>
                    <a:pt x="242888" y="222931"/>
                  </a:lnTo>
                  <a:lnTo>
                    <a:pt x="242888" y="214674"/>
                  </a:lnTo>
                  <a:lnTo>
                    <a:pt x="242888" y="206418"/>
                  </a:lnTo>
                  <a:lnTo>
                    <a:pt x="242888" y="198161"/>
                  </a:lnTo>
                  <a:lnTo>
                    <a:pt x="242888" y="189904"/>
                  </a:lnTo>
                  <a:lnTo>
                    <a:pt x="242888" y="181647"/>
                  </a:lnTo>
                  <a:lnTo>
                    <a:pt x="242888" y="173391"/>
                  </a:lnTo>
                  <a:lnTo>
                    <a:pt x="242888" y="165134"/>
                  </a:lnTo>
                  <a:lnTo>
                    <a:pt x="242888" y="156877"/>
                  </a:lnTo>
                  <a:lnTo>
                    <a:pt x="242888" y="148621"/>
                  </a:lnTo>
                  <a:lnTo>
                    <a:pt x="242888" y="140364"/>
                  </a:lnTo>
                  <a:lnTo>
                    <a:pt x="242888" y="132107"/>
                  </a:lnTo>
                  <a:lnTo>
                    <a:pt x="242888" y="123851"/>
                  </a:lnTo>
                  <a:lnTo>
                    <a:pt x="242888" y="115594"/>
                  </a:lnTo>
                  <a:lnTo>
                    <a:pt x="242888" y="107337"/>
                  </a:lnTo>
                  <a:lnTo>
                    <a:pt x="242888" y="99080"/>
                  </a:lnTo>
                  <a:lnTo>
                    <a:pt x="242888" y="90824"/>
                  </a:lnTo>
                  <a:lnTo>
                    <a:pt x="242888" y="82567"/>
                  </a:lnTo>
                  <a:lnTo>
                    <a:pt x="242888" y="74310"/>
                  </a:lnTo>
                  <a:lnTo>
                    <a:pt x="242888" y="66054"/>
                  </a:lnTo>
                  <a:lnTo>
                    <a:pt x="242888" y="57797"/>
                  </a:lnTo>
                  <a:lnTo>
                    <a:pt x="242888" y="49540"/>
                  </a:lnTo>
                  <a:lnTo>
                    <a:pt x="242888" y="41283"/>
                  </a:lnTo>
                  <a:lnTo>
                    <a:pt x="242888" y="33027"/>
                  </a:lnTo>
                  <a:lnTo>
                    <a:pt x="242888" y="24770"/>
                  </a:lnTo>
                  <a:lnTo>
                    <a:pt x="242888" y="16513"/>
                  </a:lnTo>
                  <a:lnTo>
                    <a:pt x="242888" y="8257"/>
                  </a:lnTo>
                  <a:lnTo>
                    <a:pt x="242888" y="0"/>
                  </a:lnTo>
                </a:path>
              </a:pathLst>
            </a:custGeom>
            <a:solidFill>
              <a:srgbClr val="183A5D"/>
            </a:solidFill>
            <a:ln w="26988">
              <a:solidFill>
                <a:srgbClr val="133853"/>
              </a:solidFill>
            </a:ln>
          </p:spPr>
        </p:sp>
        <p:sp>
          <p:nvSpPr>
            <p:cNvPr id="192" name="Workspace database 2">
              <a:extLst>
                <a:ext uri="{FF2B5EF4-FFF2-40B4-BE49-F238E27FC236}">
                  <a16:creationId xmlns:a16="http://schemas.microsoft.com/office/drawing/2014/main" id="{8E5F932E-4EA9-49ED-A261-FDF49B0117A6}"/>
                </a:ext>
              </a:extLst>
            </p:cNvPr>
            <p:cNvSpPr>
              <a:spLocks noGrp="1"/>
            </p:cNvSpPr>
            <p:nvPr/>
          </p:nvSpPr>
          <p:spPr>
            <a:xfrm>
              <a:off x="4050506" y="7877175"/>
              <a:ext cx="242888" cy="49971"/>
            </a:xfrm>
            <a:custGeom>
              <a:avLst/>
              <a:gdLst/>
              <a:ahLst/>
              <a:cxnLst/>
              <a:rect l="0" t="0" r="0" b="0"/>
              <a:pathLst>
                <a:path w="242888" h="49971">
                  <a:moveTo>
                    <a:pt x="0" y="0"/>
                  </a:moveTo>
                  <a:lnTo>
                    <a:pt x="1501" y="7868"/>
                  </a:lnTo>
                  <a:lnTo>
                    <a:pt x="5235" y="14552"/>
                  </a:lnTo>
                  <a:lnTo>
                    <a:pt x="10127" y="20005"/>
                  </a:lnTo>
                  <a:lnTo>
                    <a:pt x="15611" y="24528"/>
                  </a:lnTo>
                  <a:lnTo>
                    <a:pt x="21433" y="28359"/>
                  </a:lnTo>
                  <a:lnTo>
                    <a:pt x="27465" y="31657"/>
                  </a:lnTo>
                  <a:lnTo>
                    <a:pt x="33639" y="34529"/>
                  </a:lnTo>
                  <a:lnTo>
                    <a:pt x="39915" y="37046"/>
                  </a:lnTo>
                  <a:lnTo>
                    <a:pt x="46265" y="39258"/>
                  </a:lnTo>
                  <a:lnTo>
                    <a:pt x="52672" y="41204"/>
                  </a:lnTo>
                  <a:lnTo>
                    <a:pt x="59123" y="42911"/>
                  </a:lnTo>
                  <a:lnTo>
                    <a:pt x="65610" y="44402"/>
                  </a:lnTo>
                  <a:lnTo>
                    <a:pt x="72124" y="45693"/>
                  </a:lnTo>
                  <a:lnTo>
                    <a:pt x="78662" y="46798"/>
                  </a:lnTo>
                  <a:lnTo>
                    <a:pt x="85217" y="47726"/>
                  </a:lnTo>
                  <a:lnTo>
                    <a:pt x="91786" y="48487"/>
                  </a:lnTo>
                  <a:lnTo>
                    <a:pt x="98366" y="49087"/>
                  </a:lnTo>
                  <a:lnTo>
                    <a:pt x="104954" y="49532"/>
                  </a:lnTo>
                  <a:lnTo>
                    <a:pt x="111548" y="49825"/>
                  </a:lnTo>
                  <a:lnTo>
                    <a:pt x="118145" y="49971"/>
                  </a:lnTo>
                  <a:lnTo>
                    <a:pt x="124743" y="49971"/>
                  </a:lnTo>
                  <a:lnTo>
                    <a:pt x="131340" y="49825"/>
                  </a:lnTo>
                  <a:lnTo>
                    <a:pt x="137933" y="49532"/>
                  </a:lnTo>
                  <a:lnTo>
                    <a:pt x="144522" y="49087"/>
                  </a:lnTo>
                  <a:lnTo>
                    <a:pt x="151102" y="48487"/>
                  </a:lnTo>
                  <a:lnTo>
                    <a:pt x="157671" y="47726"/>
                  </a:lnTo>
                  <a:lnTo>
                    <a:pt x="164226" y="46798"/>
                  </a:lnTo>
                  <a:lnTo>
                    <a:pt x="170763" y="45693"/>
                  </a:lnTo>
                  <a:lnTo>
                    <a:pt x="177278" y="44402"/>
                  </a:lnTo>
                  <a:lnTo>
                    <a:pt x="183764" y="42911"/>
                  </a:lnTo>
                  <a:lnTo>
                    <a:pt x="190216" y="41204"/>
                  </a:lnTo>
                  <a:lnTo>
                    <a:pt x="196623" y="39258"/>
                  </a:lnTo>
                  <a:lnTo>
                    <a:pt x="202973" y="37046"/>
                  </a:lnTo>
                  <a:lnTo>
                    <a:pt x="209248" y="34529"/>
                  </a:lnTo>
                  <a:lnTo>
                    <a:pt x="215422" y="31657"/>
                  </a:lnTo>
                  <a:lnTo>
                    <a:pt x="221455" y="28359"/>
                  </a:lnTo>
                  <a:lnTo>
                    <a:pt x="227276" y="24527"/>
                  </a:lnTo>
                  <a:lnTo>
                    <a:pt x="232761" y="20005"/>
                  </a:lnTo>
                  <a:lnTo>
                    <a:pt x="237653" y="14552"/>
                  </a:lnTo>
                  <a:lnTo>
                    <a:pt x="241386" y="7867"/>
                  </a:lnTo>
                  <a:lnTo>
                    <a:pt x="242888" y="0"/>
                  </a:lnTo>
                </a:path>
              </a:pathLst>
            </a:custGeom>
            <a:solidFill>
              <a:srgbClr val="183A5D"/>
            </a:solidFill>
            <a:ln w="26988">
              <a:solidFill>
                <a:srgbClr val="133853"/>
              </a:solidFill>
            </a:ln>
          </p:spPr>
        </p:sp>
        <p:sp>
          <p:nvSpPr>
            <p:cNvPr id="193" name="Shared workspace title">
              <a:extLst>
                <a:ext uri="{FF2B5EF4-FFF2-40B4-BE49-F238E27FC236}">
                  <a16:creationId xmlns:a16="http://schemas.microsoft.com/office/drawing/2014/main" id="{045D851C-CC9D-45CB-8B28-1D060E4E2661}"/>
                </a:ext>
              </a:extLst>
            </p:cNvPr>
            <p:cNvSpPr>
              <a:spLocks noGrp="1"/>
            </p:cNvSpPr>
            <p:nvPr/>
          </p:nvSpPr>
          <p:spPr>
            <a:xfrm>
              <a:off x="4600575" y="7772400"/>
              <a:ext cx="2352675" cy="2952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1875" b="1">
                  <a:solidFill>
                    <a:srgbClr val="1A205A"/>
                  </a:solidFill>
                  <a:latin typeface="Arial Narrow"/>
                  <a:ea typeface="Arial Narrow"/>
                  <a:cs typeface="Arial Narrow"/>
                </a:defRPr>
              </a:pPr>
              <a:r>
                <a:rPr sz="1875" b="1">
                  <a:solidFill>
                    <a:srgbClr val="1A205A"/>
                  </a:solidFill>
                  <a:latin typeface="Times New Roman" panose="02020603050405020304" pitchFamily="18" charset="0"/>
                  <a:ea typeface="Arial Narrow"/>
                  <a:cs typeface="Times New Roman" panose="02020603050405020304" pitchFamily="18" charset="0"/>
                </a:rPr>
                <a:t>Shared Workspace</a:t>
              </a:r>
            </a:p>
          </p:txBody>
        </p:sp>
        <p:sp>
          <p:nvSpPr>
            <p:cNvPr id="195" name="Workspace separator 0 793">
              <a:extLst>
                <a:ext uri="{FF2B5EF4-FFF2-40B4-BE49-F238E27FC236}">
                  <a16:creationId xmlns:a16="http://schemas.microsoft.com/office/drawing/2014/main" id="{BBEDAD24-2435-41C2-8B7D-5A408483B9BE}"/>
                </a:ext>
              </a:extLst>
            </p:cNvPr>
            <p:cNvSpPr>
              <a:spLocks noGrp="1"/>
            </p:cNvSpPr>
            <p:nvPr/>
          </p:nvSpPr>
          <p:spPr>
            <a:xfrm>
              <a:off x="7038975" y="7553325"/>
              <a:ext cx="953" cy="38100"/>
            </a:xfrm>
            <a:custGeom>
              <a:avLst/>
              <a:gdLst/>
              <a:ahLst/>
              <a:cxnLst/>
              <a:rect l="0" t="0" r="0" b="0"/>
              <a:pathLst>
                <a:path w="953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1430">
              <a:solidFill>
                <a:srgbClr val="A9A2C5"/>
              </a:solidFill>
            </a:ln>
          </p:spPr>
        </p:sp>
        <p:sp>
          <p:nvSpPr>
            <p:cNvPr id="196" name="Workspace separator 0 800">
              <a:extLst>
                <a:ext uri="{FF2B5EF4-FFF2-40B4-BE49-F238E27FC236}">
                  <a16:creationId xmlns:a16="http://schemas.microsoft.com/office/drawing/2014/main" id="{37E229BD-1913-48EF-8131-3778D42BB768}"/>
                </a:ext>
              </a:extLst>
            </p:cNvPr>
            <p:cNvSpPr>
              <a:spLocks noGrp="1"/>
            </p:cNvSpPr>
            <p:nvPr/>
          </p:nvSpPr>
          <p:spPr>
            <a:xfrm>
              <a:off x="7038975" y="7620000"/>
              <a:ext cx="953" cy="38100"/>
            </a:xfrm>
            <a:custGeom>
              <a:avLst/>
              <a:gdLst/>
              <a:ahLst/>
              <a:cxnLst/>
              <a:rect l="0" t="0" r="0" b="0"/>
              <a:pathLst>
                <a:path w="953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1430">
              <a:solidFill>
                <a:srgbClr val="A9A2C5"/>
              </a:solidFill>
            </a:ln>
          </p:spPr>
        </p:sp>
        <p:sp>
          <p:nvSpPr>
            <p:cNvPr id="197" name="Workspace separator 0 807">
              <a:extLst>
                <a:ext uri="{FF2B5EF4-FFF2-40B4-BE49-F238E27FC236}">
                  <a16:creationId xmlns:a16="http://schemas.microsoft.com/office/drawing/2014/main" id="{963A8E09-ED09-4286-BBCE-192DDCC5C327}"/>
                </a:ext>
              </a:extLst>
            </p:cNvPr>
            <p:cNvSpPr>
              <a:spLocks noGrp="1"/>
            </p:cNvSpPr>
            <p:nvPr/>
          </p:nvSpPr>
          <p:spPr>
            <a:xfrm>
              <a:off x="7038975" y="7686675"/>
              <a:ext cx="953" cy="38100"/>
            </a:xfrm>
            <a:custGeom>
              <a:avLst/>
              <a:gdLst/>
              <a:ahLst/>
              <a:cxnLst/>
              <a:rect l="0" t="0" r="0" b="0"/>
              <a:pathLst>
                <a:path w="953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1430">
              <a:solidFill>
                <a:srgbClr val="A9A2C5"/>
              </a:solidFill>
            </a:ln>
          </p:spPr>
        </p:sp>
        <p:sp>
          <p:nvSpPr>
            <p:cNvPr id="198" name="Workspace separator 0 814">
              <a:extLst>
                <a:ext uri="{FF2B5EF4-FFF2-40B4-BE49-F238E27FC236}">
                  <a16:creationId xmlns:a16="http://schemas.microsoft.com/office/drawing/2014/main" id="{D0CFFAEF-0250-4BDA-9E98-47B2C5628A4A}"/>
                </a:ext>
              </a:extLst>
            </p:cNvPr>
            <p:cNvSpPr>
              <a:spLocks noGrp="1"/>
            </p:cNvSpPr>
            <p:nvPr/>
          </p:nvSpPr>
          <p:spPr>
            <a:xfrm>
              <a:off x="7038975" y="7753350"/>
              <a:ext cx="953" cy="38100"/>
            </a:xfrm>
            <a:custGeom>
              <a:avLst/>
              <a:gdLst/>
              <a:ahLst/>
              <a:cxnLst/>
              <a:rect l="0" t="0" r="0" b="0"/>
              <a:pathLst>
                <a:path w="953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1430">
              <a:solidFill>
                <a:srgbClr val="A9A2C5"/>
              </a:solidFill>
            </a:ln>
          </p:spPr>
        </p:sp>
        <p:sp>
          <p:nvSpPr>
            <p:cNvPr id="199" name="Workspace separator 0 821">
              <a:extLst>
                <a:ext uri="{FF2B5EF4-FFF2-40B4-BE49-F238E27FC236}">
                  <a16:creationId xmlns:a16="http://schemas.microsoft.com/office/drawing/2014/main" id="{13C430A1-ED72-47F8-82A0-89C410D6C9A2}"/>
                </a:ext>
              </a:extLst>
            </p:cNvPr>
            <p:cNvSpPr>
              <a:spLocks noGrp="1"/>
            </p:cNvSpPr>
            <p:nvPr/>
          </p:nvSpPr>
          <p:spPr>
            <a:xfrm>
              <a:off x="7038975" y="7820025"/>
              <a:ext cx="953" cy="38100"/>
            </a:xfrm>
            <a:custGeom>
              <a:avLst/>
              <a:gdLst/>
              <a:ahLst/>
              <a:cxnLst/>
              <a:rect l="0" t="0" r="0" b="0"/>
              <a:pathLst>
                <a:path w="953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1430">
              <a:solidFill>
                <a:srgbClr val="A9A2C5"/>
              </a:solidFill>
            </a:ln>
          </p:spPr>
        </p:sp>
        <p:sp>
          <p:nvSpPr>
            <p:cNvPr id="200" name="Workspace separator 0 828">
              <a:extLst>
                <a:ext uri="{FF2B5EF4-FFF2-40B4-BE49-F238E27FC236}">
                  <a16:creationId xmlns:a16="http://schemas.microsoft.com/office/drawing/2014/main" id="{84D50CD2-5E30-4739-9C30-0192DF21D436}"/>
                </a:ext>
              </a:extLst>
            </p:cNvPr>
            <p:cNvSpPr>
              <a:spLocks noGrp="1"/>
            </p:cNvSpPr>
            <p:nvPr/>
          </p:nvSpPr>
          <p:spPr>
            <a:xfrm>
              <a:off x="7038975" y="7886700"/>
              <a:ext cx="953" cy="38100"/>
            </a:xfrm>
            <a:custGeom>
              <a:avLst/>
              <a:gdLst/>
              <a:ahLst/>
              <a:cxnLst/>
              <a:rect l="0" t="0" r="0" b="0"/>
              <a:pathLst>
                <a:path w="953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1430">
              <a:solidFill>
                <a:srgbClr val="A9A2C5"/>
              </a:solidFill>
            </a:ln>
          </p:spPr>
        </p:sp>
        <p:sp>
          <p:nvSpPr>
            <p:cNvPr id="201" name="Workspace separator 0 835">
              <a:extLst>
                <a:ext uri="{FF2B5EF4-FFF2-40B4-BE49-F238E27FC236}">
                  <a16:creationId xmlns:a16="http://schemas.microsoft.com/office/drawing/2014/main" id="{97CEE4A2-414A-434E-828B-4CBE1FE688DD}"/>
                </a:ext>
              </a:extLst>
            </p:cNvPr>
            <p:cNvSpPr>
              <a:spLocks noGrp="1"/>
            </p:cNvSpPr>
            <p:nvPr/>
          </p:nvSpPr>
          <p:spPr>
            <a:xfrm>
              <a:off x="7038975" y="7953375"/>
              <a:ext cx="953" cy="38100"/>
            </a:xfrm>
            <a:custGeom>
              <a:avLst/>
              <a:gdLst/>
              <a:ahLst/>
              <a:cxnLst/>
              <a:rect l="0" t="0" r="0" b="0"/>
              <a:pathLst>
                <a:path w="953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1430">
              <a:solidFill>
                <a:srgbClr val="A9A2C5"/>
              </a:solidFill>
            </a:ln>
          </p:spPr>
        </p:sp>
        <p:sp>
          <p:nvSpPr>
            <p:cNvPr id="202" name="Workspace separator 0 842">
              <a:extLst>
                <a:ext uri="{FF2B5EF4-FFF2-40B4-BE49-F238E27FC236}">
                  <a16:creationId xmlns:a16="http://schemas.microsoft.com/office/drawing/2014/main" id="{F670E1BE-0365-484C-A87F-829A457FC5CB}"/>
                </a:ext>
              </a:extLst>
            </p:cNvPr>
            <p:cNvSpPr>
              <a:spLocks noGrp="1"/>
            </p:cNvSpPr>
            <p:nvPr/>
          </p:nvSpPr>
          <p:spPr>
            <a:xfrm>
              <a:off x="7038975" y="8020050"/>
              <a:ext cx="953" cy="38100"/>
            </a:xfrm>
            <a:custGeom>
              <a:avLst/>
              <a:gdLst/>
              <a:ahLst/>
              <a:cxnLst/>
              <a:rect l="0" t="0" r="0" b="0"/>
              <a:pathLst>
                <a:path w="953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1430">
              <a:solidFill>
                <a:srgbClr val="A9A2C5"/>
              </a:solidFill>
            </a:ln>
          </p:spPr>
        </p:sp>
        <p:sp>
          <p:nvSpPr>
            <p:cNvPr id="203" name="Workspace separator 0 849">
              <a:extLst>
                <a:ext uri="{FF2B5EF4-FFF2-40B4-BE49-F238E27FC236}">
                  <a16:creationId xmlns:a16="http://schemas.microsoft.com/office/drawing/2014/main" id="{785D1C58-A4DB-4505-A480-3ED64B3F1377}"/>
                </a:ext>
              </a:extLst>
            </p:cNvPr>
            <p:cNvSpPr>
              <a:spLocks noGrp="1"/>
            </p:cNvSpPr>
            <p:nvPr/>
          </p:nvSpPr>
          <p:spPr>
            <a:xfrm>
              <a:off x="7038975" y="8086725"/>
              <a:ext cx="953" cy="38100"/>
            </a:xfrm>
            <a:custGeom>
              <a:avLst/>
              <a:gdLst/>
              <a:ahLst/>
              <a:cxnLst/>
              <a:rect l="0" t="0" r="0" b="0"/>
              <a:pathLst>
                <a:path w="953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1430">
              <a:solidFill>
                <a:srgbClr val="A9A2C5"/>
              </a:solidFill>
            </a:ln>
          </p:spPr>
        </p:sp>
        <p:sp>
          <p:nvSpPr>
            <p:cNvPr id="204" name="Workspace separator 0 856">
              <a:extLst>
                <a:ext uri="{FF2B5EF4-FFF2-40B4-BE49-F238E27FC236}">
                  <a16:creationId xmlns:a16="http://schemas.microsoft.com/office/drawing/2014/main" id="{CAF86149-0FD2-4B6A-A388-7AA054567A74}"/>
                </a:ext>
              </a:extLst>
            </p:cNvPr>
            <p:cNvSpPr>
              <a:spLocks noGrp="1"/>
            </p:cNvSpPr>
            <p:nvPr/>
          </p:nvSpPr>
          <p:spPr>
            <a:xfrm>
              <a:off x="7038975" y="8153400"/>
              <a:ext cx="953" cy="38100"/>
            </a:xfrm>
            <a:custGeom>
              <a:avLst/>
              <a:gdLst/>
              <a:ahLst/>
              <a:cxnLst/>
              <a:rect l="0" t="0" r="0" b="0"/>
              <a:pathLst>
                <a:path w="953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1430">
              <a:solidFill>
                <a:srgbClr val="A9A2C5"/>
              </a:solidFill>
            </a:ln>
          </p:spPr>
        </p:sp>
        <p:sp>
          <p:nvSpPr>
            <p:cNvPr id="205" name="Workspace separator 1 793">
              <a:extLst>
                <a:ext uri="{FF2B5EF4-FFF2-40B4-BE49-F238E27FC236}">
                  <a16:creationId xmlns:a16="http://schemas.microsoft.com/office/drawing/2014/main" id="{1CCA9B70-5E6B-47B2-8652-E572BB0330F8}"/>
                </a:ext>
              </a:extLst>
            </p:cNvPr>
            <p:cNvSpPr>
              <a:spLocks noGrp="1"/>
            </p:cNvSpPr>
            <p:nvPr/>
          </p:nvSpPr>
          <p:spPr>
            <a:xfrm>
              <a:off x="8562975" y="7553325"/>
              <a:ext cx="953" cy="38100"/>
            </a:xfrm>
            <a:custGeom>
              <a:avLst/>
              <a:gdLst/>
              <a:ahLst/>
              <a:cxnLst/>
              <a:rect l="0" t="0" r="0" b="0"/>
              <a:pathLst>
                <a:path w="953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1430">
              <a:solidFill>
                <a:srgbClr val="A9A2C5"/>
              </a:solidFill>
            </a:ln>
          </p:spPr>
        </p:sp>
        <p:sp>
          <p:nvSpPr>
            <p:cNvPr id="206" name="Workspace separator 1 800">
              <a:extLst>
                <a:ext uri="{FF2B5EF4-FFF2-40B4-BE49-F238E27FC236}">
                  <a16:creationId xmlns:a16="http://schemas.microsoft.com/office/drawing/2014/main" id="{CDB6AC28-A4EB-46CC-97E0-53BE4E28C6D3}"/>
                </a:ext>
              </a:extLst>
            </p:cNvPr>
            <p:cNvSpPr>
              <a:spLocks noGrp="1"/>
            </p:cNvSpPr>
            <p:nvPr/>
          </p:nvSpPr>
          <p:spPr>
            <a:xfrm>
              <a:off x="8562975" y="7620000"/>
              <a:ext cx="953" cy="38100"/>
            </a:xfrm>
            <a:custGeom>
              <a:avLst/>
              <a:gdLst/>
              <a:ahLst/>
              <a:cxnLst/>
              <a:rect l="0" t="0" r="0" b="0"/>
              <a:pathLst>
                <a:path w="953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1430">
              <a:solidFill>
                <a:srgbClr val="A9A2C5"/>
              </a:solidFill>
            </a:ln>
          </p:spPr>
        </p:sp>
        <p:sp>
          <p:nvSpPr>
            <p:cNvPr id="207" name="Workspace separator 1 807">
              <a:extLst>
                <a:ext uri="{FF2B5EF4-FFF2-40B4-BE49-F238E27FC236}">
                  <a16:creationId xmlns:a16="http://schemas.microsoft.com/office/drawing/2014/main" id="{79600062-D968-4A7B-998A-9442892BB81B}"/>
                </a:ext>
              </a:extLst>
            </p:cNvPr>
            <p:cNvSpPr>
              <a:spLocks noGrp="1"/>
            </p:cNvSpPr>
            <p:nvPr/>
          </p:nvSpPr>
          <p:spPr>
            <a:xfrm>
              <a:off x="8562975" y="7686675"/>
              <a:ext cx="953" cy="38100"/>
            </a:xfrm>
            <a:custGeom>
              <a:avLst/>
              <a:gdLst/>
              <a:ahLst/>
              <a:cxnLst/>
              <a:rect l="0" t="0" r="0" b="0"/>
              <a:pathLst>
                <a:path w="953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1430">
              <a:solidFill>
                <a:srgbClr val="A9A2C5"/>
              </a:solidFill>
            </a:ln>
          </p:spPr>
        </p:sp>
        <p:sp>
          <p:nvSpPr>
            <p:cNvPr id="208" name="Workspace separator 1 814">
              <a:extLst>
                <a:ext uri="{FF2B5EF4-FFF2-40B4-BE49-F238E27FC236}">
                  <a16:creationId xmlns:a16="http://schemas.microsoft.com/office/drawing/2014/main" id="{08E06774-CE63-4156-B5BE-5B2EB8591D6A}"/>
                </a:ext>
              </a:extLst>
            </p:cNvPr>
            <p:cNvSpPr>
              <a:spLocks noGrp="1"/>
            </p:cNvSpPr>
            <p:nvPr/>
          </p:nvSpPr>
          <p:spPr>
            <a:xfrm>
              <a:off x="8562975" y="7753350"/>
              <a:ext cx="953" cy="38100"/>
            </a:xfrm>
            <a:custGeom>
              <a:avLst/>
              <a:gdLst/>
              <a:ahLst/>
              <a:cxnLst/>
              <a:rect l="0" t="0" r="0" b="0"/>
              <a:pathLst>
                <a:path w="953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1430">
              <a:solidFill>
                <a:srgbClr val="A9A2C5"/>
              </a:solidFill>
            </a:ln>
          </p:spPr>
        </p:sp>
        <p:sp>
          <p:nvSpPr>
            <p:cNvPr id="209" name="Workspace separator 1 821">
              <a:extLst>
                <a:ext uri="{FF2B5EF4-FFF2-40B4-BE49-F238E27FC236}">
                  <a16:creationId xmlns:a16="http://schemas.microsoft.com/office/drawing/2014/main" id="{DCE996BD-FCAB-46F1-B44E-291FC937349D}"/>
                </a:ext>
              </a:extLst>
            </p:cNvPr>
            <p:cNvSpPr>
              <a:spLocks noGrp="1"/>
            </p:cNvSpPr>
            <p:nvPr/>
          </p:nvSpPr>
          <p:spPr>
            <a:xfrm>
              <a:off x="8562975" y="7820025"/>
              <a:ext cx="953" cy="38100"/>
            </a:xfrm>
            <a:custGeom>
              <a:avLst/>
              <a:gdLst/>
              <a:ahLst/>
              <a:cxnLst/>
              <a:rect l="0" t="0" r="0" b="0"/>
              <a:pathLst>
                <a:path w="953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1430">
              <a:solidFill>
                <a:srgbClr val="A9A2C5"/>
              </a:solidFill>
            </a:ln>
          </p:spPr>
        </p:sp>
        <p:sp>
          <p:nvSpPr>
            <p:cNvPr id="210" name="Workspace separator 1 828">
              <a:extLst>
                <a:ext uri="{FF2B5EF4-FFF2-40B4-BE49-F238E27FC236}">
                  <a16:creationId xmlns:a16="http://schemas.microsoft.com/office/drawing/2014/main" id="{0EC5756D-86EE-4AD1-AE64-EE019A12842D}"/>
                </a:ext>
              </a:extLst>
            </p:cNvPr>
            <p:cNvSpPr>
              <a:spLocks noGrp="1"/>
            </p:cNvSpPr>
            <p:nvPr/>
          </p:nvSpPr>
          <p:spPr>
            <a:xfrm>
              <a:off x="8562975" y="7886700"/>
              <a:ext cx="953" cy="38100"/>
            </a:xfrm>
            <a:custGeom>
              <a:avLst/>
              <a:gdLst/>
              <a:ahLst/>
              <a:cxnLst/>
              <a:rect l="0" t="0" r="0" b="0"/>
              <a:pathLst>
                <a:path w="953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1430">
              <a:solidFill>
                <a:srgbClr val="A9A2C5"/>
              </a:solidFill>
            </a:ln>
          </p:spPr>
        </p:sp>
        <p:sp>
          <p:nvSpPr>
            <p:cNvPr id="211" name="Workspace separator 1 835">
              <a:extLst>
                <a:ext uri="{FF2B5EF4-FFF2-40B4-BE49-F238E27FC236}">
                  <a16:creationId xmlns:a16="http://schemas.microsoft.com/office/drawing/2014/main" id="{AAC81223-6F5C-4CEB-A6DC-3E1E8835CE1A}"/>
                </a:ext>
              </a:extLst>
            </p:cNvPr>
            <p:cNvSpPr>
              <a:spLocks noGrp="1"/>
            </p:cNvSpPr>
            <p:nvPr/>
          </p:nvSpPr>
          <p:spPr>
            <a:xfrm>
              <a:off x="8562975" y="7953375"/>
              <a:ext cx="953" cy="38100"/>
            </a:xfrm>
            <a:custGeom>
              <a:avLst/>
              <a:gdLst/>
              <a:ahLst/>
              <a:cxnLst/>
              <a:rect l="0" t="0" r="0" b="0"/>
              <a:pathLst>
                <a:path w="953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1430">
              <a:solidFill>
                <a:srgbClr val="A9A2C5"/>
              </a:solidFill>
            </a:ln>
          </p:spPr>
        </p:sp>
        <p:sp>
          <p:nvSpPr>
            <p:cNvPr id="212" name="Workspace separator 1 842">
              <a:extLst>
                <a:ext uri="{FF2B5EF4-FFF2-40B4-BE49-F238E27FC236}">
                  <a16:creationId xmlns:a16="http://schemas.microsoft.com/office/drawing/2014/main" id="{57F03B51-C31C-401F-9F7F-99C3C8F0B878}"/>
                </a:ext>
              </a:extLst>
            </p:cNvPr>
            <p:cNvSpPr>
              <a:spLocks noGrp="1"/>
            </p:cNvSpPr>
            <p:nvPr/>
          </p:nvSpPr>
          <p:spPr>
            <a:xfrm>
              <a:off x="8562975" y="8020050"/>
              <a:ext cx="953" cy="38100"/>
            </a:xfrm>
            <a:custGeom>
              <a:avLst/>
              <a:gdLst/>
              <a:ahLst/>
              <a:cxnLst/>
              <a:rect l="0" t="0" r="0" b="0"/>
              <a:pathLst>
                <a:path w="953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1430">
              <a:solidFill>
                <a:srgbClr val="A9A2C5"/>
              </a:solidFill>
            </a:ln>
          </p:spPr>
        </p:sp>
        <p:sp>
          <p:nvSpPr>
            <p:cNvPr id="213" name="Workspace separator 1 849">
              <a:extLst>
                <a:ext uri="{FF2B5EF4-FFF2-40B4-BE49-F238E27FC236}">
                  <a16:creationId xmlns:a16="http://schemas.microsoft.com/office/drawing/2014/main" id="{4840B0D5-57B6-47C7-8FA1-072FA09782C3}"/>
                </a:ext>
              </a:extLst>
            </p:cNvPr>
            <p:cNvSpPr>
              <a:spLocks noGrp="1"/>
            </p:cNvSpPr>
            <p:nvPr/>
          </p:nvSpPr>
          <p:spPr>
            <a:xfrm>
              <a:off x="8562975" y="8086725"/>
              <a:ext cx="953" cy="38100"/>
            </a:xfrm>
            <a:custGeom>
              <a:avLst/>
              <a:gdLst/>
              <a:ahLst/>
              <a:cxnLst/>
              <a:rect l="0" t="0" r="0" b="0"/>
              <a:pathLst>
                <a:path w="953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1430">
              <a:solidFill>
                <a:srgbClr val="A9A2C5"/>
              </a:solidFill>
            </a:ln>
          </p:spPr>
        </p:sp>
        <p:sp>
          <p:nvSpPr>
            <p:cNvPr id="214" name="Workspace separator 1 856">
              <a:extLst>
                <a:ext uri="{FF2B5EF4-FFF2-40B4-BE49-F238E27FC236}">
                  <a16:creationId xmlns:a16="http://schemas.microsoft.com/office/drawing/2014/main" id="{EEEC8CB2-9C4E-4A4E-9FD4-02AF78FAED45}"/>
                </a:ext>
              </a:extLst>
            </p:cNvPr>
            <p:cNvSpPr>
              <a:spLocks noGrp="1"/>
            </p:cNvSpPr>
            <p:nvPr/>
          </p:nvSpPr>
          <p:spPr>
            <a:xfrm>
              <a:off x="8562975" y="8153400"/>
              <a:ext cx="953" cy="38100"/>
            </a:xfrm>
            <a:custGeom>
              <a:avLst/>
              <a:gdLst/>
              <a:ahLst/>
              <a:cxnLst/>
              <a:rect l="0" t="0" r="0" b="0"/>
              <a:pathLst>
                <a:path w="953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1430">
              <a:solidFill>
                <a:srgbClr val="A9A2C5"/>
              </a:solidFill>
            </a:ln>
          </p:spPr>
        </p:sp>
        <p:sp>
          <p:nvSpPr>
            <p:cNvPr id="215" name="Workspace separator 2 793">
              <a:extLst>
                <a:ext uri="{FF2B5EF4-FFF2-40B4-BE49-F238E27FC236}">
                  <a16:creationId xmlns:a16="http://schemas.microsoft.com/office/drawing/2014/main" id="{0267C09A-D4B0-497A-9FC3-01380EE24C53}"/>
                </a:ext>
              </a:extLst>
            </p:cNvPr>
            <p:cNvSpPr>
              <a:spLocks noGrp="1"/>
            </p:cNvSpPr>
            <p:nvPr/>
          </p:nvSpPr>
          <p:spPr>
            <a:xfrm>
              <a:off x="10125075" y="7553325"/>
              <a:ext cx="953" cy="38100"/>
            </a:xfrm>
            <a:custGeom>
              <a:avLst/>
              <a:gdLst/>
              <a:ahLst/>
              <a:cxnLst/>
              <a:rect l="0" t="0" r="0" b="0"/>
              <a:pathLst>
                <a:path w="953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1430">
              <a:solidFill>
                <a:srgbClr val="A9A2C5"/>
              </a:solidFill>
            </a:ln>
          </p:spPr>
        </p:sp>
        <p:sp>
          <p:nvSpPr>
            <p:cNvPr id="216" name="Workspace separator 2 800">
              <a:extLst>
                <a:ext uri="{FF2B5EF4-FFF2-40B4-BE49-F238E27FC236}">
                  <a16:creationId xmlns:a16="http://schemas.microsoft.com/office/drawing/2014/main" id="{010C555C-52DF-4099-A41B-52EB45637101}"/>
                </a:ext>
              </a:extLst>
            </p:cNvPr>
            <p:cNvSpPr>
              <a:spLocks noGrp="1"/>
            </p:cNvSpPr>
            <p:nvPr/>
          </p:nvSpPr>
          <p:spPr>
            <a:xfrm>
              <a:off x="10125075" y="7620000"/>
              <a:ext cx="953" cy="38100"/>
            </a:xfrm>
            <a:custGeom>
              <a:avLst/>
              <a:gdLst/>
              <a:ahLst/>
              <a:cxnLst/>
              <a:rect l="0" t="0" r="0" b="0"/>
              <a:pathLst>
                <a:path w="953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1430">
              <a:solidFill>
                <a:srgbClr val="A9A2C5"/>
              </a:solidFill>
            </a:ln>
          </p:spPr>
        </p:sp>
        <p:sp>
          <p:nvSpPr>
            <p:cNvPr id="217" name="Workspace separator 2 807">
              <a:extLst>
                <a:ext uri="{FF2B5EF4-FFF2-40B4-BE49-F238E27FC236}">
                  <a16:creationId xmlns:a16="http://schemas.microsoft.com/office/drawing/2014/main" id="{F2E08593-BB53-4181-BA4E-74A2DEDB7CD9}"/>
                </a:ext>
              </a:extLst>
            </p:cNvPr>
            <p:cNvSpPr>
              <a:spLocks noGrp="1"/>
            </p:cNvSpPr>
            <p:nvPr/>
          </p:nvSpPr>
          <p:spPr>
            <a:xfrm>
              <a:off x="10125075" y="7686675"/>
              <a:ext cx="953" cy="38100"/>
            </a:xfrm>
            <a:custGeom>
              <a:avLst/>
              <a:gdLst/>
              <a:ahLst/>
              <a:cxnLst/>
              <a:rect l="0" t="0" r="0" b="0"/>
              <a:pathLst>
                <a:path w="953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1430">
              <a:solidFill>
                <a:srgbClr val="A9A2C5"/>
              </a:solidFill>
            </a:ln>
          </p:spPr>
        </p:sp>
        <p:sp>
          <p:nvSpPr>
            <p:cNvPr id="218" name="Workspace separator 2 814">
              <a:extLst>
                <a:ext uri="{FF2B5EF4-FFF2-40B4-BE49-F238E27FC236}">
                  <a16:creationId xmlns:a16="http://schemas.microsoft.com/office/drawing/2014/main" id="{895E9F6A-F4C4-4EAC-9E9E-F25FF965309A}"/>
                </a:ext>
              </a:extLst>
            </p:cNvPr>
            <p:cNvSpPr>
              <a:spLocks noGrp="1"/>
            </p:cNvSpPr>
            <p:nvPr/>
          </p:nvSpPr>
          <p:spPr>
            <a:xfrm>
              <a:off x="10125075" y="7753350"/>
              <a:ext cx="953" cy="38100"/>
            </a:xfrm>
            <a:custGeom>
              <a:avLst/>
              <a:gdLst/>
              <a:ahLst/>
              <a:cxnLst/>
              <a:rect l="0" t="0" r="0" b="0"/>
              <a:pathLst>
                <a:path w="953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1430">
              <a:solidFill>
                <a:srgbClr val="A9A2C5"/>
              </a:solidFill>
            </a:ln>
          </p:spPr>
        </p:sp>
        <p:sp>
          <p:nvSpPr>
            <p:cNvPr id="219" name="Workspace separator 2 821">
              <a:extLst>
                <a:ext uri="{FF2B5EF4-FFF2-40B4-BE49-F238E27FC236}">
                  <a16:creationId xmlns:a16="http://schemas.microsoft.com/office/drawing/2014/main" id="{7C6AFB52-9412-4FF8-AD17-CD0399633289}"/>
                </a:ext>
              </a:extLst>
            </p:cNvPr>
            <p:cNvSpPr>
              <a:spLocks noGrp="1"/>
            </p:cNvSpPr>
            <p:nvPr/>
          </p:nvSpPr>
          <p:spPr>
            <a:xfrm>
              <a:off x="10125075" y="7820025"/>
              <a:ext cx="953" cy="38100"/>
            </a:xfrm>
            <a:custGeom>
              <a:avLst/>
              <a:gdLst/>
              <a:ahLst/>
              <a:cxnLst/>
              <a:rect l="0" t="0" r="0" b="0"/>
              <a:pathLst>
                <a:path w="953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1430">
              <a:solidFill>
                <a:srgbClr val="A9A2C5"/>
              </a:solidFill>
            </a:ln>
          </p:spPr>
        </p:sp>
        <p:sp>
          <p:nvSpPr>
            <p:cNvPr id="220" name="Workspace separator 2 828">
              <a:extLst>
                <a:ext uri="{FF2B5EF4-FFF2-40B4-BE49-F238E27FC236}">
                  <a16:creationId xmlns:a16="http://schemas.microsoft.com/office/drawing/2014/main" id="{82A9AEB6-93BB-4343-ACB2-D6AB003C059D}"/>
                </a:ext>
              </a:extLst>
            </p:cNvPr>
            <p:cNvSpPr>
              <a:spLocks noGrp="1"/>
            </p:cNvSpPr>
            <p:nvPr/>
          </p:nvSpPr>
          <p:spPr>
            <a:xfrm>
              <a:off x="10125075" y="7886700"/>
              <a:ext cx="953" cy="38100"/>
            </a:xfrm>
            <a:custGeom>
              <a:avLst/>
              <a:gdLst/>
              <a:ahLst/>
              <a:cxnLst/>
              <a:rect l="0" t="0" r="0" b="0"/>
              <a:pathLst>
                <a:path w="953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1430">
              <a:solidFill>
                <a:srgbClr val="A9A2C5"/>
              </a:solidFill>
            </a:ln>
          </p:spPr>
        </p:sp>
        <p:sp>
          <p:nvSpPr>
            <p:cNvPr id="221" name="Workspace separator 2 835">
              <a:extLst>
                <a:ext uri="{FF2B5EF4-FFF2-40B4-BE49-F238E27FC236}">
                  <a16:creationId xmlns:a16="http://schemas.microsoft.com/office/drawing/2014/main" id="{AF5B6BF0-577E-4346-BF1A-9E17EC7CE623}"/>
                </a:ext>
              </a:extLst>
            </p:cNvPr>
            <p:cNvSpPr>
              <a:spLocks noGrp="1"/>
            </p:cNvSpPr>
            <p:nvPr/>
          </p:nvSpPr>
          <p:spPr>
            <a:xfrm>
              <a:off x="10125075" y="7953375"/>
              <a:ext cx="953" cy="38100"/>
            </a:xfrm>
            <a:custGeom>
              <a:avLst/>
              <a:gdLst/>
              <a:ahLst/>
              <a:cxnLst/>
              <a:rect l="0" t="0" r="0" b="0"/>
              <a:pathLst>
                <a:path w="953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1430">
              <a:solidFill>
                <a:srgbClr val="A9A2C5"/>
              </a:solidFill>
            </a:ln>
          </p:spPr>
        </p:sp>
        <p:sp>
          <p:nvSpPr>
            <p:cNvPr id="222" name="Workspace separator 2 842">
              <a:extLst>
                <a:ext uri="{FF2B5EF4-FFF2-40B4-BE49-F238E27FC236}">
                  <a16:creationId xmlns:a16="http://schemas.microsoft.com/office/drawing/2014/main" id="{618BFC0D-304C-4DE1-A433-70C1E6E13279}"/>
                </a:ext>
              </a:extLst>
            </p:cNvPr>
            <p:cNvSpPr>
              <a:spLocks noGrp="1"/>
            </p:cNvSpPr>
            <p:nvPr/>
          </p:nvSpPr>
          <p:spPr>
            <a:xfrm>
              <a:off x="10125075" y="8020050"/>
              <a:ext cx="953" cy="38100"/>
            </a:xfrm>
            <a:custGeom>
              <a:avLst/>
              <a:gdLst/>
              <a:ahLst/>
              <a:cxnLst/>
              <a:rect l="0" t="0" r="0" b="0"/>
              <a:pathLst>
                <a:path w="953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1430">
              <a:solidFill>
                <a:srgbClr val="A9A2C5"/>
              </a:solidFill>
            </a:ln>
          </p:spPr>
        </p:sp>
        <p:sp>
          <p:nvSpPr>
            <p:cNvPr id="223" name="Workspace separator 2 849">
              <a:extLst>
                <a:ext uri="{FF2B5EF4-FFF2-40B4-BE49-F238E27FC236}">
                  <a16:creationId xmlns:a16="http://schemas.microsoft.com/office/drawing/2014/main" id="{329B4810-021A-4D13-9692-0D8055797833}"/>
                </a:ext>
              </a:extLst>
            </p:cNvPr>
            <p:cNvSpPr>
              <a:spLocks noGrp="1"/>
            </p:cNvSpPr>
            <p:nvPr/>
          </p:nvSpPr>
          <p:spPr>
            <a:xfrm>
              <a:off x="10125075" y="8086725"/>
              <a:ext cx="953" cy="38100"/>
            </a:xfrm>
            <a:custGeom>
              <a:avLst/>
              <a:gdLst/>
              <a:ahLst/>
              <a:cxnLst/>
              <a:rect l="0" t="0" r="0" b="0"/>
              <a:pathLst>
                <a:path w="953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1430">
              <a:solidFill>
                <a:srgbClr val="A9A2C5"/>
              </a:solidFill>
            </a:ln>
          </p:spPr>
        </p:sp>
        <p:sp>
          <p:nvSpPr>
            <p:cNvPr id="224" name="Workspace separator 2 856">
              <a:extLst>
                <a:ext uri="{FF2B5EF4-FFF2-40B4-BE49-F238E27FC236}">
                  <a16:creationId xmlns:a16="http://schemas.microsoft.com/office/drawing/2014/main" id="{20731A2A-408B-429F-B740-E583C2E95D39}"/>
                </a:ext>
              </a:extLst>
            </p:cNvPr>
            <p:cNvSpPr>
              <a:spLocks noGrp="1"/>
            </p:cNvSpPr>
            <p:nvPr/>
          </p:nvSpPr>
          <p:spPr>
            <a:xfrm>
              <a:off x="10125075" y="8153400"/>
              <a:ext cx="953" cy="38100"/>
            </a:xfrm>
            <a:custGeom>
              <a:avLst/>
              <a:gdLst/>
              <a:ahLst/>
              <a:cxnLst/>
              <a:rect l="0" t="0" r="0" b="0"/>
              <a:pathLst>
                <a:path w="953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1430">
              <a:solidFill>
                <a:srgbClr val="A9A2C5"/>
              </a:solidFill>
            </a:ln>
          </p:spPr>
        </p:sp>
        <p:sp>
          <p:nvSpPr>
            <p:cNvPr id="225" name="Workspace file 0">
              <a:extLst>
                <a:ext uri="{FF2B5EF4-FFF2-40B4-BE49-F238E27FC236}">
                  <a16:creationId xmlns:a16="http://schemas.microsoft.com/office/drawing/2014/main" id="{7464C2C9-9C94-4BFE-B60C-19EAB080F1CE}"/>
                </a:ext>
              </a:extLst>
            </p:cNvPr>
            <p:cNvSpPr>
              <a:spLocks noGrp="1"/>
            </p:cNvSpPr>
            <p:nvPr/>
          </p:nvSpPr>
          <p:spPr>
            <a:xfrm>
              <a:off x="7124700" y="7562850"/>
              <a:ext cx="1371600" cy="619125"/>
            </a:xfrm>
            <a:prstGeom prst="roundRect">
              <a:avLst>
                <a:gd name="adj" fmla="val 13846"/>
              </a:avLst>
            </a:prstGeom>
            <a:solidFill>
              <a:srgbClr val="FDFDFF"/>
            </a:solidFill>
            <a:ln w="11430">
              <a:solidFill>
                <a:srgbClr val="DDDDF0"/>
              </a:solidFill>
            </a:ln>
          </p:spPr>
        </p:sp>
        <p:sp>
          <p:nvSpPr>
            <p:cNvPr id="226" name="Workspace file color 0">
              <a:extLst>
                <a:ext uri="{FF2B5EF4-FFF2-40B4-BE49-F238E27FC236}">
                  <a16:creationId xmlns:a16="http://schemas.microsoft.com/office/drawing/2014/main" id="{5BFC120D-4723-41F9-8928-78357CFE328F}"/>
                </a:ext>
              </a:extLst>
            </p:cNvPr>
            <p:cNvSpPr>
              <a:spLocks noGrp="1"/>
            </p:cNvSpPr>
            <p:nvPr/>
          </p:nvSpPr>
          <p:spPr>
            <a:xfrm>
              <a:off x="7296150" y="7705725"/>
              <a:ext cx="266700" cy="333375"/>
            </a:xfrm>
            <a:prstGeom prst="roundRect">
              <a:avLst>
                <a:gd name="adj" fmla="val 3571"/>
              </a:avLst>
            </a:prstGeom>
            <a:solidFill>
              <a:srgbClr val="75BFFF"/>
            </a:solidFill>
            <a:ln w="0">
              <a:noFill/>
            </a:ln>
          </p:spPr>
        </p:sp>
        <p:sp>
          <p:nvSpPr>
            <p:cNvPr id="227" name="Workspace file icon 0 0">
              <a:extLst>
                <a:ext uri="{FF2B5EF4-FFF2-40B4-BE49-F238E27FC236}">
                  <a16:creationId xmlns:a16="http://schemas.microsoft.com/office/drawing/2014/main" id="{F74628D0-C7B1-4D82-A854-EC59CE56D468}"/>
                </a:ext>
              </a:extLst>
            </p:cNvPr>
            <p:cNvSpPr>
              <a:spLocks noGrp="1"/>
            </p:cNvSpPr>
            <p:nvPr/>
          </p:nvSpPr>
          <p:spPr>
            <a:xfrm>
              <a:off x="7321550" y="7700963"/>
              <a:ext cx="215900" cy="333375"/>
            </a:xfrm>
            <a:custGeom>
              <a:avLst/>
              <a:gdLst/>
              <a:ahLst/>
              <a:cxnLst/>
              <a:rect l="0" t="0" r="0" b="0"/>
              <a:pathLst>
                <a:path w="215900" h="333375">
                  <a:moveTo>
                    <a:pt x="26988" y="333375"/>
                  </a:moveTo>
                  <a:lnTo>
                    <a:pt x="20331" y="332353"/>
                  </a:lnTo>
                  <a:lnTo>
                    <a:pt x="14086" y="329326"/>
                  </a:lnTo>
                  <a:lnTo>
                    <a:pt x="8641" y="324487"/>
                  </a:lnTo>
                  <a:lnTo>
                    <a:pt x="4324" y="318144"/>
                  </a:lnTo>
                  <a:lnTo>
                    <a:pt x="1405" y="310683"/>
                  </a:lnTo>
                  <a:lnTo>
                    <a:pt x="76" y="302561"/>
                  </a:lnTo>
                  <a:lnTo>
                    <a:pt x="0" y="294255"/>
                  </a:lnTo>
                  <a:lnTo>
                    <a:pt x="0" y="285947"/>
                  </a:lnTo>
                  <a:lnTo>
                    <a:pt x="0" y="277639"/>
                  </a:lnTo>
                  <a:lnTo>
                    <a:pt x="0" y="269331"/>
                  </a:lnTo>
                  <a:lnTo>
                    <a:pt x="0" y="261023"/>
                  </a:lnTo>
                  <a:lnTo>
                    <a:pt x="0" y="252715"/>
                  </a:lnTo>
                  <a:lnTo>
                    <a:pt x="0" y="244407"/>
                  </a:lnTo>
                  <a:lnTo>
                    <a:pt x="0" y="236099"/>
                  </a:lnTo>
                  <a:lnTo>
                    <a:pt x="0" y="227791"/>
                  </a:lnTo>
                  <a:lnTo>
                    <a:pt x="0" y="219483"/>
                  </a:lnTo>
                  <a:lnTo>
                    <a:pt x="0" y="211175"/>
                  </a:lnTo>
                  <a:lnTo>
                    <a:pt x="0" y="202867"/>
                  </a:lnTo>
                  <a:lnTo>
                    <a:pt x="0" y="194560"/>
                  </a:lnTo>
                  <a:lnTo>
                    <a:pt x="0" y="186252"/>
                  </a:lnTo>
                  <a:lnTo>
                    <a:pt x="0" y="177944"/>
                  </a:lnTo>
                  <a:lnTo>
                    <a:pt x="0" y="169636"/>
                  </a:lnTo>
                  <a:lnTo>
                    <a:pt x="0" y="161328"/>
                  </a:lnTo>
                  <a:lnTo>
                    <a:pt x="0" y="153020"/>
                  </a:lnTo>
                  <a:lnTo>
                    <a:pt x="0" y="144712"/>
                  </a:lnTo>
                  <a:lnTo>
                    <a:pt x="0" y="136404"/>
                  </a:lnTo>
                  <a:lnTo>
                    <a:pt x="0" y="128096"/>
                  </a:lnTo>
                  <a:lnTo>
                    <a:pt x="0" y="119788"/>
                  </a:lnTo>
                  <a:lnTo>
                    <a:pt x="0" y="111480"/>
                  </a:lnTo>
                  <a:lnTo>
                    <a:pt x="0" y="103172"/>
                  </a:lnTo>
                  <a:lnTo>
                    <a:pt x="0" y="94864"/>
                  </a:lnTo>
                  <a:lnTo>
                    <a:pt x="0" y="86556"/>
                  </a:lnTo>
                  <a:lnTo>
                    <a:pt x="0" y="78248"/>
                  </a:lnTo>
                  <a:lnTo>
                    <a:pt x="0" y="69940"/>
                  </a:lnTo>
                  <a:lnTo>
                    <a:pt x="0" y="61632"/>
                  </a:lnTo>
                  <a:lnTo>
                    <a:pt x="0" y="53324"/>
                  </a:lnTo>
                  <a:lnTo>
                    <a:pt x="0" y="45016"/>
                  </a:lnTo>
                  <a:lnTo>
                    <a:pt x="0" y="36708"/>
                  </a:lnTo>
                  <a:lnTo>
                    <a:pt x="292" y="28417"/>
                  </a:lnTo>
                  <a:lnTo>
                    <a:pt x="2095" y="20436"/>
                  </a:lnTo>
                  <a:lnTo>
                    <a:pt x="5444" y="13256"/>
                  </a:lnTo>
                  <a:lnTo>
                    <a:pt x="10119" y="7313"/>
                  </a:lnTo>
                  <a:lnTo>
                    <a:pt x="15833" y="2972"/>
                  </a:lnTo>
                  <a:lnTo>
                    <a:pt x="22239" y="514"/>
                  </a:lnTo>
                  <a:lnTo>
                    <a:pt x="28940" y="0"/>
                  </a:lnTo>
                  <a:lnTo>
                    <a:pt x="35666" y="0"/>
                  </a:lnTo>
                  <a:lnTo>
                    <a:pt x="42391" y="0"/>
                  </a:lnTo>
                  <a:lnTo>
                    <a:pt x="49117" y="0"/>
                  </a:lnTo>
                  <a:lnTo>
                    <a:pt x="55842" y="0"/>
                  </a:lnTo>
                  <a:lnTo>
                    <a:pt x="62568" y="0"/>
                  </a:lnTo>
                  <a:lnTo>
                    <a:pt x="69293" y="0"/>
                  </a:lnTo>
                  <a:lnTo>
                    <a:pt x="76019" y="0"/>
                  </a:lnTo>
                  <a:lnTo>
                    <a:pt x="82744" y="0"/>
                  </a:lnTo>
                  <a:lnTo>
                    <a:pt x="89470" y="0"/>
                  </a:lnTo>
                  <a:lnTo>
                    <a:pt x="96195" y="0"/>
                  </a:lnTo>
                  <a:lnTo>
                    <a:pt x="102921" y="0"/>
                  </a:lnTo>
                  <a:lnTo>
                    <a:pt x="109646" y="0"/>
                  </a:lnTo>
                  <a:lnTo>
                    <a:pt x="116372" y="0"/>
                  </a:lnTo>
                  <a:lnTo>
                    <a:pt x="123097" y="0"/>
                  </a:lnTo>
                  <a:lnTo>
                    <a:pt x="129823" y="0"/>
                  </a:lnTo>
                  <a:lnTo>
                    <a:pt x="136548" y="46"/>
                  </a:lnTo>
                  <a:lnTo>
                    <a:pt x="143184" y="1302"/>
                  </a:lnTo>
                  <a:lnTo>
                    <a:pt x="149468" y="4220"/>
                  </a:lnTo>
                  <a:lnTo>
                    <a:pt x="155130" y="8676"/>
                  </a:lnTo>
                  <a:lnTo>
                    <a:pt x="160029" y="14360"/>
                  </a:lnTo>
                  <a:lnTo>
                    <a:pt x="164784" y="20234"/>
                  </a:lnTo>
                  <a:lnTo>
                    <a:pt x="169540" y="26109"/>
                  </a:lnTo>
                  <a:lnTo>
                    <a:pt x="174296" y="31984"/>
                  </a:lnTo>
                  <a:lnTo>
                    <a:pt x="179051" y="37858"/>
                  </a:lnTo>
                  <a:lnTo>
                    <a:pt x="183807" y="43733"/>
                  </a:lnTo>
                  <a:lnTo>
                    <a:pt x="188563" y="49608"/>
                  </a:lnTo>
                  <a:lnTo>
                    <a:pt x="193318" y="55482"/>
                  </a:lnTo>
                  <a:lnTo>
                    <a:pt x="198074" y="61357"/>
                  </a:lnTo>
                  <a:lnTo>
                    <a:pt x="202830" y="67231"/>
                  </a:lnTo>
                  <a:lnTo>
                    <a:pt x="207555" y="73142"/>
                  </a:lnTo>
                  <a:lnTo>
                    <a:pt x="211513" y="79841"/>
                  </a:lnTo>
                  <a:lnTo>
                    <a:pt x="214267" y="87404"/>
                  </a:lnTo>
                  <a:lnTo>
                    <a:pt x="215700" y="95506"/>
                  </a:lnTo>
                  <a:lnTo>
                    <a:pt x="215900" y="103805"/>
                  </a:lnTo>
                  <a:lnTo>
                    <a:pt x="215900" y="112113"/>
                  </a:lnTo>
                  <a:lnTo>
                    <a:pt x="215900" y="120421"/>
                  </a:lnTo>
                  <a:lnTo>
                    <a:pt x="215900" y="128729"/>
                  </a:lnTo>
                  <a:lnTo>
                    <a:pt x="215900" y="137037"/>
                  </a:lnTo>
                  <a:lnTo>
                    <a:pt x="215900" y="145345"/>
                  </a:lnTo>
                  <a:lnTo>
                    <a:pt x="215900" y="153653"/>
                  </a:lnTo>
                  <a:lnTo>
                    <a:pt x="215900" y="161961"/>
                  </a:lnTo>
                  <a:lnTo>
                    <a:pt x="215900" y="170269"/>
                  </a:lnTo>
                  <a:lnTo>
                    <a:pt x="215900" y="178577"/>
                  </a:lnTo>
                  <a:lnTo>
                    <a:pt x="215900" y="186885"/>
                  </a:lnTo>
                  <a:lnTo>
                    <a:pt x="215900" y="195193"/>
                  </a:lnTo>
                  <a:lnTo>
                    <a:pt x="215900" y="203501"/>
                  </a:lnTo>
                  <a:lnTo>
                    <a:pt x="215900" y="211809"/>
                  </a:lnTo>
                  <a:lnTo>
                    <a:pt x="215900" y="220117"/>
                  </a:lnTo>
                  <a:lnTo>
                    <a:pt x="215900" y="228425"/>
                  </a:lnTo>
                  <a:lnTo>
                    <a:pt x="215900" y="236733"/>
                  </a:lnTo>
                  <a:lnTo>
                    <a:pt x="215900" y="245041"/>
                  </a:lnTo>
                  <a:lnTo>
                    <a:pt x="215900" y="253349"/>
                  </a:lnTo>
                  <a:lnTo>
                    <a:pt x="215900" y="261657"/>
                  </a:lnTo>
                  <a:lnTo>
                    <a:pt x="215900" y="269965"/>
                  </a:lnTo>
                  <a:lnTo>
                    <a:pt x="215900" y="278273"/>
                  </a:lnTo>
                  <a:lnTo>
                    <a:pt x="215900" y="286581"/>
                  </a:lnTo>
                  <a:lnTo>
                    <a:pt x="215900" y="294889"/>
                  </a:lnTo>
                  <a:lnTo>
                    <a:pt x="215781" y="303192"/>
                  </a:lnTo>
                  <a:lnTo>
                    <a:pt x="214326" y="311281"/>
                  </a:lnTo>
                  <a:lnTo>
                    <a:pt x="211293" y="318672"/>
                  </a:lnTo>
                  <a:lnTo>
                    <a:pt x="206880" y="324913"/>
                  </a:lnTo>
                  <a:lnTo>
                    <a:pt x="201361" y="329624"/>
                  </a:lnTo>
                  <a:lnTo>
                    <a:pt x="195071" y="332503"/>
                  </a:lnTo>
                  <a:lnTo>
                    <a:pt x="188400" y="333375"/>
                  </a:lnTo>
                  <a:lnTo>
                    <a:pt x="181674" y="333375"/>
                  </a:lnTo>
                  <a:lnTo>
                    <a:pt x="174949" y="333375"/>
                  </a:lnTo>
                  <a:lnTo>
                    <a:pt x="168223" y="333375"/>
                  </a:lnTo>
                  <a:lnTo>
                    <a:pt x="161498" y="333375"/>
                  </a:lnTo>
                  <a:lnTo>
                    <a:pt x="154772" y="333375"/>
                  </a:lnTo>
                  <a:lnTo>
                    <a:pt x="148047" y="333375"/>
                  </a:lnTo>
                  <a:lnTo>
                    <a:pt x="141321" y="333375"/>
                  </a:lnTo>
                  <a:lnTo>
                    <a:pt x="134596" y="333375"/>
                  </a:lnTo>
                  <a:lnTo>
                    <a:pt x="127870" y="333375"/>
                  </a:lnTo>
                  <a:lnTo>
                    <a:pt x="121145" y="333375"/>
                  </a:lnTo>
                  <a:lnTo>
                    <a:pt x="114419" y="333375"/>
                  </a:lnTo>
                  <a:lnTo>
                    <a:pt x="107694" y="333375"/>
                  </a:lnTo>
                  <a:lnTo>
                    <a:pt x="100968" y="333375"/>
                  </a:lnTo>
                  <a:lnTo>
                    <a:pt x="94243" y="333375"/>
                  </a:lnTo>
                  <a:lnTo>
                    <a:pt x="87517" y="333375"/>
                  </a:lnTo>
                  <a:lnTo>
                    <a:pt x="80792" y="333375"/>
                  </a:lnTo>
                  <a:lnTo>
                    <a:pt x="74066" y="333375"/>
                  </a:lnTo>
                  <a:lnTo>
                    <a:pt x="67341" y="333375"/>
                  </a:lnTo>
                  <a:lnTo>
                    <a:pt x="60615" y="333375"/>
                  </a:lnTo>
                  <a:lnTo>
                    <a:pt x="53890" y="333375"/>
                  </a:lnTo>
                  <a:lnTo>
                    <a:pt x="47164" y="333375"/>
                  </a:lnTo>
                  <a:lnTo>
                    <a:pt x="40439" y="333375"/>
                  </a:lnTo>
                  <a:lnTo>
                    <a:pt x="33713" y="333375"/>
                  </a:lnTo>
                  <a:lnTo>
                    <a:pt x="26988" y="333375"/>
                  </a:lnTo>
                  <a:close/>
                </a:path>
              </a:pathLst>
            </a:custGeom>
            <a:noFill/>
            <a:ln w="26988">
              <a:solidFill>
                <a:srgbClr val="0C3158"/>
              </a:solidFill>
            </a:ln>
          </p:spPr>
        </p:sp>
        <p:sp>
          <p:nvSpPr>
            <p:cNvPr id="228" name="Workspace file icon 0 1">
              <a:extLst>
                <a:ext uri="{FF2B5EF4-FFF2-40B4-BE49-F238E27FC236}">
                  <a16:creationId xmlns:a16="http://schemas.microsoft.com/office/drawing/2014/main" id="{CEBB0AB7-CC8A-49C3-A057-C95B3D9296C8}"/>
                </a:ext>
              </a:extLst>
            </p:cNvPr>
            <p:cNvSpPr>
              <a:spLocks noGrp="1"/>
            </p:cNvSpPr>
            <p:nvPr/>
          </p:nvSpPr>
          <p:spPr>
            <a:xfrm>
              <a:off x="7456488" y="7700963"/>
              <a:ext cx="80963" cy="100013"/>
            </a:xfrm>
            <a:custGeom>
              <a:avLst/>
              <a:gdLst/>
              <a:ahLst/>
              <a:cxnLst/>
              <a:rect l="0" t="0" r="0" b="0"/>
              <a:pathLst>
                <a:path w="80963" h="100013">
                  <a:moveTo>
                    <a:pt x="0" y="0"/>
                  </a:moveTo>
                  <a:lnTo>
                    <a:pt x="0" y="8036"/>
                  </a:lnTo>
                  <a:lnTo>
                    <a:pt x="0" y="16073"/>
                  </a:lnTo>
                  <a:lnTo>
                    <a:pt x="0" y="24109"/>
                  </a:lnTo>
                  <a:lnTo>
                    <a:pt x="0" y="32146"/>
                  </a:lnTo>
                  <a:lnTo>
                    <a:pt x="0" y="40182"/>
                  </a:lnTo>
                  <a:lnTo>
                    <a:pt x="0" y="48219"/>
                  </a:lnTo>
                  <a:lnTo>
                    <a:pt x="0" y="56255"/>
                  </a:lnTo>
                  <a:lnTo>
                    <a:pt x="0" y="64291"/>
                  </a:lnTo>
                  <a:lnTo>
                    <a:pt x="0" y="72328"/>
                  </a:lnTo>
                  <a:lnTo>
                    <a:pt x="0" y="80364"/>
                  </a:lnTo>
                  <a:lnTo>
                    <a:pt x="613" y="88324"/>
                  </a:lnTo>
                  <a:lnTo>
                    <a:pt x="3952" y="95130"/>
                  </a:lnTo>
                  <a:lnTo>
                    <a:pt x="9462" y="99256"/>
                  </a:lnTo>
                  <a:lnTo>
                    <a:pt x="15906" y="100013"/>
                  </a:lnTo>
                  <a:lnTo>
                    <a:pt x="22411" y="100013"/>
                  </a:lnTo>
                  <a:lnTo>
                    <a:pt x="28917" y="100013"/>
                  </a:lnTo>
                  <a:lnTo>
                    <a:pt x="35423" y="100013"/>
                  </a:lnTo>
                  <a:lnTo>
                    <a:pt x="41928" y="100013"/>
                  </a:lnTo>
                  <a:lnTo>
                    <a:pt x="48434" y="100013"/>
                  </a:lnTo>
                  <a:lnTo>
                    <a:pt x="54940" y="100013"/>
                  </a:lnTo>
                  <a:lnTo>
                    <a:pt x="61445" y="100013"/>
                  </a:lnTo>
                  <a:lnTo>
                    <a:pt x="67951" y="100013"/>
                  </a:lnTo>
                  <a:lnTo>
                    <a:pt x="74457" y="100013"/>
                  </a:lnTo>
                  <a:lnTo>
                    <a:pt x="80963" y="100013"/>
                  </a:lnTo>
                </a:path>
              </a:pathLst>
            </a:custGeom>
            <a:noFill/>
            <a:ln w="26988">
              <a:solidFill>
                <a:srgbClr val="0C3158"/>
              </a:solidFill>
            </a:ln>
          </p:spPr>
        </p:sp>
        <p:sp>
          <p:nvSpPr>
            <p:cNvPr id="229" name="Workspace file icon 0 2">
              <a:extLst>
                <a:ext uri="{FF2B5EF4-FFF2-40B4-BE49-F238E27FC236}">
                  <a16:creationId xmlns:a16="http://schemas.microsoft.com/office/drawing/2014/main" id="{E04F8F14-5290-4902-AE34-C37C9A593670}"/>
                </a:ext>
              </a:extLst>
            </p:cNvPr>
            <p:cNvSpPr>
              <a:spLocks noGrp="1"/>
            </p:cNvSpPr>
            <p:nvPr/>
          </p:nvSpPr>
          <p:spPr>
            <a:xfrm>
              <a:off x="7375525" y="7817644"/>
              <a:ext cx="26987" cy="953"/>
            </a:xfrm>
            <a:custGeom>
              <a:avLst/>
              <a:gdLst/>
              <a:ahLst/>
              <a:cxnLst/>
              <a:rect l="0" t="0" r="0" b="0"/>
              <a:pathLst>
                <a:path w="26987" h="953">
                  <a:moveTo>
                    <a:pt x="26987" y="0"/>
                  </a:moveTo>
                  <a:lnTo>
                    <a:pt x="20241" y="0"/>
                  </a:lnTo>
                  <a:lnTo>
                    <a:pt x="13494" y="0"/>
                  </a:lnTo>
                  <a:lnTo>
                    <a:pt x="6747" y="0"/>
                  </a:lnTo>
                  <a:lnTo>
                    <a:pt x="0" y="0"/>
                  </a:lnTo>
                </a:path>
              </a:pathLst>
            </a:custGeom>
            <a:noFill/>
            <a:ln w="26988">
              <a:solidFill>
                <a:srgbClr val="0C3158"/>
              </a:solidFill>
            </a:ln>
          </p:spPr>
        </p:sp>
        <p:sp>
          <p:nvSpPr>
            <p:cNvPr id="230" name="Workspace file icon 0 3">
              <a:extLst>
                <a:ext uri="{FF2B5EF4-FFF2-40B4-BE49-F238E27FC236}">
                  <a16:creationId xmlns:a16="http://schemas.microsoft.com/office/drawing/2014/main" id="{B6717B37-47B6-4446-A2C6-E51788A9FDCE}"/>
                </a:ext>
              </a:extLst>
            </p:cNvPr>
            <p:cNvSpPr>
              <a:spLocks noGrp="1"/>
            </p:cNvSpPr>
            <p:nvPr/>
          </p:nvSpPr>
          <p:spPr>
            <a:xfrm>
              <a:off x="7375525" y="7884319"/>
              <a:ext cx="107950" cy="0"/>
            </a:xfrm>
            <a:custGeom>
              <a:avLst/>
              <a:gdLst/>
              <a:ahLst/>
              <a:cxnLst/>
              <a:rect l="0" t="0" r="0" b="0"/>
              <a:pathLst>
                <a:path w="107950">
                  <a:moveTo>
                    <a:pt x="107950" y="0"/>
                  </a:moveTo>
                  <a:lnTo>
                    <a:pt x="101203" y="0"/>
                  </a:lnTo>
                  <a:lnTo>
                    <a:pt x="94456" y="0"/>
                  </a:lnTo>
                  <a:lnTo>
                    <a:pt x="87709" y="0"/>
                  </a:lnTo>
                  <a:lnTo>
                    <a:pt x="80963" y="0"/>
                  </a:lnTo>
                  <a:lnTo>
                    <a:pt x="74216" y="0"/>
                  </a:lnTo>
                  <a:lnTo>
                    <a:pt x="67469" y="0"/>
                  </a:lnTo>
                  <a:lnTo>
                    <a:pt x="60722" y="0"/>
                  </a:lnTo>
                  <a:lnTo>
                    <a:pt x="53975" y="0"/>
                  </a:lnTo>
                  <a:lnTo>
                    <a:pt x="47228" y="0"/>
                  </a:lnTo>
                  <a:lnTo>
                    <a:pt x="40481" y="0"/>
                  </a:lnTo>
                  <a:lnTo>
                    <a:pt x="33734" y="0"/>
                  </a:lnTo>
                  <a:lnTo>
                    <a:pt x="26987" y="0"/>
                  </a:lnTo>
                  <a:lnTo>
                    <a:pt x="20241" y="0"/>
                  </a:lnTo>
                  <a:lnTo>
                    <a:pt x="13494" y="0"/>
                  </a:lnTo>
                  <a:lnTo>
                    <a:pt x="6747" y="0"/>
                  </a:lnTo>
                  <a:lnTo>
                    <a:pt x="0" y="0"/>
                  </a:lnTo>
                </a:path>
              </a:pathLst>
            </a:custGeom>
            <a:noFill/>
            <a:ln w="26988">
              <a:solidFill>
                <a:srgbClr val="0C3158"/>
              </a:solidFill>
            </a:ln>
          </p:spPr>
        </p:sp>
        <p:sp>
          <p:nvSpPr>
            <p:cNvPr id="231" name="Workspace file icon 0 4">
              <a:extLst>
                <a:ext uri="{FF2B5EF4-FFF2-40B4-BE49-F238E27FC236}">
                  <a16:creationId xmlns:a16="http://schemas.microsoft.com/office/drawing/2014/main" id="{EE17C541-F2FD-47C4-B5C5-351882B21BD9}"/>
                </a:ext>
              </a:extLst>
            </p:cNvPr>
            <p:cNvSpPr>
              <a:spLocks noGrp="1"/>
            </p:cNvSpPr>
            <p:nvPr/>
          </p:nvSpPr>
          <p:spPr>
            <a:xfrm>
              <a:off x="7375525" y="7950994"/>
              <a:ext cx="107950" cy="953"/>
            </a:xfrm>
            <a:custGeom>
              <a:avLst/>
              <a:gdLst/>
              <a:ahLst/>
              <a:cxnLst/>
              <a:rect l="0" t="0" r="0" b="0"/>
              <a:pathLst>
                <a:path w="107950" h="953">
                  <a:moveTo>
                    <a:pt x="107950" y="0"/>
                  </a:moveTo>
                  <a:lnTo>
                    <a:pt x="101203" y="0"/>
                  </a:lnTo>
                  <a:lnTo>
                    <a:pt x="94456" y="0"/>
                  </a:lnTo>
                  <a:lnTo>
                    <a:pt x="87709" y="0"/>
                  </a:lnTo>
                  <a:lnTo>
                    <a:pt x="80963" y="0"/>
                  </a:lnTo>
                  <a:lnTo>
                    <a:pt x="74216" y="0"/>
                  </a:lnTo>
                  <a:lnTo>
                    <a:pt x="67469" y="0"/>
                  </a:lnTo>
                  <a:lnTo>
                    <a:pt x="60722" y="0"/>
                  </a:lnTo>
                  <a:lnTo>
                    <a:pt x="53975" y="0"/>
                  </a:lnTo>
                  <a:lnTo>
                    <a:pt x="47228" y="0"/>
                  </a:lnTo>
                  <a:lnTo>
                    <a:pt x="40481" y="0"/>
                  </a:lnTo>
                  <a:lnTo>
                    <a:pt x="33734" y="0"/>
                  </a:lnTo>
                  <a:lnTo>
                    <a:pt x="26987" y="0"/>
                  </a:lnTo>
                  <a:lnTo>
                    <a:pt x="20241" y="0"/>
                  </a:lnTo>
                  <a:lnTo>
                    <a:pt x="13494" y="0"/>
                  </a:lnTo>
                  <a:lnTo>
                    <a:pt x="6747" y="0"/>
                  </a:lnTo>
                  <a:lnTo>
                    <a:pt x="0" y="0"/>
                  </a:lnTo>
                </a:path>
              </a:pathLst>
            </a:custGeom>
            <a:noFill/>
            <a:ln w="26988">
              <a:solidFill>
                <a:srgbClr val="0C3158"/>
              </a:solidFill>
            </a:ln>
          </p:spPr>
        </p:sp>
        <p:sp>
          <p:nvSpPr>
            <p:cNvPr id="232" name="Workspace filename 0">
              <a:extLst>
                <a:ext uri="{FF2B5EF4-FFF2-40B4-BE49-F238E27FC236}">
                  <a16:creationId xmlns:a16="http://schemas.microsoft.com/office/drawing/2014/main" id="{B6323FFE-C706-4475-9615-E941F995595B}"/>
                </a:ext>
              </a:extLst>
            </p:cNvPr>
            <p:cNvSpPr>
              <a:spLocks noGrp="1"/>
            </p:cNvSpPr>
            <p:nvPr/>
          </p:nvSpPr>
          <p:spPr>
            <a:xfrm>
              <a:off x="7715250" y="7705725"/>
              <a:ext cx="762000" cy="2190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1163" b="0">
                  <a:solidFill>
                    <a:srgbClr val="182C58"/>
                  </a:solidFill>
                  <a:latin typeface="Arial Narrow"/>
                  <a:ea typeface="Arial Narrow"/>
                  <a:cs typeface="Arial Narrow"/>
                </a:defRPr>
              </a:pPr>
              <a:r>
                <a:rPr sz="1163" b="0">
                  <a:solidFill>
                    <a:srgbClr val="182C58"/>
                  </a:solidFill>
                  <a:latin typeface="Times New Roman" panose="02020603050405020304" pitchFamily="18" charset="0"/>
                  <a:ea typeface="Arial Narrow"/>
                  <a:cs typeface="Times New Roman" panose="02020603050405020304" pitchFamily="18" charset="0"/>
                </a:rPr>
                <a:t>candidate.py</a:t>
              </a:r>
            </a:p>
          </p:txBody>
        </p:sp>
        <p:sp>
          <p:nvSpPr>
            <p:cNvPr id="233" name="Workspace file detail 0">
              <a:extLst>
                <a:ext uri="{FF2B5EF4-FFF2-40B4-BE49-F238E27FC236}">
                  <a16:creationId xmlns:a16="http://schemas.microsoft.com/office/drawing/2014/main" id="{B0D8CCA9-6B3B-4BD1-B30F-2038EAD0CC5D}"/>
                </a:ext>
              </a:extLst>
            </p:cNvPr>
            <p:cNvSpPr>
              <a:spLocks noGrp="1"/>
            </p:cNvSpPr>
            <p:nvPr/>
          </p:nvSpPr>
          <p:spPr>
            <a:xfrm>
              <a:off x="7715250" y="7915275"/>
              <a:ext cx="762000" cy="2190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1088" b="0">
                  <a:solidFill>
                    <a:srgbClr val="66728D"/>
                  </a:solidFill>
                  <a:latin typeface="Arial Narrow"/>
                  <a:ea typeface="Arial Narrow"/>
                  <a:cs typeface="Arial Narrow"/>
                </a:defRPr>
              </a:pPr>
              <a:r>
                <a:rPr sz="1088" b="0">
                  <a:solidFill>
                    <a:srgbClr val="66728D"/>
                  </a:solidFill>
                  <a:latin typeface="Times New Roman" panose="02020603050405020304" pitchFamily="18" charset="0"/>
                  <a:ea typeface="Arial Narrow"/>
                  <a:cs typeface="Times New Roman" panose="02020603050405020304" pitchFamily="18" charset="0"/>
                </a:rPr>
                <a:t>(current)</a:t>
              </a:r>
            </a:p>
          </p:txBody>
        </p:sp>
        <p:sp>
          <p:nvSpPr>
            <p:cNvPr id="234" name="Workspace file 1">
              <a:extLst>
                <a:ext uri="{FF2B5EF4-FFF2-40B4-BE49-F238E27FC236}">
                  <a16:creationId xmlns:a16="http://schemas.microsoft.com/office/drawing/2014/main" id="{FCB6A5CA-708C-4C4C-AC02-AA7BDA64E8CE}"/>
                </a:ext>
              </a:extLst>
            </p:cNvPr>
            <p:cNvSpPr>
              <a:spLocks noGrp="1"/>
            </p:cNvSpPr>
            <p:nvPr/>
          </p:nvSpPr>
          <p:spPr>
            <a:xfrm>
              <a:off x="8639175" y="7562850"/>
              <a:ext cx="1409700" cy="619125"/>
            </a:xfrm>
            <a:prstGeom prst="roundRect">
              <a:avLst>
                <a:gd name="adj" fmla="val 13846"/>
              </a:avLst>
            </a:prstGeom>
            <a:solidFill>
              <a:srgbClr val="FDFDFF"/>
            </a:solidFill>
            <a:ln w="11430">
              <a:solidFill>
                <a:srgbClr val="DDDDF0"/>
              </a:solidFill>
            </a:ln>
          </p:spPr>
        </p:sp>
        <p:sp>
          <p:nvSpPr>
            <p:cNvPr id="235" name="Workspace file color 1">
              <a:extLst>
                <a:ext uri="{FF2B5EF4-FFF2-40B4-BE49-F238E27FC236}">
                  <a16:creationId xmlns:a16="http://schemas.microsoft.com/office/drawing/2014/main" id="{D24B06BC-8383-41CE-83F7-2D43DE8BF824}"/>
                </a:ext>
              </a:extLst>
            </p:cNvPr>
            <p:cNvSpPr>
              <a:spLocks noGrp="1"/>
            </p:cNvSpPr>
            <p:nvPr/>
          </p:nvSpPr>
          <p:spPr>
            <a:xfrm>
              <a:off x="8810625" y="7705725"/>
              <a:ext cx="266700" cy="333375"/>
            </a:xfrm>
            <a:prstGeom prst="roundRect">
              <a:avLst>
                <a:gd name="adj" fmla="val 3571"/>
              </a:avLst>
            </a:prstGeom>
            <a:solidFill>
              <a:srgbClr val="F4CE76"/>
            </a:solidFill>
            <a:ln w="0">
              <a:noFill/>
            </a:ln>
          </p:spPr>
        </p:sp>
        <p:sp>
          <p:nvSpPr>
            <p:cNvPr id="236" name="Workspace file icon 1 0">
              <a:extLst>
                <a:ext uri="{FF2B5EF4-FFF2-40B4-BE49-F238E27FC236}">
                  <a16:creationId xmlns:a16="http://schemas.microsoft.com/office/drawing/2014/main" id="{AB2C7F26-FD8B-48F9-837E-6C0BB8994000}"/>
                </a:ext>
              </a:extLst>
            </p:cNvPr>
            <p:cNvSpPr>
              <a:spLocks noGrp="1"/>
            </p:cNvSpPr>
            <p:nvPr/>
          </p:nvSpPr>
          <p:spPr>
            <a:xfrm>
              <a:off x="8836025" y="7700963"/>
              <a:ext cx="215900" cy="333375"/>
            </a:xfrm>
            <a:custGeom>
              <a:avLst/>
              <a:gdLst/>
              <a:ahLst/>
              <a:cxnLst/>
              <a:rect l="0" t="0" r="0" b="0"/>
              <a:pathLst>
                <a:path w="215900" h="333375">
                  <a:moveTo>
                    <a:pt x="26988" y="333375"/>
                  </a:moveTo>
                  <a:lnTo>
                    <a:pt x="20331" y="332353"/>
                  </a:lnTo>
                  <a:lnTo>
                    <a:pt x="14086" y="329326"/>
                  </a:lnTo>
                  <a:lnTo>
                    <a:pt x="8641" y="324487"/>
                  </a:lnTo>
                  <a:lnTo>
                    <a:pt x="4324" y="318144"/>
                  </a:lnTo>
                  <a:lnTo>
                    <a:pt x="1405" y="310683"/>
                  </a:lnTo>
                  <a:lnTo>
                    <a:pt x="76" y="302561"/>
                  </a:lnTo>
                  <a:lnTo>
                    <a:pt x="0" y="294255"/>
                  </a:lnTo>
                  <a:lnTo>
                    <a:pt x="0" y="285947"/>
                  </a:lnTo>
                  <a:lnTo>
                    <a:pt x="0" y="277639"/>
                  </a:lnTo>
                  <a:lnTo>
                    <a:pt x="0" y="269331"/>
                  </a:lnTo>
                  <a:lnTo>
                    <a:pt x="0" y="261023"/>
                  </a:lnTo>
                  <a:lnTo>
                    <a:pt x="0" y="252715"/>
                  </a:lnTo>
                  <a:lnTo>
                    <a:pt x="0" y="244407"/>
                  </a:lnTo>
                  <a:lnTo>
                    <a:pt x="0" y="236099"/>
                  </a:lnTo>
                  <a:lnTo>
                    <a:pt x="0" y="227791"/>
                  </a:lnTo>
                  <a:lnTo>
                    <a:pt x="0" y="219483"/>
                  </a:lnTo>
                  <a:lnTo>
                    <a:pt x="0" y="211175"/>
                  </a:lnTo>
                  <a:lnTo>
                    <a:pt x="0" y="202867"/>
                  </a:lnTo>
                  <a:lnTo>
                    <a:pt x="0" y="194560"/>
                  </a:lnTo>
                  <a:lnTo>
                    <a:pt x="0" y="186252"/>
                  </a:lnTo>
                  <a:lnTo>
                    <a:pt x="0" y="177944"/>
                  </a:lnTo>
                  <a:lnTo>
                    <a:pt x="0" y="169636"/>
                  </a:lnTo>
                  <a:lnTo>
                    <a:pt x="0" y="161328"/>
                  </a:lnTo>
                  <a:lnTo>
                    <a:pt x="0" y="153020"/>
                  </a:lnTo>
                  <a:lnTo>
                    <a:pt x="0" y="144712"/>
                  </a:lnTo>
                  <a:lnTo>
                    <a:pt x="0" y="136404"/>
                  </a:lnTo>
                  <a:lnTo>
                    <a:pt x="0" y="128096"/>
                  </a:lnTo>
                  <a:lnTo>
                    <a:pt x="0" y="119788"/>
                  </a:lnTo>
                  <a:lnTo>
                    <a:pt x="0" y="111480"/>
                  </a:lnTo>
                  <a:lnTo>
                    <a:pt x="0" y="103172"/>
                  </a:lnTo>
                  <a:lnTo>
                    <a:pt x="0" y="94864"/>
                  </a:lnTo>
                  <a:lnTo>
                    <a:pt x="0" y="86556"/>
                  </a:lnTo>
                  <a:lnTo>
                    <a:pt x="0" y="78248"/>
                  </a:lnTo>
                  <a:lnTo>
                    <a:pt x="0" y="69940"/>
                  </a:lnTo>
                  <a:lnTo>
                    <a:pt x="0" y="61632"/>
                  </a:lnTo>
                  <a:lnTo>
                    <a:pt x="0" y="53324"/>
                  </a:lnTo>
                  <a:lnTo>
                    <a:pt x="0" y="45016"/>
                  </a:lnTo>
                  <a:lnTo>
                    <a:pt x="0" y="36708"/>
                  </a:lnTo>
                  <a:lnTo>
                    <a:pt x="292" y="28417"/>
                  </a:lnTo>
                  <a:lnTo>
                    <a:pt x="2095" y="20436"/>
                  </a:lnTo>
                  <a:lnTo>
                    <a:pt x="5444" y="13256"/>
                  </a:lnTo>
                  <a:lnTo>
                    <a:pt x="10119" y="7313"/>
                  </a:lnTo>
                  <a:lnTo>
                    <a:pt x="15833" y="2972"/>
                  </a:lnTo>
                  <a:lnTo>
                    <a:pt x="22239" y="514"/>
                  </a:lnTo>
                  <a:lnTo>
                    <a:pt x="28940" y="0"/>
                  </a:lnTo>
                  <a:lnTo>
                    <a:pt x="35666" y="0"/>
                  </a:lnTo>
                  <a:lnTo>
                    <a:pt x="42391" y="0"/>
                  </a:lnTo>
                  <a:lnTo>
                    <a:pt x="49117" y="0"/>
                  </a:lnTo>
                  <a:lnTo>
                    <a:pt x="55842" y="0"/>
                  </a:lnTo>
                  <a:lnTo>
                    <a:pt x="62568" y="0"/>
                  </a:lnTo>
                  <a:lnTo>
                    <a:pt x="69293" y="0"/>
                  </a:lnTo>
                  <a:lnTo>
                    <a:pt x="76019" y="0"/>
                  </a:lnTo>
                  <a:lnTo>
                    <a:pt x="82744" y="0"/>
                  </a:lnTo>
                  <a:lnTo>
                    <a:pt x="89470" y="0"/>
                  </a:lnTo>
                  <a:lnTo>
                    <a:pt x="96195" y="0"/>
                  </a:lnTo>
                  <a:lnTo>
                    <a:pt x="102921" y="0"/>
                  </a:lnTo>
                  <a:lnTo>
                    <a:pt x="109646" y="0"/>
                  </a:lnTo>
                  <a:lnTo>
                    <a:pt x="116372" y="0"/>
                  </a:lnTo>
                  <a:lnTo>
                    <a:pt x="123097" y="0"/>
                  </a:lnTo>
                  <a:lnTo>
                    <a:pt x="129823" y="0"/>
                  </a:lnTo>
                  <a:lnTo>
                    <a:pt x="136548" y="46"/>
                  </a:lnTo>
                  <a:lnTo>
                    <a:pt x="143184" y="1302"/>
                  </a:lnTo>
                  <a:lnTo>
                    <a:pt x="149468" y="4220"/>
                  </a:lnTo>
                  <a:lnTo>
                    <a:pt x="155130" y="8676"/>
                  </a:lnTo>
                  <a:lnTo>
                    <a:pt x="160029" y="14360"/>
                  </a:lnTo>
                  <a:lnTo>
                    <a:pt x="164784" y="20234"/>
                  </a:lnTo>
                  <a:lnTo>
                    <a:pt x="169540" y="26109"/>
                  </a:lnTo>
                  <a:lnTo>
                    <a:pt x="174296" y="31984"/>
                  </a:lnTo>
                  <a:lnTo>
                    <a:pt x="179051" y="37858"/>
                  </a:lnTo>
                  <a:lnTo>
                    <a:pt x="183807" y="43733"/>
                  </a:lnTo>
                  <a:lnTo>
                    <a:pt x="188563" y="49608"/>
                  </a:lnTo>
                  <a:lnTo>
                    <a:pt x="193318" y="55482"/>
                  </a:lnTo>
                  <a:lnTo>
                    <a:pt x="198074" y="61357"/>
                  </a:lnTo>
                  <a:lnTo>
                    <a:pt x="202830" y="67231"/>
                  </a:lnTo>
                  <a:lnTo>
                    <a:pt x="207555" y="73142"/>
                  </a:lnTo>
                  <a:lnTo>
                    <a:pt x="211513" y="79841"/>
                  </a:lnTo>
                  <a:lnTo>
                    <a:pt x="214267" y="87404"/>
                  </a:lnTo>
                  <a:lnTo>
                    <a:pt x="215700" y="95506"/>
                  </a:lnTo>
                  <a:lnTo>
                    <a:pt x="215900" y="103805"/>
                  </a:lnTo>
                  <a:lnTo>
                    <a:pt x="215900" y="112113"/>
                  </a:lnTo>
                  <a:lnTo>
                    <a:pt x="215900" y="120421"/>
                  </a:lnTo>
                  <a:lnTo>
                    <a:pt x="215900" y="128729"/>
                  </a:lnTo>
                  <a:lnTo>
                    <a:pt x="215900" y="137037"/>
                  </a:lnTo>
                  <a:lnTo>
                    <a:pt x="215900" y="145345"/>
                  </a:lnTo>
                  <a:lnTo>
                    <a:pt x="215900" y="153653"/>
                  </a:lnTo>
                  <a:lnTo>
                    <a:pt x="215900" y="161961"/>
                  </a:lnTo>
                  <a:lnTo>
                    <a:pt x="215900" y="170269"/>
                  </a:lnTo>
                  <a:lnTo>
                    <a:pt x="215900" y="178577"/>
                  </a:lnTo>
                  <a:lnTo>
                    <a:pt x="215900" y="186885"/>
                  </a:lnTo>
                  <a:lnTo>
                    <a:pt x="215900" y="195193"/>
                  </a:lnTo>
                  <a:lnTo>
                    <a:pt x="215900" y="203501"/>
                  </a:lnTo>
                  <a:lnTo>
                    <a:pt x="215900" y="211809"/>
                  </a:lnTo>
                  <a:lnTo>
                    <a:pt x="215900" y="220117"/>
                  </a:lnTo>
                  <a:lnTo>
                    <a:pt x="215900" y="228425"/>
                  </a:lnTo>
                  <a:lnTo>
                    <a:pt x="215900" y="236733"/>
                  </a:lnTo>
                  <a:lnTo>
                    <a:pt x="215900" y="245041"/>
                  </a:lnTo>
                  <a:lnTo>
                    <a:pt x="215900" y="253349"/>
                  </a:lnTo>
                  <a:lnTo>
                    <a:pt x="215900" y="261657"/>
                  </a:lnTo>
                  <a:lnTo>
                    <a:pt x="215900" y="269965"/>
                  </a:lnTo>
                  <a:lnTo>
                    <a:pt x="215900" y="278273"/>
                  </a:lnTo>
                  <a:lnTo>
                    <a:pt x="215900" y="286581"/>
                  </a:lnTo>
                  <a:lnTo>
                    <a:pt x="215900" y="294889"/>
                  </a:lnTo>
                  <a:lnTo>
                    <a:pt x="215781" y="303192"/>
                  </a:lnTo>
                  <a:lnTo>
                    <a:pt x="214326" y="311281"/>
                  </a:lnTo>
                  <a:lnTo>
                    <a:pt x="211293" y="318672"/>
                  </a:lnTo>
                  <a:lnTo>
                    <a:pt x="206880" y="324913"/>
                  </a:lnTo>
                  <a:lnTo>
                    <a:pt x="201361" y="329624"/>
                  </a:lnTo>
                  <a:lnTo>
                    <a:pt x="195071" y="332503"/>
                  </a:lnTo>
                  <a:lnTo>
                    <a:pt x="188400" y="333375"/>
                  </a:lnTo>
                  <a:lnTo>
                    <a:pt x="181674" y="333375"/>
                  </a:lnTo>
                  <a:lnTo>
                    <a:pt x="174949" y="333375"/>
                  </a:lnTo>
                  <a:lnTo>
                    <a:pt x="168223" y="333375"/>
                  </a:lnTo>
                  <a:lnTo>
                    <a:pt x="161498" y="333375"/>
                  </a:lnTo>
                  <a:lnTo>
                    <a:pt x="154772" y="333375"/>
                  </a:lnTo>
                  <a:lnTo>
                    <a:pt x="148047" y="333375"/>
                  </a:lnTo>
                  <a:lnTo>
                    <a:pt x="141321" y="333375"/>
                  </a:lnTo>
                  <a:lnTo>
                    <a:pt x="134596" y="333375"/>
                  </a:lnTo>
                  <a:lnTo>
                    <a:pt x="127870" y="333375"/>
                  </a:lnTo>
                  <a:lnTo>
                    <a:pt x="121145" y="333375"/>
                  </a:lnTo>
                  <a:lnTo>
                    <a:pt x="114419" y="333375"/>
                  </a:lnTo>
                  <a:lnTo>
                    <a:pt x="107694" y="333375"/>
                  </a:lnTo>
                  <a:lnTo>
                    <a:pt x="100968" y="333375"/>
                  </a:lnTo>
                  <a:lnTo>
                    <a:pt x="94243" y="333375"/>
                  </a:lnTo>
                  <a:lnTo>
                    <a:pt x="87517" y="333375"/>
                  </a:lnTo>
                  <a:lnTo>
                    <a:pt x="80792" y="333375"/>
                  </a:lnTo>
                  <a:lnTo>
                    <a:pt x="74066" y="333375"/>
                  </a:lnTo>
                  <a:lnTo>
                    <a:pt x="67341" y="333375"/>
                  </a:lnTo>
                  <a:lnTo>
                    <a:pt x="60615" y="333375"/>
                  </a:lnTo>
                  <a:lnTo>
                    <a:pt x="53890" y="333375"/>
                  </a:lnTo>
                  <a:lnTo>
                    <a:pt x="47164" y="333375"/>
                  </a:lnTo>
                  <a:lnTo>
                    <a:pt x="40439" y="333375"/>
                  </a:lnTo>
                  <a:lnTo>
                    <a:pt x="33713" y="333375"/>
                  </a:lnTo>
                  <a:lnTo>
                    <a:pt x="26988" y="333375"/>
                  </a:lnTo>
                  <a:close/>
                </a:path>
              </a:pathLst>
            </a:custGeom>
            <a:noFill/>
            <a:ln w="26988">
              <a:solidFill>
                <a:srgbClr val="0C3158"/>
              </a:solidFill>
            </a:ln>
          </p:spPr>
        </p:sp>
        <p:sp>
          <p:nvSpPr>
            <p:cNvPr id="237" name="Workspace file icon 1 1">
              <a:extLst>
                <a:ext uri="{FF2B5EF4-FFF2-40B4-BE49-F238E27FC236}">
                  <a16:creationId xmlns:a16="http://schemas.microsoft.com/office/drawing/2014/main" id="{7755D7FB-D4CC-4658-96E9-F62543BB6CE1}"/>
                </a:ext>
              </a:extLst>
            </p:cNvPr>
            <p:cNvSpPr>
              <a:spLocks noGrp="1"/>
            </p:cNvSpPr>
            <p:nvPr/>
          </p:nvSpPr>
          <p:spPr>
            <a:xfrm>
              <a:off x="8970963" y="7700963"/>
              <a:ext cx="80963" cy="100013"/>
            </a:xfrm>
            <a:custGeom>
              <a:avLst/>
              <a:gdLst/>
              <a:ahLst/>
              <a:cxnLst/>
              <a:rect l="0" t="0" r="0" b="0"/>
              <a:pathLst>
                <a:path w="80963" h="100013">
                  <a:moveTo>
                    <a:pt x="0" y="0"/>
                  </a:moveTo>
                  <a:lnTo>
                    <a:pt x="0" y="8036"/>
                  </a:lnTo>
                  <a:lnTo>
                    <a:pt x="0" y="16073"/>
                  </a:lnTo>
                  <a:lnTo>
                    <a:pt x="0" y="24109"/>
                  </a:lnTo>
                  <a:lnTo>
                    <a:pt x="0" y="32146"/>
                  </a:lnTo>
                  <a:lnTo>
                    <a:pt x="0" y="40182"/>
                  </a:lnTo>
                  <a:lnTo>
                    <a:pt x="0" y="48219"/>
                  </a:lnTo>
                  <a:lnTo>
                    <a:pt x="0" y="56255"/>
                  </a:lnTo>
                  <a:lnTo>
                    <a:pt x="0" y="64291"/>
                  </a:lnTo>
                  <a:lnTo>
                    <a:pt x="0" y="72328"/>
                  </a:lnTo>
                  <a:lnTo>
                    <a:pt x="0" y="80364"/>
                  </a:lnTo>
                  <a:lnTo>
                    <a:pt x="613" y="88324"/>
                  </a:lnTo>
                  <a:lnTo>
                    <a:pt x="3952" y="95130"/>
                  </a:lnTo>
                  <a:lnTo>
                    <a:pt x="9462" y="99256"/>
                  </a:lnTo>
                  <a:lnTo>
                    <a:pt x="15906" y="100013"/>
                  </a:lnTo>
                  <a:lnTo>
                    <a:pt x="22411" y="100013"/>
                  </a:lnTo>
                  <a:lnTo>
                    <a:pt x="28917" y="100013"/>
                  </a:lnTo>
                  <a:lnTo>
                    <a:pt x="35423" y="100013"/>
                  </a:lnTo>
                  <a:lnTo>
                    <a:pt x="41928" y="100013"/>
                  </a:lnTo>
                  <a:lnTo>
                    <a:pt x="48434" y="100013"/>
                  </a:lnTo>
                  <a:lnTo>
                    <a:pt x="54940" y="100013"/>
                  </a:lnTo>
                  <a:lnTo>
                    <a:pt x="61445" y="100013"/>
                  </a:lnTo>
                  <a:lnTo>
                    <a:pt x="67951" y="100013"/>
                  </a:lnTo>
                  <a:lnTo>
                    <a:pt x="74457" y="100013"/>
                  </a:lnTo>
                  <a:lnTo>
                    <a:pt x="80963" y="100013"/>
                  </a:lnTo>
                </a:path>
              </a:pathLst>
            </a:custGeom>
            <a:noFill/>
            <a:ln w="26988">
              <a:solidFill>
                <a:srgbClr val="0C3158"/>
              </a:solidFill>
            </a:ln>
          </p:spPr>
        </p:sp>
        <p:sp>
          <p:nvSpPr>
            <p:cNvPr id="238" name="Workspace file icon 1 2">
              <a:extLst>
                <a:ext uri="{FF2B5EF4-FFF2-40B4-BE49-F238E27FC236}">
                  <a16:creationId xmlns:a16="http://schemas.microsoft.com/office/drawing/2014/main" id="{2BB5623E-293D-4C16-9EAA-8D893D76E901}"/>
                </a:ext>
              </a:extLst>
            </p:cNvPr>
            <p:cNvSpPr>
              <a:spLocks noGrp="1"/>
            </p:cNvSpPr>
            <p:nvPr/>
          </p:nvSpPr>
          <p:spPr>
            <a:xfrm>
              <a:off x="8890000" y="7817644"/>
              <a:ext cx="26987" cy="953"/>
            </a:xfrm>
            <a:custGeom>
              <a:avLst/>
              <a:gdLst/>
              <a:ahLst/>
              <a:cxnLst/>
              <a:rect l="0" t="0" r="0" b="0"/>
              <a:pathLst>
                <a:path w="26987" h="953">
                  <a:moveTo>
                    <a:pt x="26987" y="0"/>
                  </a:moveTo>
                  <a:lnTo>
                    <a:pt x="20241" y="0"/>
                  </a:lnTo>
                  <a:lnTo>
                    <a:pt x="13494" y="0"/>
                  </a:lnTo>
                  <a:lnTo>
                    <a:pt x="6747" y="0"/>
                  </a:lnTo>
                  <a:lnTo>
                    <a:pt x="0" y="0"/>
                  </a:lnTo>
                </a:path>
              </a:pathLst>
            </a:custGeom>
            <a:noFill/>
            <a:ln w="26988">
              <a:solidFill>
                <a:srgbClr val="0C3158"/>
              </a:solidFill>
            </a:ln>
          </p:spPr>
        </p:sp>
        <p:sp>
          <p:nvSpPr>
            <p:cNvPr id="239" name="Workspace file icon 1 3">
              <a:extLst>
                <a:ext uri="{FF2B5EF4-FFF2-40B4-BE49-F238E27FC236}">
                  <a16:creationId xmlns:a16="http://schemas.microsoft.com/office/drawing/2014/main" id="{DC3C3D71-8D54-4B91-9BCB-B5AA7CB7C993}"/>
                </a:ext>
              </a:extLst>
            </p:cNvPr>
            <p:cNvSpPr>
              <a:spLocks noGrp="1"/>
            </p:cNvSpPr>
            <p:nvPr/>
          </p:nvSpPr>
          <p:spPr>
            <a:xfrm>
              <a:off x="8890000" y="7884319"/>
              <a:ext cx="107950" cy="0"/>
            </a:xfrm>
            <a:custGeom>
              <a:avLst/>
              <a:gdLst/>
              <a:ahLst/>
              <a:cxnLst/>
              <a:rect l="0" t="0" r="0" b="0"/>
              <a:pathLst>
                <a:path w="107950">
                  <a:moveTo>
                    <a:pt x="107950" y="0"/>
                  </a:moveTo>
                  <a:lnTo>
                    <a:pt x="101203" y="0"/>
                  </a:lnTo>
                  <a:lnTo>
                    <a:pt x="94456" y="0"/>
                  </a:lnTo>
                  <a:lnTo>
                    <a:pt x="87709" y="0"/>
                  </a:lnTo>
                  <a:lnTo>
                    <a:pt x="80963" y="0"/>
                  </a:lnTo>
                  <a:lnTo>
                    <a:pt x="74216" y="0"/>
                  </a:lnTo>
                  <a:lnTo>
                    <a:pt x="67469" y="0"/>
                  </a:lnTo>
                  <a:lnTo>
                    <a:pt x="60722" y="0"/>
                  </a:lnTo>
                  <a:lnTo>
                    <a:pt x="53975" y="0"/>
                  </a:lnTo>
                  <a:lnTo>
                    <a:pt x="47228" y="0"/>
                  </a:lnTo>
                  <a:lnTo>
                    <a:pt x="40481" y="0"/>
                  </a:lnTo>
                  <a:lnTo>
                    <a:pt x="33734" y="0"/>
                  </a:lnTo>
                  <a:lnTo>
                    <a:pt x="26987" y="0"/>
                  </a:lnTo>
                  <a:lnTo>
                    <a:pt x="20241" y="0"/>
                  </a:lnTo>
                  <a:lnTo>
                    <a:pt x="13494" y="0"/>
                  </a:lnTo>
                  <a:lnTo>
                    <a:pt x="6747" y="0"/>
                  </a:lnTo>
                  <a:lnTo>
                    <a:pt x="0" y="0"/>
                  </a:lnTo>
                </a:path>
              </a:pathLst>
            </a:custGeom>
            <a:noFill/>
            <a:ln w="26988">
              <a:solidFill>
                <a:srgbClr val="0C3158"/>
              </a:solidFill>
            </a:ln>
          </p:spPr>
        </p:sp>
        <p:sp>
          <p:nvSpPr>
            <p:cNvPr id="240" name="Workspace file icon 1 4">
              <a:extLst>
                <a:ext uri="{FF2B5EF4-FFF2-40B4-BE49-F238E27FC236}">
                  <a16:creationId xmlns:a16="http://schemas.microsoft.com/office/drawing/2014/main" id="{5CD4169D-8FD7-45FF-97E2-2CD3DC2BB212}"/>
                </a:ext>
              </a:extLst>
            </p:cNvPr>
            <p:cNvSpPr>
              <a:spLocks noGrp="1"/>
            </p:cNvSpPr>
            <p:nvPr/>
          </p:nvSpPr>
          <p:spPr>
            <a:xfrm>
              <a:off x="8890000" y="7950994"/>
              <a:ext cx="107950" cy="953"/>
            </a:xfrm>
            <a:custGeom>
              <a:avLst/>
              <a:gdLst/>
              <a:ahLst/>
              <a:cxnLst/>
              <a:rect l="0" t="0" r="0" b="0"/>
              <a:pathLst>
                <a:path w="107950" h="953">
                  <a:moveTo>
                    <a:pt x="107950" y="0"/>
                  </a:moveTo>
                  <a:lnTo>
                    <a:pt x="101203" y="0"/>
                  </a:lnTo>
                  <a:lnTo>
                    <a:pt x="94456" y="0"/>
                  </a:lnTo>
                  <a:lnTo>
                    <a:pt x="87709" y="0"/>
                  </a:lnTo>
                  <a:lnTo>
                    <a:pt x="80963" y="0"/>
                  </a:lnTo>
                  <a:lnTo>
                    <a:pt x="74216" y="0"/>
                  </a:lnTo>
                  <a:lnTo>
                    <a:pt x="67469" y="0"/>
                  </a:lnTo>
                  <a:lnTo>
                    <a:pt x="60722" y="0"/>
                  </a:lnTo>
                  <a:lnTo>
                    <a:pt x="53975" y="0"/>
                  </a:lnTo>
                  <a:lnTo>
                    <a:pt x="47228" y="0"/>
                  </a:lnTo>
                  <a:lnTo>
                    <a:pt x="40481" y="0"/>
                  </a:lnTo>
                  <a:lnTo>
                    <a:pt x="33734" y="0"/>
                  </a:lnTo>
                  <a:lnTo>
                    <a:pt x="26987" y="0"/>
                  </a:lnTo>
                  <a:lnTo>
                    <a:pt x="20241" y="0"/>
                  </a:lnTo>
                  <a:lnTo>
                    <a:pt x="13494" y="0"/>
                  </a:lnTo>
                  <a:lnTo>
                    <a:pt x="6747" y="0"/>
                  </a:lnTo>
                  <a:lnTo>
                    <a:pt x="0" y="0"/>
                  </a:lnTo>
                </a:path>
              </a:pathLst>
            </a:custGeom>
            <a:noFill/>
            <a:ln w="26988">
              <a:solidFill>
                <a:srgbClr val="0C3158"/>
              </a:solidFill>
            </a:ln>
          </p:spPr>
        </p:sp>
        <p:sp>
          <p:nvSpPr>
            <p:cNvPr id="241" name="Workspace filename 1">
              <a:extLst>
                <a:ext uri="{FF2B5EF4-FFF2-40B4-BE49-F238E27FC236}">
                  <a16:creationId xmlns:a16="http://schemas.microsoft.com/office/drawing/2014/main" id="{925DF729-4876-4B16-AF5F-7159371FE1B3}"/>
                </a:ext>
              </a:extLst>
            </p:cNvPr>
            <p:cNvSpPr>
              <a:spLocks noGrp="1"/>
            </p:cNvSpPr>
            <p:nvPr/>
          </p:nvSpPr>
          <p:spPr>
            <a:xfrm>
              <a:off x="9229725" y="7705725"/>
              <a:ext cx="800100" cy="2190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1163" b="0">
                  <a:solidFill>
                    <a:srgbClr val="182C58"/>
                  </a:solidFill>
                  <a:latin typeface="Arial Narrow"/>
                  <a:ea typeface="Arial Narrow"/>
                  <a:cs typeface="Arial Narrow"/>
                </a:defRPr>
              </a:pPr>
              <a:r>
                <a:rPr sz="1163" b="0">
                  <a:solidFill>
                    <a:srgbClr val="182C58"/>
                  </a:solidFill>
                  <a:latin typeface="Times New Roman" panose="02020603050405020304" pitchFamily="18" charset="0"/>
                  <a:ea typeface="Arial Narrow"/>
                  <a:cs typeface="Times New Roman" panose="02020603050405020304" pitchFamily="18" charset="0"/>
                </a:rPr>
                <a:t>diagnosis.json</a:t>
              </a:r>
            </a:p>
          </p:txBody>
        </p:sp>
        <p:sp>
          <p:nvSpPr>
            <p:cNvPr id="242" name="Workspace file detail 1">
              <a:extLst>
                <a:ext uri="{FF2B5EF4-FFF2-40B4-BE49-F238E27FC236}">
                  <a16:creationId xmlns:a16="http://schemas.microsoft.com/office/drawing/2014/main" id="{9C2050FF-78A1-4478-BAFF-66796605BF65}"/>
                </a:ext>
              </a:extLst>
            </p:cNvPr>
            <p:cNvSpPr>
              <a:spLocks noGrp="1"/>
            </p:cNvSpPr>
            <p:nvPr/>
          </p:nvSpPr>
          <p:spPr>
            <a:xfrm>
              <a:off x="9229725" y="7915275"/>
              <a:ext cx="800100" cy="2190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1088" b="0">
                  <a:solidFill>
                    <a:srgbClr val="66728D"/>
                  </a:solidFill>
                  <a:latin typeface="Arial Narrow"/>
                  <a:ea typeface="Arial Narrow"/>
                  <a:cs typeface="Arial Narrow"/>
                </a:defRPr>
              </a:pPr>
              <a:r>
                <a:rPr sz="1088" b="0">
                  <a:solidFill>
                    <a:srgbClr val="66728D"/>
                  </a:solidFill>
                  <a:latin typeface="Times New Roman" panose="02020603050405020304" pitchFamily="18" charset="0"/>
                  <a:ea typeface="Arial Narrow"/>
                  <a:cs typeface="Times New Roman" panose="02020603050405020304" pitchFamily="18" charset="0"/>
                </a:rPr>
                <a:t>(history)</a:t>
              </a:r>
            </a:p>
          </p:txBody>
        </p:sp>
        <p:sp>
          <p:nvSpPr>
            <p:cNvPr id="243" name="Workspace file 2">
              <a:extLst>
                <a:ext uri="{FF2B5EF4-FFF2-40B4-BE49-F238E27FC236}">
                  <a16:creationId xmlns:a16="http://schemas.microsoft.com/office/drawing/2014/main" id="{E6E10586-48A9-4DBC-BF2D-B3F849DA92F1}"/>
                </a:ext>
              </a:extLst>
            </p:cNvPr>
            <p:cNvSpPr>
              <a:spLocks noGrp="1"/>
            </p:cNvSpPr>
            <p:nvPr/>
          </p:nvSpPr>
          <p:spPr>
            <a:xfrm>
              <a:off x="10201275" y="7562850"/>
              <a:ext cx="1419225" cy="619125"/>
            </a:xfrm>
            <a:prstGeom prst="roundRect">
              <a:avLst>
                <a:gd name="adj" fmla="val 13846"/>
              </a:avLst>
            </a:prstGeom>
            <a:solidFill>
              <a:srgbClr val="FDFDFF"/>
            </a:solidFill>
            <a:ln w="11430">
              <a:solidFill>
                <a:srgbClr val="DDDDF0"/>
              </a:solidFill>
            </a:ln>
          </p:spPr>
        </p:sp>
        <p:sp>
          <p:nvSpPr>
            <p:cNvPr id="244" name="Workspace file color 2">
              <a:extLst>
                <a:ext uri="{FF2B5EF4-FFF2-40B4-BE49-F238E27FC236}">
                  <a16:creationId xmlns:a16="http://schemas.microsoft.com/office/drawing/2014/main" id="{05788E3A-C52C-4A52-994D-49C45E462ADF}"/>
                </a:ext>
              </a:extLst>
            </p:cNvPr>
            <p:cNvSpPr>
              <a:spLocks noGrp="1"/>
            </p:cNvSpPr>
            <p:nvPr/>
          </p:nvSpPr>
          <p:spPr>
            <a:xfrm>
              <a:off x="10372725" y="7705725"/>
              <a:ext cx="266700" cy="333375"/>
            </a:xfrm>
            <a:prstGeom prst="roundRect">
              <a:avLst>
                <a:gd name="adj" fmla="val 3571"/>
              </a:avLst>
            </a:prstGeom>
            <a:solidFill>
              <a:srgbClr val="C1D5E8"/>
            </a:solidFill>
            <a:ln w="0">
              <a:noFill/>
            </a:ln>
          </p:spPr>
        </p:sp>
        <p:sp>
          <p:nvSpPr>
            <p:cNvPr id="245" name="Workspace file icon 2 0">
              <a:extLst>
                <a:ext uri="{FF2B5EF4-FFF2-40B4-BE49-F238E27FC236}">
                  <a16:creationId xmlns:a16="http://schemas.microsoft.com/office/drawing/2014/main" id="{32336A92-630B-4AC5-A9AF-6EA0AFF4C1AB}"/>
                </a:ext>
              </a:extLst>
            </p:cNvPr>
            <p:cNvSpPr>
              <a:spLocks noGrp="1"/>
            </p:cNvSpPr>
            <p:nvPr/>
          </p:nvSpPr>
          <p:spPr>
            <a:xfrm>
              <a:off x="10398125" y="7700963"/>
              <a:ext cx="215900" cy="333375"/>
            </a:xfrm>
            <a:custGeom>
              <a:avLst/>
              <a:gdLst/>
              <a:ahLst/>
              <a:cxnLst/>
              <a:rect l="0" t="0" r="0" b="0"/>
              <a:pathLst>
                <a:path w="215900" h="333375">
                  <a:moveTo>
                    <a:pt x="26987" y="333375"/>
                  </a:moveTo>
                  <a:lnTo>
                    <a:pt x="20331" y="332353"/>
                  </a:lnTo>
                  <a:lnTo>
                    <a:pt x="14086" y="329326"/>
                  </a:lnTo>
                  <a:lnTo>
                    <a:pt x="8641" y="324487"/>
                  </a:lnTo>
                  <a:lnTo>
                    <a:pt x="4324" y="318144"/>
                  </a:lnTo>
                  <a:lnTo>
                    <a:pt x="1405" y="310683"/>
                  </a:lnTo>
                  <a:lnTo>
                    <a:pt x="76" y="302561"/>
                  </a:lnTo>
                  <a:lnTo>
                    <a:pt x="0" y="294255"/>
                  </a:lnTo>
                  <a:lnTo>
                    <a:pt x="0" y="285947"/>
                  </a:lnTo>
                  <a:lnTo>
                    <a:pt x="0" y="277639"/>
                  </a:lnTo>
                  <a:lnTo>
                    <a:pt x="0" y="269331"/>
                  </a:lnTo>
                  <a:lnTo>
                    <a:pt x="0" y="261023"/>
                  </a:lnTo>
                  <a:lnTo>
                    <a:pt x="0" y="252715"/>
                  </a:lnTo>
                  <a:lnTo>
                    <a:pt x="0" y="244407"/>
                  </a:lnTo>
                  <a:lnTo>
                    <a:pt x="0" y="236099"/>
                  </a:lnTo>
                  <a:lnTo>
                    <a:pt x="0" y="227791"/>
                  </a:lnTo>
                  <a:lnTo>
                    <a:pt x="0" y="219483"/>
                  </a:lnTo>
                  <a:lnTo>
                    <a:pt x="0" y="211175"/>
                  </a:lnTo>
                  <a:lnTo>
                    <a:pt x="0" y="202867"/>
                  </a:lnTo>
                  <a:lnTo>
                    <a:pt x="0" y="194560"/>
                  </a:lnTo>
                  <a:lnTo>
                    <a:pt x="0" y="186252"/>
                  </a:lnTo>
                  <a:lnTo>
                    <a:pt x="0" y="177944"/>
                  </a:lnTo>
                  <a:lnTo>
                    <a:pt x="0" y="169636"/>
                  </a:lnTo>
                  <a:lnTo>
                    <a:pt x="0" y="161328"/>
                  </a:lnTo>
                  <a:lnTo>
                    <a:pt x="0" y="153020"/>
                  </a:lnTo>
                  <a:lnTo>
                    <a:pt x="0" y="144712"/>
                  </a:lnTo>
                  <a:lnTo>
                    <a:pt x="0" y="136404"/>
                  </a:lnTo>
                  <a:lnTo>
                    <a:pt x="0" y="128096"/>
                  </a:lnTo>
                  <a:lnTo>
                    <a:pt x="0" y="119788"/>
                  </a:lnTo>
                  <a:lnTo>
                    <a:pt x="0" y="111480"/>
                  </a:lnTo>
                  <a:lnTo>
                    <a:pt x="0" y="103172"/>
                  </a:lnTo>
                  <a:lnTo>
                    <a:pt x="0" y="94864"/>
                  </a:lnTo>
                  <a:lnTo>
                    <a:pt x="0" y="86556"/>
                  </a:lnTo>
                  <a:lnTo>
                    <a:pt x="0" y="78248"/>
                  </a:lnTo>
                  <a:lnTo>
                    <a:pt x="0" y="69940"/>
                  </a:lnTo>
                  <a:lnTo>
                    <a:pt x="0" y="61632"/>
                  </a:lnTo>
                  <a:lnTo>
                    <a:pt x="0" y="53324"/>
                  </a:lnTo>
                  <a:lnTo>
                    <a:pt x="0" y="45016"/>
                  </a:lnTo>
                  <a:lnTo>
                    <a:pt x="0" y="36708"/>
                  </a:lnTo>
                  <a:lnTo>
                    <a:pt x="292" y="28417"/>
                  </a:lnTo>
                  <a:lnTo>
                    <a:pt x="2095" y="20436"/>
                  </a:lnTo>
                  <a:lnTo>
                    <a:pt x="5444" y="13256"/>
                  </a:lnTo>
                  <a:lnTo>
                    <a:pt x="10119" y="7313"/>
                  </a:lnTo>
                  <a:lnTo>
                    <a:pt x="15833" y="2972"/>
                  </a:lnTo>
                  <a:lnTo>
                    <a:pt x="22239" y="514"/>
                  </a:lnTo>
                  <a:lnTo>
                    <a:pt x="28940" y="0"/>
                  </a:lnTo>
                  <a:lnTo>
                    <a:pt x="35666" y="0"/>
                  </a:lnTo>
                  <a:lnTo>
                    <a:pt x="42391" y="0"/>
                  </a:lnTo>
                  <a:lnTo>
                    <a:pt x="49117" y="0"/>
                  </a:lnTo>
                  <a:lnTo>
                    <a:pt x="55842" y="0"/>
                  </a:lnTo>
                  <a:lnTo>
                    <a:pt x="62568" y="0"/>
                  </a:lnTo>
                  <a:lnTo>
                    <a:pt x="69293" y="0"/>
                  </a:lnTo>
                  <a:lnTo>
                    <a:pt x="76019" y="0"/>
                  </a:lnTo>
                  <a:lnTo>
                    <a:pt x="82744" y="0"/>
                  </a:lnTo>
                  <a:lnTo>
                    <a:pt x="89470" y="0"/>
                  </a:lnTo>
                  <a:lnTo>
                    <a:pt x="96195" y="0"/>
                  </a:lnTo>
                  <a:lnTo>
                    <a:pt x="102921" y="0"/>
                  </a:lnTo>
                  <a:lnTo>
                    <a:pt x="109646" y="0"/>
                  </a:lnTo>
                  <a:lnTo>
                    <a:pt x="116372" y="0"/>
                  </a:lnTo>
                  <a:lnTo>
                    <a:pt x="123097" y="0"/>
                  </a:lnTo>
                  <a:lnTo>
                    <a:pt x="129823" y="0"/>
                  </a:lnTo>
                  <a:lnTo>
                    <a:pt x="136548" y="46"/>
                  </a:lnTo>
                  <a:lnTo>
                    <a:pt x="143184" y="1302"/>
                  </a:lnTo>
                  <a:lnTo>
                    <a:pt x="149468" y="4220"/>
                  </a:lnTo>
                  <a:lnTo>
                    <a:pt x="155130" y="8676"/>
                  </a:lnTo>
                  <a:lnTo>
                    <a:pt x="160029" y="14360"/>
                  </a:lnTo>
                  <a:lnTo>
                    <a:pt x="164784" y="20234"/>
                  </a:lnTo>
                  <a:lnTo>
                    <a:pt x="169540" y="26109"/>
                  </a:lnTo>
                  <a:lnTo>
                    <a:pt x="174296" y="31984"/>
                  </a:lnTo>
                  <a:lnTo>
                    <a:pt x="179051" y="37858"/>
                  </a:lnTo>
                  <a:lnTo>
                    <a:pt x="183807" y="43733"/>
                  </a:lnTo>
                  <a:lnTo>
                    <a:pt x="188563" y="49608"/>
                  </a:lnTo>
                  <a:lnTo>
                    <a:pt x="193318" y="55482"/>
                  </a:lnTo>
                  <a:lnTo>
                    <a:pt x="198074" y="61357"/>
                  </a:lnTo>
                  <a:lnTo>
                    <a:pt x="202830" y="67231"/>
                  </a:lnTo>
                  <a:lnTo>
                    <a:pt x="207555" y="73142"/>
                  </a:lnTo>
                  <a:lnTo>
                    <a:pt x="211513" y="79841"/>
                  </a:lnTo>
                  <a:lnTo>
                    <a:pt x="214267" y="87404"/>
                  </a:lnTo>
                  <a:lnTo>
                    <a:pt x="215700" y="95506"/>
                  </a:lnTo>
                  <a:lnTo>
                    <a:pt x="215900" y="103805"/>
                  </a:lnTo>
                  <a:lnTo>
                    <a:pt x="215900" y="112113"/>
                  </a:lnTo>
                  <a:lnTo>
                    <a:pt x="215900" y="120421"/>
                  </a:lnTo>
                  <a:lnTo>
                    <a:pt x="215900" y="128729"/>
                  </a:lnTo>
                  <a:lnTo>
                    <a:pt x="215900" y="137037"/>
                  </a:lnTo>
                  <a:lnTo>
                    <a:pt x="215900" y="145345"/>
                  </a:lnTo>
                  <a:lnTo>
                    <a:pt x="215900" y="153653"/>
                  </a:lnTo>
                  <a:lnTo>
                    <a:pt x="215900" y="161961"/>
                  </a:lnTo>
                  <a:lnTo>
                    <a:pt x="215900" y="170269"/>
                  </a:lnTo>
                  <a:lnTo>
                    <a:pt x="215900" y="178577"/>
                  </a:lnTo>
                  <a:lnTo>
                    <a:pt x="215900" y="186885"/>
                  </a:lnTo>
                  <a:lnTo>
                    <a:pt x="215900" y="195193"/>
                  </a:lnTo>
                  <a:lnTo>
                    <a:pt x="215900" y="203501"/>
                  </a:lnTo>
                  <a:lnTo>
                    <a:pt x="215900" y="211809"/>
                  </a:lnTo>
                  <a:lnTo>
                    <a:pt x="215900" y="220117"/>
                  </a:lnTo>
                  <a:lnTo>
                    <a:pt x="215900" y="228425"/>
                  </a:lnTo>
                  <a:lnTo>
                    <a:pt x="215900" y="236733"/>
                  </a:lnTo>
                  <a:lnTo>
                    <a:pt x="215900" y="245041"/>
                  </a:lnTo>
                  <a:lnTo>
                    <a:pt x="215900" y="253349"/>
                  </a:lnTo>
                  <a:lnTo>
                    <a:pt x="215900" y="261657"/>
                  </a:lnTo>
                  <a:lnTo>
                    <a:pt x="215900" y="269965"/>
                  </a:lnTo>
                  <a:lnTo>
                    <a:pt x="215900" y="278273"/>
                  </a:lnTo>
                  <a:lnTo>
                    <a:pt x="215900" y="286581"/>
                  </a:lnTo>
                  <a:lnTo>
                    <a:pt x="215900" y="294889"/>
                  </a:lnTo>
                  <a:lnTo>
                    <a:pt x="215781" y="303192"/>
                  </a:lnTo>
                  <a:lnTo>
                    <a:pt x="214326" y="311281"/>
                  </a:lnTo>
                  <a:lnTo>
                    <a:pt x="211293" y="318672"/>
                  </a:lnTo>
                  <a:lnTo>
                    <a:pt x="206880" y="324913"/>
                  </a:lnTo>
                  <a:lnTo>
                    <a:pt x="201361" y="329624"/>
                  </a:lnTo>
                  <a:lnTo>
                    <a:pt x="195071" y="332503"/>
                  </a:lnTo>
                  <a:lnTo>
                    <a:pt x="188400" y="333375"/>
                  </a:lnTo>
                  <a:lnTo>
                    <a:pt x="181674" y="333375"/>
                  </a:lnTo>
                  <a:lnTo>
                    <a:pt x="174949" y="333375"/>
                  </a:lnTo>
                  <a:lnTo>
                    <a:pt x="168223" y="333375"/>
                  </a:lnTo>
                  <a:lnTo>
                    <a:pt x="161498" y="333375"/>
                  </a:lnTo>
                  <a:lnTo>
                    <a:pt x="154772" y="333375"/>
                  </a:lnTo>
                  <a:lnTo>
                    <a:pt x="148047" y="333375"/>
                  </a:lnTo>
                  <a:lnTo>
                    <a:pt x="141321" y="333375"/>
                  </a:lnTo>
                  <a:lnTo>
                    <a:pt x="134596" y="333375"/>
                  </a:lnTo>
                  <a:lnTo>
                    <a:pt x="127870" y="333375"/>
                  </a:lnTo>
                  <a:lnTo>
                    <a:pt x="121145" y="333375"/>
                  </a:lnTo>
                  <a:lnTo>
                    <a:pt x="114419" y="333375"/>
                  </a:lnTo>
                  <a:lnTo>
                    <a:pt x="107694" y="333375"/>
                  </a:lnTo>
                  <a:lnTo>
                    <a:pt x="100968" y="333375"/>
                  </a:lnTo>
                  <a:lnTo>
                    <a:pt x="94243" y="333375"/>
                  </a:lnTo>
                  <a:lnTo>
                    <a:pt x="87517" y="333375"/>
                  </a:lnTo>
                  <a:lnTo>
                    <a:pt x="80792" y="333375"/>
                  </a:lnTo>
                  <a:lnTo>
                    <a:pt x="74066" y="333375"/>
                  </a:lnTo>
                  <a:lnTo>
                    <a:pt x="67341" y="333375"/>
                  </a:lnTo>
                  <a:lnTo>
                    <a:pt x="60615" y="333375"/>
                  </a:lnTo>
                  <a:lnTo>
                    <a:pt x="53890" y="333375"/>
                  </a:lnTo>
                  <a:lnTo>
                    <a:pt x="47164" y="333375"/>
                  </a:lnTo>
                  <a:lnTo>
                    <a:pt x="40439" y="333375"/>
                  </a:lnTo>
                  <a:lnTo>
                    <a:pt x="33713" y="333375"/>
                  </a:lnTo>
                  <a:lnTo>
                    <a:pt x="26987" y="333375"/>
                  </a:lnTo>
                  <a:close/>
                </a:path>
              </a:pathLst>
            </a:custGeom>
            <a:noFill/>
            <a:ln w="26988">
              <a:solidFill>
                <a:srgbClr val="0C3158"/>
              </a:solidFill>
            </a:ln>
          </p:spPr>
        </p:sp>
        <p:sp>
          <p:nvSpPr>
            <p:cNvPr id="246" name="Workspace file icon 2 1">
              <a:extLst>
                <a:ext uri="{FF2B5EF4-FFF2-40B4-BE49-F238E27FC236}">
                  <a16:creationId xmlns:a16="http://schemas.microsoft.com/office/drawing/2014/main" id="{7EE2D81F-C9EF-4857-BFF0-7BA814299644}"/>
                </a:ext>
              </a:extLst>
            </p:cNvPr>
            <p:cNvSpPr>
              <a:spLocks noGrp="1"/>
            </p:cNvSpPr>
            <p:nvPr/>
          </p:nvSpPr>
          <p:spPr>
            <a:xfrm>
              <a:off x="10533063" y="7700963"/>
              <a:ext cx="80963" cy="100013"/>
            </a:xfrm>
            <a:custGeom>
              <a:avLst/>
              <a:gdLst/>
              <a:ahLst/>
              <a:cxnLst/>
              <a:rect l="0" t="0" r="0" b="0"/>
              <a:pathLst>
                <a:path w="80963" h="100013">
                  <a:moveTo>
                    <a:pt x="0" y="0"/>
                  </a:moveTo>
                  <a:lnTo>
                    <a:pt x="0" y="8036"/>
                  </a:lnTo>
                  <a:lnTo>
                    <a:pt x="0" y="16073"/>
                  </a:lnTo>
                  <a:lnTo>
                    <a:pt x="0" y="24109"/>
                  </a:lnTo>
                  <a:lnTo>
                    <a:pt x="0" y="32146"/>
                  </a:lnTo>
                  <a:lnTo>
                    <a:pt x="0" y="40182"/>
                  </a:lnTo>
                  <a:lnTo>
                    <a:pt x="0" y="48219"/>
                  </a:lnTo>
                  <a:lnTo>
                    <a:pt x="0" y="56255"/>
                  </a:lnTo>
                  <a:lnTo>
                    <a:pt x="0" y="64291"/>
                  </a:lnTo>
                  <a:lnTo>
                    <a:pt x="0" y="72328"/>
                  </a:lnTo>
                  <a:lnTo>
                    <a:pt x="0" y="80364"/>
                  </a:lnTo>
                  <a:lnTo>
                    <a:pt x="613" y="88324"/>
                  </a:lnTo>
                  <a:lnTo>
                    <a:pt x="3952" y="95130"/>
                  </a:lnTo>
                  <a:lnTo>
                    <a:pt x="9462" y="99256"/>
                  </a:lnTo>
                  <a:lnTo>
                    <a:pt x="15906" y="100013"/>
                  </a:lnTo>
                  <a:lnTo>
                    <a:pt x="22411" y="100013"/>
                  </a:lnTo>
                  <a:lnTo>
                    <a:pt x="28917" y="100013"/>
                  </a:lnTo>
                  <a:lnTo>
                    <a:pt x="35423" y="100013"/>
                  </a:lnTo>
                  <a:lnTo>
                    <a:pt x="41928" y="100013"/>
                  </a:lnTo>
                  <a:lnTo>
                    <a:pt x="48434" y="100013"/>
                  </a:lnTo>
                  <a:lnTo>
                    <a:pt x="54940" y="100013"/>
                  </a:lnTo>
                  <a:lnTo>
                    <a:pt x="61445" y="100013"/>
                  </a:lnTo>
                  <a:lnTo>
                    <a:pt x="67951" y="100013"/>
                  </a:lnTo>
                  <a:lnTo>
                    <a:pt x="74457" y="100013"/>
                  </a:lnTo>
                  <a:lnTo>
                    <a:pt x="80963" y="100013"/>
                  </a:lnTo>
                </a:path>
              </a:pathLst>
            </a:custGeom>
            <a:noFill/>
            <a:ln w="26988">
              <a:solidFill>
                <a:srgbClr val="0C3158"/>
              </a:solidFill>
            </a:ln>
          </p:spPr>
        </p:sp>
        <p:sp>
          <p:nvSpPr>
            <p:cNvPr id="247" name="Workspace file icon 2 2">
              <a:extLst>
                <a:ext uri="{FF2B5EF4-FFF2-40B4-BE49-F238E27FC236}">
                  <a16:creationId xmlns:a16="http://schemas.microsoft.com/office/drawing/2014/main" id="{B0EEF482-7E15-4C73-AA19-EACF875A98DB}"/>
                </a:ext>
              </a:extLst>
            </p:cNvPr>
            <p:cNvSpPr>
              <a:spLocks noGrp="1"/>
            </p:cNvSpPr>
            <p:nvPr/>
          </p:nvSpPr>
          <p:spPr>
            <a:xfrm>
              <a:off x="10452100" y="7817644"/>
              <a:ext cx="26988" cy="953"/>
            </a:xfrm>
            <a:custGeom>
              <a:avLst/>
              <a:gdLst/>
              <a:ahLst/>
              <a:cxnLst/>
              <a:rect l="0" t="0" r="0" b="0"/>
              <a:pathLst>
                <a:path w="26988" h="953">
                  <a:moveTo>
                    <a:pt x="26988" y="0"/>
                  </a:moveTo>
                  <a:lnTo>
                    <a:pt x="20241" y="0"/>
                  </a:lnTo>
                  <a:lnTo>
                    <a:pt x="13494" y="0"/>
                  </a:lnTo>
                  <a:lnTo>
                    <a:pt x="6747" y="0"/>
                  </a:lnTo>
                  <a:lnTo>
                    <a:pt x="0" y="0"/>
                  </a:lnTo>
                </a:path>
              </a:pathLst>
            </a:custGeom>
            <a:noFill/>
            <a:ln w="26988">
              <a:solidFill>
                <a:srgbClr val="0C3158"/>
              </a:solidFill>
            </a:ln>
          </p:spPr>
        </p:sp>
        <p:sp>
          <p:nvSpPr>
            <p:cNvPr id="248" name="Workspace file icon 2 3">
              <a:extLst>
                <a:ext uri="{FF2B5EF4-FFF2-40B4-BE49-F238E27FC236}">
                  <a16:creationId xmlns:a16="http://schemas.microsoft.com/office/drawing/2014/main" id="{6E76D758-82CC-45E5-A761-8BA675007C49}"/>
                </a:ext>
              </a:extLst>
            </p:cNvPr>
            <p:cNvSpPr>
              <a:spLocks noGrp="1"/>
            </p:cNvSpPr>
            <p:nvPr/>
          </p:nvSpPr>
          <p:spPr>
            <a:xfrm>
              <a:off x="10452100" y="7884319"/>
              <a:ext cx="107950" cy="0"/>
            </a:xfrm>
            <a:custGeom>
              <a:avLst/>
              <a:gdLst/>
              <a:ahLst/>
              <a:cxnLst/>
              <a:rect l="0" t="0" r="0" b="0"/>
              <a:pathLst>
                <a:path w="107950">
                  <a:moveTo>
                    <a:pt x="107950" y="0"/>
                  </a:moveTo>
                  <a:lnTo>
                    <a:pt x="101203" y="0"/>
                  </a:lnTo>
                  <a:lnTo>
                    <a:pt x="94456" y="0"/>
                  </a:lnTo>
                  <a:lnTo>
                    <a:pt x="87709" y="0"/>
                  </a:lnTo>
                  <a:lnTo>
                    <a:pt x="80963" y="0"/>
                  </a:lnTo>
                  <a:lnTo>
                    <a:pt x="74216" y="0"/>
                  </a:lnTo>
                  <a:lnTo>
                    <a:pt x="67469" y="0"/>
                  </a:lnTo>
                  <a:lnTo>
                    <a:pt x="60722" y="0"/>
                  </a:lnTo>
                  <a:lnTo>
                    <a:pt x="53975" y="0"/>
                  </a:lnTo>
                  <a:lnTo>
                    <a:pt x="47228" y="0"/>
                  </a:lnTo>
                  <a:lnTo>
                    <a:pt x="40481" y="0"/>
                  </a:lnTo>
                  <a:lnTo>
                    <a:pt x="33734" y="0"/>
                  </a:lnTo>
                  <a:lnTo>
                    <a:pt x="26988" y="0"/>
                  </a:lnTo>
                  <a:lnTo>
                    <a:pt x="20241" y="0"/>
                  </a:lnTo>
                  <a:lnTo>
                    <a:pt x="13494" y="0"/>
                  </a:lnTo>
                  <a:lnTo>
                    <a:pt x="6747" y="0"/>
                  </a:lnTo>
                  <a:lnTo>
                    <a:pt x="0" y="0"/>
                  </a:lnTo>
                </a:path>
              </a:pathLst>
            </a:custGeom>
            <a:noFill/>
            <a:ln w="26988">
              <a:solidFill>
                <a:srgbClr val="0C3158"/>
              </a:solidFill>
            </a:ln>
          </p:spPr>
        </p:sp>
        <p:sp>
          <p:nvSpPr>
            <p:cNvPr id="249" name="Workspace file icon 2 4">
              <a:extLst>
                <a:ext uri="{FF2B5EF4-FFF2-40B4-BE49-F238E27FC236}">
                  <a16:creationId xmlns:a16="http://schemas.microsoft.com/office/drawing/2014/main" id="{58139334-B9AA-4EA0-9015-58EC7295EE7D}"/>
                </a:ext>
              </a:extLst>
            </p:cNvPr>
            <p:cNvSpPr>
              <a:spLocks noGrp="1"/>
            </p:cNvSpPr>
            <p:nvPr/>
          </p:nvSpPr>
          <p:spPr>
            <a:xfrm>
              <a:off x="10452100" y="7950994"/>
              <a:ext cx="107950" cy="953"/>
            </a:xfrm>
            <a:custGeom>
              <a:avLst/>
              <a:gdLst/>
              <a:ahLst/>
              <a:cxnLst/>
              <a:rect l="0" t="0" r="0" b="0"/>
              <a:pathLst>
                <a:path w="107950" h="953">
                  <a:moveTo>
                    <a:pt x="107950" y="0"/>
                  </a:moveTo>
                  <a:lnTo>
                    <a:pt x="101203" y="0"/>
                  </a:lnTo>
                  <a:lnTo>
                    <a:pt x="94456" y="0"/>
                  </a:lnTo>
                  <a:lnTo>
                    <a:pt x="87709" y="0"/>
                  </a:lnTo>
                  <a:lnTo>
                    <a:pt x="80963" y="0"/>
                  </a:lnTo>
                  <a:lnTo>
                    <a:pt x="74216" y="0"/>
                  </a:lnTo>
                  <a:lnTo>
                    <a:pt x="67469" y="0"/>
                  </a:lnTo>
                  <a:lnTo>
                    <a:pt x="60722" y="0"/>
                  </a:lnTo>
                  <a:lnTo>
                    <a:pt x="53975" y="0"/>
                  </a:lnTo>
                  <a:lnTo>
                    <a:pt x="47228" y="0"/>
                  </a:lnTo>
                  <a:lnTo>
                    <a:pt x="40481" y="0"/>
                  </a:lnTo>
                  <a:lnTo>
                    <a:pt x="33734" y="0"/>
                  </a:lnTo>
                  <a:lnTo>
                    <a:pt x="26988" y="0"/>
                  </a:lnTo>
                  <a:lnTo>
                    <a:pt x="20241" y="0"/>
                  </a:lnTo>
                  <a:lnTo>
                    <a:pt x="13494" y="0"/>
                  </a:lnTo>
                  <a:lnTo>
                    <a:pt x="6747" y="0"/>
                  </a:lnTo>
                  <a:lnTo>
                    <a:pt x="0" y="0"/>
                  </a:lnTo>
                </a:path>
              </a:pathLst>
            </a:custGeom>
            <a:noFill/>
            <a:ln w="26988">
              <a:solidFill>
                <a:srgbClr val="0C3158"/>
              </a:solidFill>
            </a:ln>
          </p:spPr>
        </p:sp>
        <p:sp>
          <p:nvSpPr>
            <p:cNvPr id="250" name="Workspace filename 2">
              <a:extLst>
                <a:ext uri="{FF2B5EF4-FFF2-40B4-BE49-F238E27FC236}">
                  <a16:creationId xmlns:a16="http://schemas.microsoft.com/office/drawing/2014/main" id="{DC5BF2BF-B894-495A-B843-A5E2147AD438}"/>
                </a:ext>
              </a:extLst>
            </p:cNvPr>
            <p:cNvSpPr>
              <a:spLocks noGrp="1"/>
            </p:cNvSpPr>
            <p:nvPr/>
          </p:nvSpPr>
          <p:spPr>
            <a:xfrm>
              <a:off x="10791825" y="7705725"/>
              <a:ext cx="809625" cy="2190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1163" b="0">
                  <a:solidFill>
                    <a:srgbClr val="182C58"/>
                  </a:solidFill>
                  <a:latin typeface="Arial Narrow"/>
                  <a:ea typeface="Arial Narrow"/>
                  <a:cs typeface="Arial Narrow"/>
                </a:defRPr>
              </a:pPr>
              <a:r>
                <a:rPr sz="1163" b="0">
                  <a:solidFill>
                    <a:srgbClr val="182C58"/>
                  </a:solidFill>
                  <a:latin typeface="Times New Roman" panose="02020603050405020304" pitchFamily="18" charset="0"/>
                  <a:ea typeface="Arial Narrow"/>
                  <a:cs typeface="Times New Roman" panose="02020603050405020304" pitchFamily="18" charset="0"/>
                </a:rPr>
                <a:t>patch log</a:t>
              </a:r>
            </a:p>
          </p:txBody>
        </p:sp>
        <p:sp>
          <p:nvSpPr>
            <p:cNvPr id="251" name="Workspace file detail 2">
              <a:extLst>
                <a:ext uri="{FF2B5EF4-FFF2-40B4-BE49-F238E27FC236}">
                  <a16:creationId xmlns:a16="http://schemas.microsoft.com/office/drawing/2014/main" id="{7138A897-F913-4EE9-B90B-B3A5EB703961}"/>
                </a:ext>
              </a:extLst>
            </p:cNvPr>
            <p:cNvSpPr>
              <a:spLocks noGrp="1"/>
            </p:cNvSpPr>
            <p:nvPr/>
          </p:nvSpPr>
          <p:spPr>
            <a:xfrm>
              <a:off x="10704737" y="7915275"/>
              <a:ext cx="809625" cy="2190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1088" b="0">
                  <a:solidFill>
                    <a:srgbClr val="66728D"/>
                  </a:solidFill>
                  <a:latin typeface="Arial Narrow"/>
                  <a:ea typeface="Arial Narrow"/>
                  <a:cs typeface="Arial Narrow"/>
                </a:defRPr>
              </a:pPr>
              <a:r>
                <a:rPr sz="1088" b="0" dirty="0">
                  <a:solidFill>
                    <a:srgbClr val="66728D"/>
                  </a:solidFill>
                  <a:latin typeface="Times New Roman" panose="02020603050405020304" pitchFamily="18" charset="0"/>
                  <a:ea typeface="Arial Narrow"/>
                  <a:cs typeface="Times New Roman" panose="02020603050405020304" pitchFamily="18" charset="0"/>
                </a:rPr>
                <a:t>(edits &amp; results)</a:t>
              </a:r>
            </a:p>
          </p:txBody>
        </p:sp>
        <p:sp>
          <p:nvSpPr>
            <p:cNvPr id="252" name="Workspace continuation">
              <a:extLst>
                <a:ext uri="{FF2B5EF4-FFF2-40B4-BE49-F238E27FC236}">
                  <a16:creationId xmlns:a16="http://schemas.microsoft.com/office/drawing/2014/main" id="{70138B59-2F02-4CDD-A5EC-D90AD020090E}"/>
                </a:ext>
              </a:extLst>
            </p:cNvPr>
            <p:cNvSpPr>
              <a:spLocks noGrp="1"/>
            </p:cNvSpPr>
            <p:nvPr/>
          </p:nvSpPr>
          <p:spPr>
            <a:xfrm>
              <a:off x="11772900" y="7743825"/>
              <a:ext cx="400050" cy="2667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1575" b="1">
                  <a:solidFill>
                    <a:srgbClr val="0A3159"/>
                  </a:solidFill>
                  <a:latin typeface="Arial"/>
                  <a:ea typeface="Arial"/>
                  <a:cs typeface="Arial"/>
                </a:defRPr>
              </a:pPr>
              <a:r>
                <a:rPr sz="1575" b="1">
                  <a:solidFill>
                    <a:srgbClr val="0A3159"/>
                  </a:solidFill>
                  <a:latin typeface="Times New Roman" panose="02020603050405020304" pitchFamily="18" charset="0"/>
                  <a:ea typeface="Arial"/>
                  <a:cs typeface="Times New Roman" panose="02020603050405020304" pitchFamily="18" charset="0"/>
                </a:rPr>
                <a:t>•••</a:t>
              </a:r>
            </a:p>
          </p:txBody>
        </p:sp>
      </p:grpSp>
      <p:grpSp>
        <p:nvGrpSpPr>
          <p:cNvPr id="370" name="Target framework title"/>
          <p:cNvGrpSpPr/>
          <p:nvPr/>
        </p:nvGrpSpPr>
        <p:grpSpPr>
          <a:xfrm>
            <a:off x="12888119" y="581025"/>
            <a:ext cx="2761456" cy="542925"/>
            <a:chOff x="12888119" y="581025"/>
            <a:chExt cx="2761456" cy="542925"/>
          </a:xfrm>
        </p:grpSpPr>
        <p:sp>
          <p:nvSpPr>
            <p:cNvPr id="253" name="Target cubes 0">
              <a:extLst>
                <a:ext uri="{FF2B5EF4-FFF2-40B4-BE49-F238E27FC236}">
                  <a16:creationId xmlns:a16="http://schemas.microsoft.com/office/drawing/2014/main" id="{F91C6CF7-B3DA-44EC-979F-98AE70A68876}"/>
                </a:ext>
              </a:extLst>
            </p:cNvPr>
            <p:cNvSpPr>
              <a:spLocks noGrp="1"/>
            </p:cNvSpPr>
            <p:nvPr/>
          </p:nvSpPr>
          <p:spPr>
            <a:xfrm>
              <a:off x="12888119" y="806710"/>
              <a:ext cx="194469" cy="214683"/>
            </a:xfrm>
            <a:custGeom>
              <a:avLst/>
              <a:gdLst/>
              <a:ahLst/>
              <a:cxnLst/>
              <a:rect l="0" t="0" r="0" b="0"/>
              <a:pathLst>
                <a:path w="194469" h="214683">
                  <a:moveTo>
                    <a:pt x="18863" y="44619"/>
                  </a:moveTo>
                  <a:lnTo>
                    <a:pt x="11303" y="50544"/>
                  </a:lnTo>
                  <a:lnTo>
                    <a:pt x="5427" y="58142"/>
                  </a:lnTo>
                  <a:lnTo>
                    <a:pt x="1590" y="66948"/>
                  </a:lnTo>
                  <a:lnTo>
                    <a:pt x="30" y="76426"/>
                  </a:lnTo>
                  <a:lnTo>
                    <a:pt x="0" y="86056"/>
                  </a:lnTo>
                  <a:lnTo>
                    <a:pt x="0" y="95686"/>
                  </a:lnTo>
                  <a:lnTo>
                    <a:pt x="0" y="105316"/>
                  </a:lnTo>
                  <a:lnTo>
                    <a:pt x="0" y="114946"/>
                  </a:lnTo>
                  <a:lnTo>
                    <a:pt x="0" y="124576"/>
                  </a:lnTo>
                  <a:lnTo>
                    <a:pt x="0" y="134206"/>
                  </a:lnTo>
                  <a:lnTo>
                    <a:pt x="119" y="143833"/>
                  </a:lnTo>
                  <a:lnTo>
                    <a:pt x="2045" y="153243"/>
                  </a:lnTo>
                  <a:lnTo>
                    <a:pt x="6220" y="161894"/>
                  </a:lnTo>
                  <a:lnTo>
                    <a:pt x="12387" y="169259"/>
                  </a:lnTo>
                  <a:lnTo>
                    <a:pt x="20157" y="174911"/>
                  </a:lnTo>
                  <a:lnTo>
                    <a:pt x="28414" y="179866"/>
                  </a:lnTo>
                  <a:lnTo>
                    <a:pt x="36672" y="184820"/>
                  </a:lnTo>
                  <a:lnTo>
                    <a:pt x="44930" y="189775"/>
                  </a:lnTo>
                  <a:lnTo>
                    <a:pt x="53187" y="194729"/>
                  </a:lnTo>
                  <a:lnTo>
                    <a:pt x="61445" y="199684"/>
                  </a:lnTo>
                  <a:lnTo>
                    <a:pt x="69703" y="204639"/>
                  </a:lnTo>
                  <a:lnTo>
                    <a:pt x="77966" y="209585"/>
                  </a:lnTo>
                  <a:lnTo>
                    <a:pt x="86833" y="213278"/>
                  </a:lnTo>
                  <a:lnTo>
                    <a:pt x="96335" y="214683"/>
                  </a:lnTo>
                  <a:lnTo>
                    <a:pt x="105892" y="213719"/>
                  </a:lnTo>
                  <a:lnTo>
                    <a:pt x="114920" y="210441"/>
                  </a:lnTo>
                  <a:lnTo>
                    <a:pt x="123224" y="205567"/>
                  </a:lnTo>
                  <a:lnTo>
                    <a:pt x="131484" y="200615"/>
                  </a:lnTo>
                  <a:lnTo>
                    <a:pt x="139743" y="195664"/>
                  </a:lnTo>
                  <a:lnTo>
                    <a:pt x="148003" y="190712"/>
                  </a:lnTo>
                  <a:lnTo>
                    <a:pt x="156262" y="185760"/>
                  </a:lnTo>
                  <a:lnTo>
                    <a:pt x="164522" y="180809"/>
                  </a:lnTo>
                  <a:lnTo>
                    <a:pt x="172781" y="175857"/>
                  </a:lnTo>
                  <a:lnTo>
                    <a:pt x="181041" y="170906"/>
                  </a:lnTo>
                  <a:lnTo>
                    <a:pt x="189301" y="165954"/>
                  </a:lnTo>
                  <a:lnTo>
                    <a:pt x="194469" y="159252"/>
                  </a:lnTo>
                  <a:lnTo>
                    <a:pt x="194469" y="149621"/>
                  </a:lnTo>
                  <a:lnTo>
                    <a:pt x="194469" y="139991"/>
                  </a:lnTo>
                  <a:lnTo>
                    <a:pt x="194469" y="130361"/>
                  </a:lnTo>
                  <a:lnTo>
                    <a:pt x="194469" y="120731"/>
                  </a:lnTo>
                  <a:lnTo>
                    <a:pt x="194469" y="111101"/>
                  </a:lnTo>
                  <a:lnTo>
                    <a:pt x="194469" y="101471"/>
                  </a:lnTo>
                  <a:lnTo>
                    <a:pt x="194469" y="91841"/>
                  </a:lnTo>
                  <a:lnTo>
                    <a:pt x="194469" y="82211"/>
                  </a:lnTo>
                  <a:lnTo>
                    <a:pt x="194469" y="72581"/>
                  </a:lnTo>
                  <a:lnTo>
                    <a:pt x="194469" y="62951"/>
                  </a:lnTo>
                  <a:lnTo>
                    <a:pt x="192259" y="54572"/>
                  </a:lnTo>
                  <a:lnTo>
                    <a:pt x="184001" y="49617"/>
                  </a:lnTo>
                  <a:lnTo>
                    <a:pt x="175743" y="44663"/>
                  </a:lnTo>
                  <a:lnTo>
                    <a:pt x="167485" y="39708"/>
                  </a:lnTo>
                  <a:lnTo>
                    <a:pt x="159228" y="34753"/>
                  </a:lnTo>
                  <a:lnTo>
                    <a:pt x="150970" y="29799"/>
                  </a:lnTo>
                  <a:lnTo>
                    <a:pt x="142712" y="24844"/>
                  </a:lnTo>
                  <a:lnTo>
                    <a:pt x="134454" y="19889"/>
                  </a:lnTo>
                  <a:lnTo>
                    <a:pt x="126197" y="14935"/>
                  </a:lnTo>
                  <a:lnTo>
                    <a:pt x="117939" y="9980"/>
                  </a:lnTo>
                  <a:lnTo>
                    <a:pt x="109681" y="5026"/>
                  </a:lnTo>
                  <a:lnTo>
                    <a:pt x="101424" y="71"/>
                  </a:lnTo>
                  <a:lnTo>
                    <a:pt x="93167" y="0"/>
                  </a:lnTo>
                  <a:lnTo>
                    <a:pt x="84911" y="4958"/>
                  </a:lnTo>
                  <a:lnTo>
                    <a:pt x="76655" y="9915"/>
                  </a:lnTo>
                  <a:lnTo>
                    <a:pt x="68399" y="14873"/>
                  </a:lnTo>
                  <a:lnTo>
                    <a:pt x="60143" y="19831"/>
                  </a:lnTo>
                  <a:lnTo>
                    <a:pt x="51887" y="24788"/>
                  </a:lnTo>
                  <a:lnTo>
                    <a:pt x="43631" y="29746"/>
                  </a:lnTo>
                  <a:lnTo>
                    <a:pt x="35375" y="34704"/>
                  </a:lnTo>
                  <a:lnTo>
                    <a:pt x="27119" y="39661"/>
                  </a:lnTo>
                  <a:lnTo>
                    <a:pt x="18863" y="44619"/>
                  </a:lnTo>
                  <a:close/>
                </a:path>
              </a:pathLst>
            </a:custGeom>
            <a:noFill/>
            <a:ln w="38894">
              <a:solidFill>
                <a:srgbClr val="4E989D"/>
              </a:solidFill>
            </a:ln>
          </p:spPr>
        </p:sp>
        <p:sp>
          <p:nvSpPr>
            <p:cNvPr id="254" name="Target cubes 1">
              <a:extLst>
                <a:ext uri="{FF2B5EF4-FFF2-40B4-BE49-F238E27FC236}">
                  <a16:creationId xmlns:a16="http://schemas.microsoft.com/office/drawing/2014/main" id="{3F0209BF-6A0B-4C41-8A1B-4F7705C1BB97}"/>
                </a:ext>
              </a:extLst>
            </p:cNvPr>
            <p:cNvSpPr>
              <a:spLocks noGrp="1"/>
            </p:cNvSpPr>
            <p:nvPr/>
          </p:nvSpPr>
          <p:spPr>
            <a:xfrm>
              <a:off x="12893175" y="865525"/>
              <a:ext cx="92178" cy="55424"/>
            </a:xfrm>
            <a:custGeom>
              <a:avLst/>
              <a:gdLst/>
              <a:ahLst/>
              <a:cxnLst/>
              <a:rect l="0" t="0" r="0" b="0"/>
              <a:pathLst>
                <a:path w="92178" h="55424">
                  <a:moveTo>
                    <a:pt x="92178" y="55424"/>
                  </a:moveTo>
                  <a:lnTo>
                    <a:pt x="84497" y="50805"/>
                  </a:lnTo>
                  <a:lnTo>
                    <a:pt x="76815" y="46186"/>
                  </a:lnTo>
                  <a:lnTo>
                    <a:pt x="69134" y="41568"/>
                  </a:lnTo>
                  <a:lnTo>
                    <a:pt x="61452" y="36949"/>
                  </a:lnTo>
                  <a:lnTo>
                    <a:pt x="53771" y="32330"/>
                  </a:lnTo>
                  <a:lnTo>
                    <a:pt x="46089" y="27712"/>
                  </a:lnTo>
                  <a:lnTo>
                    <a:pt x="38408" y="23093"/>
                  </a:lnTo>
                  <a:lnTo>
                    <a:pt x="30726" y="18475"/>
                  </a:lnTo>
                  <a:lnTo>
                    <a:pt x="23045" y="13856"/>
                  </a:lnTo>
                  <a:lnTo>
                    <a:pt x="15363" y="9237"/>
                  </a:lnTo>
                  <a:lnTo>
                    <a:pt x="7682" y="4619"/>
                  </a:lnTo>
                  <a:lnTo>
                    <a:pt x="0" y="0"/>
                  </a:lnTo>
                </a:path>
              </a:pathLst>
            </a:custGeom>
            <a:noFill/>
            <a:ln w="38894">
              <a:solidFill>
                <a:srgbClr val="4E989D"/>
              </a:solidFill>
            </a:ln>
          </p:spPr>
        </p:sp>
        <p:sp>
          <p:nvSpPr>
            <p:cNvPr id="255" name="Target cubes 2">
              <a:extLst>
                <a:ext uri="{FF2B5EF4-FFF2-40B4-BE49-F238E27FC236}">
                  <a16:creationId xmlns:a16="http://schemas.microsoft.com/office/drawing/2014/main" id="{BE3BC311-48AE-45B8-9A5D-AB2EC7D675CE}"/>
                </a:ext>
              </a:extLst>
            </p:cNvPr>
            <p:cNvSpPr>
              <a:spLocks noGrp="1"/>
            </p:cNvSpPr>
            <p:nvPr/>
          </p:nvSpPr>
          <p:spPr>
            <a:xfrm>
              <a:off x="12985353" y="862608"/>
              <a:ext cx="97234" cy="58341"/>
            </a:xfrm>
            <a:custGeom>
              <a:avLst/>
              <a:gdLst/>
              <a:ahLst/>
              <a:cxnLst/>
              <a:rect l="0" t="0" r="0" b="0"/>
              <a:pathLst>
                <a:path w="97234" h="58341">
                  <a:moveTo>
                    <a:pt x="0" y="58341"/>
                  </a:moveTo>
                  <a:lnTo>
                    <a:pt x="8103" y="53479"/>
                  </a:lnTo>
                  <a:lnTo>
                    <a:pt x="16206" y="48617"/>
                  </a:lnTo>
                  <a:lnTo>
                    <a:pt x="24309" y="43755"/>
                  </a:lnTo>
                  <a:lnTo>
                    <a:pt x="32411" y="38894"/>
                  </a:lnTo>
                  <a:lnTo>
                    <a:pt x="40514" y="34032"/>
                  </a:lnTo>
                  <a:lnTo>
                    <a:pt x="48617" y="29170"/>
                  </a:lnTo>
                  <a:lnTo>
                    <a:pt x="56720" y="24309"/>
                  </a:lnTo>
                  <a:lnTo>
                    <a:pt x="64823" y="19447"/>
                  </a:lnTo>
                  <a:lnTo>
                    <a:pt x="72926" y="14585"/>
                  </a:lnTo>
                  <a:lnTo>
                    <a:pt x="81029" y="9723"/>
                  </a:lnTo>
                  <a:lnTo>
                    <a:pt x="89132" y="4862"/>
                  </a:lnTo>
                  <a:lnTo>
                    <a:pt x="97234" y="0"/>
                  </a:lnTo>
                </a:path>
              </a:pathLst>
            </a:custGeom>
            <a:noFill/>
            <a:ln w="38894">
              <a:solidFill>
                <a:srgbClr val="4E989D"/>
              </a:solidFill>
            </a:ln>
          </p:spPr>
        </p:sp>
        <p:sp>
          <p:nvSpPr>
            <p:cNvPr id="256" name="Target cubes 3">
              <a:extLst>
                <a:ext uri="{FF2B5EF4-FFF2-40B4-BE49-F238E27FC236}">
                  <a16:creationId xmlns:a16="http://schemas.microsoft.com/office/drawing/2014/main" id="{6720EFF2-349C-4D83-8702-2E14D38C7037}"/>
                </a:ext>
              </a:extLst>
            </p:cNvPr>
            <p:cNvSpPr>
              <a:spLocks noGrp="1"/>
            </p:cNvSpPr>
            <p:nvPr/>
          </p:nvSpPr>
          <p:spPr>
            <a:xfrm>
              <a:off x="12985353" y="920948"/>
              <a:ext cx="953" cy="100540"/>
            </a:xfrm>
            <a:custGeom>
              <a:avLst/>
              <a:gdLst/>
              <a:ahLst/>
              <a:cxnLst/>
              <a:rect l="0" t="0" r="0" b="0"/>
              <a:pathLst>
                <a:path w="953" h="100540">
                  <a:moveTo>
                    <a:pt x="0" y="0"/>
                  </a:moveTo>
                  <a:lnTo>
                    <a:pt x="0" y="9140"/>
                  </a:lnTo>
                  <a:lnTo>
                    <a:pt x="0" y="18280"/>
                  </a:lnTo>
                  <a:lnTo>
                    <a:pt x="0" y="27420"/>
                  </a:lnTo>
                  <a:lnTo>
                    <a:pt x="0" y="36560"/>
                  </a:lnTo>
                  <a:lnTo>
                    <a:pt x="0" y="45700"/>
                  </a:lnTo>
                  <a:lnTo>
                    <a:pt x="0" y="54840"/>
                  </a:lnTo>
                  <a:lnTo>
                    <a:pt x="0" y="63980"/>
                  </a:lnTo>
                  <a:lnTo>
                    <a:pt x="0" y="73120"/>
                  </a:lnTo>
                  <a:lnTo>
                    <a:pt x="0" y="82260"/>
                  </a:lnTo>
                  <a:lnTo>
                    <a:pt x="0" y="91400"/>
                  </a:lnTo>
                  <a:lnTo>
                    <a:pt x="0" y="100540"/>
                  </a:lnTo>
                </a:path>
              </a:pathLst>
            </a:custGeom>
            <a:noFill/>
            <a:ln w="38894">
              <a:solidFill>
                <a:srgbClr val="4E989D"/>
              </a:solidFill>
            </a:ln>
          </p:spPr>
        </p:sp>
        <p:sp>
          <p:nvSpPr>
            <p:cNvPr id="257" name="Target cubes 4">
              <a:extLst>
                <a:ext uri="{FF2B5EF4-FFF2-40B4-BE49-F238E27FC236}">
                  <a16:creationId xmlns:a16="http://schemas.microsoft.com/office/drawing/2014/main" id="{BB6AB17A-EDFD-4AA4-BCA8-B2F3438E32FE}"/>
                </a:ext>
              </a:extLst>
            </p:cNvPr>
            <p:cNvSpPr>
              <a:spLocks noGrp="1"/>
            </p:cNvSpPr>
            <p:nvPr/>
          </p:nvSpPr>
          <p:spPr>
            <a:xfrm>
              <a:off x="13082588" y="805383"/>
              <a:ext cx="194469" cy="215865"/>
            </a:xfrm>
            <a:custGeom>
              <a:avLst/>
              <a:gdLst/>
              <a:ahLst/>
              <a:cxnLst/>
              <a:rect l="0" t="0" r="0" b="0"/>
              <a:pathLst>
                <a:path w="194469" h="215865">
                  <a:moveTo>
                    <a:pt x="0" y="57225"/>
                  </a:moveTo>
                  <a:lnTo>
                    <a:pt x="0" y="66855"/>
                  </a:lnTo>
                  <a:lnTo>
                    <a:pt x="0" y="76485"/>
                  </a:lnTo>
                  <a:lnTo>
                    <a:pt x="0" y="86115"/>
                  </a:lnTo>
                  <a:lnTo>
                    <a:pt x="0" y="95745"/>
                  </a:lnTo>
                  <a:lnTo>
                    <a:pt x="0" y="105375"/>
                  </a:lnTo>
                  <a:lnTo>
                    <a:pt x="0" y="115005"/>
                  </a:lnTo>
                  <a:lnTo>
                    <a:pt x="0" y="124635"/>
                  </a:lnTo>
                  <a:lnTo>
                    <a:pt x="0" y="134266"/>
                  </a:lnTo>
                  <a:lnTo>
                    <a:pt x="0" y="143896"/>
                  </a:lnTo>
                  <a:lnTo>
                    <a:pt x="0" y="153526"/>
                  </a:lnTo>
                  <a:lnTo>
                    <a:pt x="0" y="163156"/>
                  </a:lnTo>
                  <a:lnTo>
                    <a:pt x="7379" y="168606"/>
                  </a:lnTo>
                  <a:lnTo>
                    <a:pt x="15638" y="173558"/>
                  </a:lnTo>
                  <a:lnTo>
                    <a:pt x="23898" y="178509"/>
                  </a:lnTo>
                  <a:lnTo>
                    <a:pt x="32158" y="183461"/>
                  </a:lnTo>
                  <a:lnTo>
                    <a:pt x="40417" y="188413"/>
                  </a:lnTo>
                  <a:lnTo>
                    <a:pt x="48677" y="193364"/>
                  </a:lnTo>
                  <a:lnTo>
                    <a:pt x="56936" y="198316"/>
                  </a:lnTo>
                  <a:lnTo>
                    <a:pt x="65196" y="203267"/>
                  </a:lnTo>
                  <a:lnTo>
                    <a:pt x="73455" y="208219"/>
                  </a:lnTo>
                  <a:lnTo>
                    <a:pt x="81881" y="212863"/>
                  </a:lnTo>
                  <a:lnTo>
                    <a:pt x="91107" y="215536"/>
                  </a:lnTo>
                  <a:lnTo>
                    <a:pt x="100707" y="215865"/>
                  </a:lnTo>
                  <a:lnTo>
                    <a:pt x="110095" y="213834"/>
                  </a:lnTo>
                  <a:lnTo>
                    <a:pt x="118718" y="209594"/>
                  </a:lnTo>
                  <a:lnTo>
                    <a:pt x="126976" y="204639"/>
                  </a:lnTo>
                  <a:lnTo>
                    <a:pt x="135234" y="199685"/>
                  </a:lnTo>
                  <a:lnTo>
                    <a:pt x="143492" y="194730"/>
                  </a:lnTo>
                  <a:lnTo>
                    <a:pt x="151749" y="189776"/>
                  </a:lnTo>
                  <a:lnTo>
                    <a:pt x="160007" y="184821"/>
                  </a:lnTo>
                  <a:lnTo>
                    <a:pt x="168265" y="179866"/>
                  </a:lnTo>
                  <a:lnTo>
                    <a:pt x="176514" y="174898"/>
                  </a:lnTo>
                  <a:lnTo>
                    <a:pt x="183909" y="168768"/>
                  </a:lnTo>
                  <a:lnTo>
                    <a:pt x="189574" y="161011"/>
                  </a:lnTo>
                  <a:lnTo>
                    <a:pt x="193167" y="152103"/>
                  </a:lnTo>
                  <a:lnTo>
                    <a:pt x="194466" y="142586"/>
                  </a:lnTo>
                  <a:lnTo>
                    <a:pt x="194469" y="132956"/>
                  </a:lnTo>
                  <a:lnTo>
                    <a:pt x="194469" y="123326"/>
                  </a:lnTo>
                  <a:lnTo>
                    <a:pt x="194469" y="113695"/>
                  </a:lnTo>
                  <a:lnTo>
                    <a:pt x="194469" y="104065"/>
                  </a:lnTo>
                  <a:lnTo>
                    <a:pt x="194469" y="94435"/>
                  </a:lnTo>
                  <a:lnTo>
                    <a:pt x="194469" y="84805"/>
                  </a:lnTo>
                  <a:lnTo>
                    <a:pt x="194252" y="75183"/>
                  </a:lnTo>
                  <a:lnTo>
                    <a:pt x="192067" y="65829"/>
                  </a:lnTo>
                  <a:lnTo>
                    <a:pt x="187656" y="57296"/>
                  </a:lnTo>
                  <a:lnTo>
                    <a:pt x="181290" y="50104"/>
                  </a:lnTo>
                  <a:lnTo>
                    <a:pt x="173396" y="44619"/>
                  </a:lnTo>
                  <a:lnTo>
                    <a:pt x="165140" y="39661"/>
                  </a:lnTo>
                  <a:lnTo>
                    <a:pt x="156884" y="34704"/>
                  </a:lnTo>
                  <a:lnTo>
                    <a:pt x="148628" y="29746"/>
                  </a:lnTo>
                  <a:lnTo>
                    <a:pt x="140372" y="24788"/>
                  </a:lnTo>
                  <a:lnTo>
                    <a:pt x="132116" y="19831"/>
                  </a:lnTo>
                  <a:lnTo>
                    <a:pt x="123860" y="14873"/>
                  </a:lnTo>
                  <a:lnTo>
                    <a:pt x="115604" y="9915"/>
                  </a:lnTo>
                  <a:lnTo>
                    <a:pt x="107348" y="4958"/>
                  </a:lnTo>
                  <a:lnTo>
                    <a:pt x="99092" y="0"/>
                  </a:lnTo>
                  <a:lnTo>
                    <a:pt x="90835" y="2724"/>
                  </a:lnTo>
                  <a:lnTo>
                    <a:pt x="82577" y="7679"/>
                  </a:lnTo>
                  <a:lnTo>
                    <a:pt x="74320" y="12633"/>
                  </a:lnTo>
                  <a:lnTo>
                    <a:pt x="66062" y="17588"/>
                  </a:lnTo>
                  <a:lnTo>
                    <a:pt x="57804" y="22542"/>
                  </a:lnTo>
                  <a:lnTo>
                    <a:pt x="49546" y="27497"/>
                  </a:lnTo>
                  <a:lnTo>
                    <a:pt x="41289" y="32452"/>
                  </a:lnTo>
                  <a:lnTo>
                    <a:pt x="33031" y="37406"/>
                  </a:lnTo>
                  <a:lnTo>
                    <a:pt x="24773" y="42361"/>
                  </a:lnTo>
                  <a:lnTo>
                    <a:pt x="16515" y="47316"/>
                  </a:lnTo>
                  <a:lnTo>
                    <a:pt x="8258" y="52270"/>
                  </a:lnTo>
                  <a:lnTo>
                    <a:pt x="0" y="57225"/>
                  </a:lnTo>
                  <a:close/>
                </a:path>
              </a:pathLst>
            </a:custGeom>
            <a:noFill/>
            <a:ln w="38894">
              <a:solidFill>
                <a:srgbClr val="4E989D"/>
              </a:solidFill>
            </a:ln>
          </p:spPr>
        </p:sp>
        <p:sp>
          <p:nvSpPr>
            <p:cNvPr id="258" name="Target cubes 5">
              <a:extLst>
                <a:ext uri="{FF2B5EF4-FFF2-40B4-BE49-F238E27FC236}">
                  <a16:creationId xmlns:a16="http://schemas.microsoft.com/office/drawing/2014/main" id="{EE3B4991-750E-4E0F-BD75-0B17174EEE8F}"/>
                </a:ext>
              </a:extLst>
            </p:cNvPr>
            <p:cNvSpPr>
              <a:spLocks noGrp="1"/>
            </p:cNvSpPr>
            <p:nvPr/>
          </p:nvSpPr>
          <p:spPr>
            <a:xfrm>
              <a:off x="13082588" y="862608"/>
              <a:ext cx="97234" cy="58341"/>
            </a:xfrm>
            <a:custGeom>
              <a:avLst/>
              <a:gdLst/>
              <a:ahLst/>
              <a:cxnLst/>
              <a:rect l="0" t="0" r="0" b="0"/>
              <a:pathLst>
                <a:path w="97234" h="58341">
                  <a:moveTo>
                    <a:pt x="97234" y="58341"/>
                  </a:moveTo>
                  <a:lnTo>
                    <a:pt x="89131" y="53479"/>
                  </a:lnTo>
                  <a:lnTo>
                    <a:pt x="81029" y="48617"/>
                  </a:lnTo>
                  <a:lnTo>
                    <a:pt x="72926" y="43755"/>
                  </a:lnTo>
                  <a:lnTo>
                    <a:pt x="64823" y="38894"/>
                  </a:lnTo>
                  <a:lnTo>
                    <a:pt x="56720" y="34032"/>
                  </a:lnTo>
                  <a:lnTo>
                    <a:pt x="48617" y="29170"/>
                  </a:lnTo>
                  <a:lnTo>
                    <a:pt x="40514" y="24309"/>
                  </a:lnTo>
                  <a:lnTo>
                    <a:pt x="32411" y="19447"/>
                  </a:lnTo>
                  <a:lnTo>
                    <a:pt x="24309" y="14585"/>
                  </a:lnTo>
                  <a:lnTo>
                    <a:pt x="16206" y="9723"/>
                  </a:lnTo>
                  <a:lnTo>
                    <a:pt x="8103" y="4862"/>
                  </a:lnTo>
                  <a:lnTo>
                    <a:pt x="0" y="0"/>
                  </a:lnTo>
                </a:path>
              </a:pathLst>
            </a:custGeom>
            <a:noFill/>
            <a:ln w="38894">
              <a:solidFill>
                <a:srgbClr val="4E989D"/>
              </a:solidFill>
            </a:ln>
          </p:spPr>
        </p:sp>
        <p:sp>
          <p:nvSpPr>
            <p:cNvPr id="259" name="Target cubes 6">
              <a:extLst>
                <a:ext uri="{FF2B5EF4-FFF2-40B4-BE49-F238E27FC236}">
                  <a16:creationId xmlns:a16="http://schemas.microsoft.com/office/drawing/2014/main" id="{7C92309D-2D74-4A06-B342-E525412D2DB7}"/>
                </a:ext>
              </a:extLst>
            </p:cNvPr>
            <p:cNvSpPr>
              <a:spLocks noGrp="1"/>
            </p:cNvSpPr>
            <p:nvPr/>
          </p:nvSpPr>
          <p:spPr>
            <a:xfrm>
              <a:off x="13179822" y="865525"/>
              <a:ext cx="92178" cy="55424"/>
            </a:xfrm>
            <a:custGeom>
              <a:avLst/>
              <a:gdLst/>
              <a:ahLst/>
              <a:cxnLst/>
              <a:rect l="0" t="0" r="0" b="0"/>
              <a:pathLst>
                <a:path w="92178" h="55424">
                  <a:moveTo>
                    <a:pt x="0" y="55424"/>
                  </a:moveTo>
                  <a:lnTo>
                    <a:pt x="7682" y="50805"/>
                  </a:lnTo>
                  <a:lnTo>
                    <a:pt x="15363" y="46186"/>
                  </a:lnTo>
                  <a:lnTo>
                    <a:pt x="23045" y="41568"/>
                  </a:lnTo>
                  <a:lnTo>
                    <a:pt x="30726" y="36949"/>
                  </a:lnTo>
                  <a:lnTo>
                    <a:pt x="38408" y="32330"/>
                  </a:lnTo>
                  <a:lnTo>
                    <a:pt x="46089" y="27712"/>
                  </a:lnTo>
                  <a:lnTo>
                    <a:pt x="53771" y="23093"/>
                  </a:lnTo>
                  <a:lnTo>
                    <a:pt x="61452" y="18475"/>
                  </a:lnTo>
                  <a:lnTo>
                    <a:pt x="69134" y="13856"/>
                  </a:lnTo>
                  <a:lnTo>
                    <a:pt x="76815" y="9237"/>
                  </a:lnTo>
                  <a:lnTo>
                    <a:pt x="84497" y="4619"/>
                  </a:lnTo>
                  <a:lnTo>
                    <a:pt x="92178" y="0"/>
                  </a:lnTo>
                </a:path>
              </a:pathLst>
            </a:custGeom>
            <a:noFill/>
            <a:ln w="38894">
              <a:solidFill>
                <a:srgbClr val="4E989D"/>
              </a:solidFill>
            </a:ln>
          </p:spPr>
        </p:sp>
        <p:sp>
          <p:nvSpPr>
            <p:cNvPr id="260" name="Target cubes 7">
              <a:extLst>
                <a:ext uri="{FF2B5EF4-FFF2-40B4-BE49-F238E27FC236}">
                  <a16:creationId xmlns:a16="http://schemas.microsoft.com/office/drawing/2014/main" id="{A4BFF0A7-6402-4F0D-A463-3891A158583E}"/>
                </a:ext>
              </a:extLst>
            </p:cNvPr>
            <p:cNvSpPr>
              <a:spLocks noGrp="1"/>
            </p:cNvSpPr>
            <p:nvPr/>
          </p:nvSpPr>
          <p:spPr>
            <a:xfrm>
              <a:off x="13179822" y="920948"/>
              <a:ext cx="953" cy="100540"/>
            </a:xfrm>
            <a:custGeom>
              <a:avLst/>
              <a:gdLst/>
              <a:ahLst/>
              <a:cxnLst/>
              <a:rect l="0" t="0" r="0" b="0"/>
              <a:pathLst>
                <a:path w="953" h="100540">
                  <a:moveTo>
                    <a:pt x="0" y="0"/>
                  </a:moveTo>
                  <a:lnTo>
                    <a:pt x="0" y="9140"/>
                  </a:lnTo>
                  <a:lnTo>
                    <a:pt x="0" y="18280"/>
                  </a:lnTo>
                  <a:lnTo>
                    <a:pt x="0" y="27420"/>
                  </a:lnTo>
                  <a:lnTo>
                    <a:pt x="0" y="36560"/>
                  </a:lnTo>
                  <a:lnTo>
                    <a:pt x="0" y="45700"/>
                  </a:lnTo>
                  <a:lnTo>
                    <a:pt x="0" y="54840"/>
                  </a:lnTo>
                  <a:lnTo>
                    <a:pt x="0" y="63980"/>
                  </a:lnTo>
                  <a:lnTo>
                    <a:pt x="0" y="73120"/>
                  </a:lnTo>
                  <a:lnTo>
                    <a:pt x="0" y="82260"/>
                  </a:lnTo>
                  <a:lnTo>
                    <a:pt x="0" y="91400"/>
                  </a:lnTo>
                  <a:lnTo>
                    <a:pt x="0" y="100540"/>
                  </a:lnTo>
                </a:path>
              </a:pathLst>
            </a:custGeom>
            <a:noFill/>
            <a:ln w="38894">
              <a:solidFill>
                <a:srgbClr val="4E989D"/>
              </a:solidFill>
            </a:ln>
          </p:spPr>
        </p:sp>
        <p:sp>
          <p:nvSpPr>
            <p:cNvPr id="261" name="Target cubes 8">
              <a:extLst>
                <a:ext uri="{FF2B5EF4-FFF2-40B4-BE49-F238E27FC236}">
                  <a16:creationId xmlns:a16="http://schemas.microsoft.com/office/drawing/2014/main" id="{E06CDDB4-8FAE-460F-AD43-F3FD2BC6D3AF}"/>
                </a:ext>
              </a:extLst>
            </p:cNvPr>
            <p:cNvSpPr>
              <a:spLocks noGrp="1"/>
            </p:cNvSpPr>
            <p:nvPr/>
          </p:nvSpPr>
          <p:spPr>
            <a:xfrm>
              <a:off x="12985353" y="645546"/>
              <a:ext cx="194469" cy="215823"/>
            </a:xfrm>
            <a:custGeom>
              <a:avLst/>
              <a:gdLst/>
              <a:ahLst/>
              <a:cxnLst/>
              <a:rect l="0" t="0" r="0" b="0"/>
              <a:pathLst>
                <a:path w="194469" h="215823">
                  <a:moveTo>
                    <a:pt x="18863" y="40484"/>
                  </a:moveTo>
                  <a:lnTo>
                    <a:pt x="11303" y="46409"/>
                  </a:lnTo>
                  <a:lnTo>
                    <a:pt x="5427" y="54008"/>
                  </a:lnTo>
                  <a:lnTo>
                    <a:pt x="1590" y="62814"/>
                  </a:lnTo>
                  <a:lnTo>
                    <a:pt x="30" y="72292"/>
                  </a:lnTo>
                  <a:lnTo>
                    <a:pt x="0" y="81921"/>
                  </a:lnTo>
                  <a:lnTo>
                    <a:pt x="0" y="91551"/>
                  </a:lnTo>
                  <a:lnTo>
                    <a:pt x="0" y="101181"/>
                  </a:lnTo>
                  <a:lnTo>
                    <a:pt x="0" y="110811"/>
                  </a:lnTo>
                  <a:lnTo>
                    <a:pt x="0" y="120442"/>
                  </a:lnTo>
                  <a:lnTo>
                    <a:pt x="0" y="130072"/>
                  </a:lnTo>
                  <a:lnTo>
                    <a:pt x="0" y="139702"/>
                  </a:lnTo>
                  <a:lnTo>
                    <a:pt x="0" y="149332"/>
                  </a:lnTo>
                  <a:lnTo>
                    <a:pt x="206" y="158845"/>
                  </a:lnTo>
                  <a:lnTo>
                    <a:pt x="8464" y="163800"/>
                  </a:lnTo>
                  <a:lnTo>
                    <a:pt x="16722" y="168754"/>
                  </a:lnTo>
                  <a:lnTo>
                    <a:pt x="24979" y="173709"/>
                  </a:lnTo>
                  <a:lnTo>
                    <a:pt x="33237" y="178664"/>
                  </a:lnTo>
                  <a:lnTo>
                    <a:pt x="41495" y="183618"/>
                  </a:lnTo>
                  <a:lnTo>
                    <a:pt x="49753" y="188573"/>
                  </a:lnTo>
                  <a:lnTo>
                    <a:pt x="58010" y="193528"/>
                  </a:lnTo>
                  <a:lnTo>
                    <a:pt x="66268" y="198482"/>
                  </a:lnTo>
                  <a:lnTo>
                    <a:pt x="74526" y="203437"/>
                  </a:lnTo>
                  <a:lnTo>
                    <a:pt x="82784" y="208391"/>
                  </a:lnTo>
                  <a:lnTo>
                    <a:pt x="91041" y="213346"/>
                  </a:lnTo>
                  <a:lnTo>
                    <a:pt x="99299" y="215823"/>
                  </a:lnTo>
                  <a:lnTo>
                    <a:pt x="107557" y="210869"/>
                  </a:lnTo>
                  <a:lnTo>
                    <a:pt x="115814" y="205914"/>
                  </a:lnTo>
                  <a:lnTo>
                    <a:pt x="124072" y="200959"/>
                  </a:lnTo>
                  <a:lnTo>
                    <a:pt x="132330" y="196005"/>
                  </a:lnTo>
                  <a:lnTo>
                    <a:pt x="140588" y="191050"/>
                  </a:lnTo>
                  <a:lnTo>
                    <a:pt x="148845" y="186095"/>
                  </a:lnTo>
                  <a:lnTo>
                    <a:pt x="157103" y="181141"/>
                  </a:lnTo>
                  <a:lnTo>
                    <a:pt x="165361" y="176186"/>
                  </a:lnTo>
                  <a:lnTo>
                    <a:pt x="173618" y="171231"/>
                  </a:lnTo>
                  <a:lnTo>
                    <a:pt x="181876" y="166277"/>
                  </a:lnTo>
                  <a:lnTo>
                    <a:pt x="190134" y="161322"/>
                  </a:lnTo>
                  <a:lnTo>
                    <a:pt x="194469" y="154146"/>
                  </a:lnTo>
                  <a:lnTo>
                    <a:pt x="194469" y="144516"/>
                  </a:lnTo>
                  <a:lnTo>
                    <a:pt x="194469" y="134886"/>
                  </a:lnTo>
                  <a:lnTo>
                    <a:pt x="194469" y="125256"/>
                  </a:lnTo>
                  <a:lnTo>
                    <a:pt x="194469" y="115626"/>
                  </a:lnTo>
                  <a:lnTo>
                    <a:pt x="194469" y="105996"/>
                  </a:lnTo>
                  <a:lnTo>
                    <a:pt x="194469" y="96366"/>
                  </a:lnTo>
                  <a:lnTo>
                    <a:pt x="194469" y="86736"/>
                  </a:lnTo>
                  <a:lnTo>
                    <a:pt x="194469" y="77106"/>
                  </a:lnTo>
                  <a:lnTo>
                    <a:pt x="193953" y="67504"/>
                  </a:lnTo>
                  <a:lnTo>
                    <a:pt x="191233" y="58292"/>
                  </a:lnTo>
                  <a:lnTo>
                    <a:pt x="186339" y="50026"/>
                  </a:lnTo>
                  <a:lnTo>
                    <a:pt x="179569" y="43212"/>
                  </a:lnTo>
                  <a:lnTo>
                    <a:pt x="171476" y="38007"/>
                  </a:lnTo>
                  <a:lnTo>
                    <a:pt x="163218" y="33052"/>
                  </a:lnTo>
                  <a:lnTo>
                    <a:pt x="154961" y="28098"/>
                  </a:lnTo>
                  <a:lnTo>
                    <a:pt x="146703" y="23143"/>
                  </a:lnTo>
                  <a:lnTo>
                    <a:pt x="138445" y="18188"/>
                  </a:lnTo>
                  <a:lnTo>
                    <a:pt x="130188" y="13234"/>
                  </a:lnTo>
                  <a:lnTo>
                    <a:pt x="121930" y="8279"/>
                  </a:lnTo>
                  <a:lnTo>
                    <a:pt x="113564" y="3519"/>
                  </a:lnTo>
                  <a:lnTo>
                    <a:pt x="104415" y="594"/>
                  </a:lnTo>
                  <a:lnTo>
                    <a:pt x="94828" y="0"/>
                  </a:lnTo>
                  <a:lnTo>
                    <a:pt x="85388" y="1773"/>
                  </a:lnTo>
                  <a:lnTo>
                    <a:pt x="76668" y="5802"/>
                  </a:lnTo>
                  <a:lnTo>
                    <a:pt x="68410" y="10756"/>
                  </a:lnTo>
                  <a:lnTo>
                    <a:pt x="60152" y="15711"/>
                  </a:lnTo>
                  <a:lnTo>
                    <a:pt x="51894" y="20666"/>
                  </a:lnTo>
                  <a:lnTo>
                    <a:pt x="43637" y="25620"/>
                  </a:lnTo>
                  <a:lnTo>
                    <a:pt x="35379" y="30575"/>
                  </a:lnTo>
                  <a:lnTo>
                    <a:pt x="27121" y="35530"/>
                  </a:lnTo>
                  <a:lnTo>
                    <a:pt x="18863" y="40484"/>
                  </a:lnTo>
                  <a:close/>
                </a:path>
              </a:pathLst>
            </a:custGeom>
            <a:noFill/>
            <a:ln w="38894">
              <a:solidFill>
                <a:srgbClr val="4E989D"/>
              </a:solidFill>
            </a:ln>
          </p:spPr>
        </p:sp>
        <p:sp>
          <p:nvSpPr>
            <p:cNvPr id="262" name="Target cubes 9">
              <a:extLst>
                <a:ext uri="{FF2B5EF4-FFF2-40B4-BE49-F238E27FC236}">
                  <a16:creationId xmlns:a16="http://schemas.microsoft.com/office/drawing/2014/main" id="{7B2CB2CB-F6D6-4A64-A45A-3C77DAE7CAC3}"/>
                </a:ext>
              </a:extLst>
            </p:cNvPr>
            <p:cNvSpPr>
              <a:spLocks noGrp="1"/>
            </p:cNvSpPr>
            <p:nvPr/>
          </p:nvSpPr>
          <p:spPr>
            <a:xfrm>
              <a:off x="12990409" y="700226"/>
              <a:ext cx="92178" cy="55424"/>
            </a:xfrm>
            <a:custGeom>
              <a:avLst/>
              <a:gdLst/>
              <a:ahLst/>
              <a:cxnLst/>
              <a:rect l="0" t="0" r="0" b="0"/>
              <a:pathLst>
                <a:path w="92178" h="55424">
                  <a:moveTo>
                    <a:pt x="92178" y="55424"/>
                  </a:moveTo>
                  <a:lnTo>
                    <a:pt x="84497" y="50805"/>
                  </a:lnTo>
                  <a:lnTo>
                    <a:pt x="76815" y="46186"/>
                  </a:lnTo>
                  <a:lnTo>
                    <a:pt x="69134" y="41568"/>
                  </a:lnTo>
                  <a:lnTo>
                    <a:pt x="61452" y="36949"/>
                  </a:lnTo>
                  <a:lnTo>
                    <a:pt x="53771" y="32330"/>
                  </a:lnTo>
                  <a:lnTo>
                    <a:pt x="46089" y="27712"/>
                  </a:lnTo>
                  <a:lnTo>
                    <a:pt x="38408" y="23093"/>
                  </a:lnTo>
                  <a:lnTo>
                    <a:pt x="30726" y="18475"/>
                  </a:lnTo>
                  <a:lnTo>
                    <a:pt x="23045" y="13856"/>
                  </a:lnTo>
                  <a:lnTo>
                    <a:pt x="15363" y="9237"/>
                  </a:lnTo>
                  <a:lnTo>
                    <a:pt x="7682" y="4619"/>
                  </a:lnTo>
                  <a:lnTo>
                    <a:pt x="0" y="0"/>
                  </a:lnTo>
                </a:path>
              </a:pathLst>
            </a:custGeom>
            <a:noFill/>
            <a:ln w="38894">
              <a:solidFill>
                <a:srgbClr val="4E989D"/>
              </a:solidFill>
            </a:ln>
          </p:spPr>
        </p:sp>
        <p:sp>
          <p:nvSpPr>
            <p:cNvPr id="263" name="Target cubes 10">
              <a:extLst>
                <a:ext uri="{FF2B5EF4-FFF2-40B4-BE49-F238E27FC236}">
                  <a16:creationId xmlns:a16="http://schemas.microsoft.com/office/drawing/2014/main" id="{D2B776C7-B1D8-4A8E-9185-8C38C9C18ED7}"/>
                </a:ext>
              </a:extLst>
            </p:cNvPr>
            <p:cNvSpPr>
              <a:spLocks noGrp="1"/>
            </p:cNvSpPr>
            <p:nvPr/>
          </p:nvSpPr>
          <p:spPr>
            <a:xfrm>
              <a:off x="13082588" y="700226"/>
              <a:ext cx="92178" cy="55424"/>
            </a:xfrm>
            <a:custGeom>
              <a:avLst/>
              <a:gdLst/>
              <a:ahLst/>
              <a:cxnLst/>
              <a:rect l="0" t="0" r="0" b="0"/>
              <a:pathLst>
                <a:path w="92178" h="55424">
                  <a:moveTo>
                    <a:pt x="0" y="55424"/>
                  </a:moveTo>
                  <a:lnTo>
                    <a:pt x="7682" y="50805"/>
                  </a:lnTo>
                  <a:lnTo>
                    <a:pt x="15363" y="46186"/>
                  </a:lnTo>
                  <a:lnTo>
                    <a:pt x="23045" y="41568"/>
                  </a:lnTo>
                  <a:lnTo>
                    <a:pt x="30726" y="36949"/>
                  </a:lnTo>
                  <a:lnTo>
                    <a:pt x="38408" y="32330"/>
                  </a:lnTo>
                  <a:lnTo>
                    <a:pt x="46089" y="27712"/>
                  </a:lnTo>
                  <a:lnTo>
                    <a:pt x="53771" y="23093"/>
                  </a:lnTo>
                  <a:lnTo>
                    <a:pt x="61452" y="18475"/>
                  </a:lnTo>
                  <a:lnTo>
                    <a:pt x="69134" y="13856"/>
                  </a:lnTo>
                  <a:lnTo>
                    <a:pt x="76815" y="9237"/>
                  </a:lnTo>
                  <a:lnTo>
                    <a:pt x="84497" y="4619"/>
                  </a:lnTo>
                  <a:lnTo>
                    <a:pt x="92178" y="0"/>
                  </a:lnTo>
                </a:path>
              </a:pathLst>
            </a:custGeom>
            <a:noFill/>
            <a:ln w="38894">
              <a:solidFill>
                <a:srgbClr val="4E989D"/>
              </a:solidFill>
            </a:ln>
          </p:spPr>
        </p:sp>
        <p:sp>
          <p:nvSpPr>
            <p:cNvPr id="264" name="Target cubes 11">
              <a:extLst>
                <a:ext uri="{FF2B5EF4-FFF2-40B4-BE49-F238E27FC236}">
                  <a16:creationId xmlns:a16="http://schemas.microsoft.com/office/drawing/2014/main" id="{BD2ED8BA-6D00-49DC-ADA8-48B9FB47389F}"/>
                </a:ext>
              </a:extLst>
            </p:cNvPr>
            <p:cNvSpPr>
              <a:spLocks noGrp="1"/>
            </p:cNvSpPr>
            <p:nvPr/>
          </p:nvSpPr>
          <p:spPr>
            <a:xfrm>
              <a:off x="13082588" y="755650"/>
              <a:ext cx="953" cy="106958"/>
            </a:xfrm>
            <a:custGeom>
              <a:avLst/>
              <a:gdLst/>
              <a:ahLst/>
              <a:cxnLst/>
              <a:rect l="0" t="0" r="0" b="0"/>
              <a:pathLst>
                <a:path w="953" h="106958">
                  <a:moveTo>
                    <a:pt x="0" y="106958"/>
                  </a:moveTo>
                  <a:lnTo>
                    <a:pt x="0" y="97234"/>
                  </a:lnTo>
                  <a:lnTo>
                    <a:pt x="0" y="87511"/>
                  </a:lnTo>
                  <a:lnTo>
                    <a:pt x="0" y="77788"/>
                  </a:lnTo>
                  <a:lnTo>
                    <a:pt x="0" y="68064"/>
                  </a:lnTo>
                  <a:lnTo>
                    <a:pt x="0" y="58341"/>
                  </a:lnTo>
                  <a:lnTo>
                    <a:pt x="0" y="48617"/>
                  </a:lnTo>
                  <a:lnTo>
                    <a:pt x="0" y="38894"/>
                  </a:lnTo>
                  <a:lnTo>
                    <a:pt x="0" y="29170"/>
                  </a:lnTo>
                  <a:lnTo>
                    <a:pt x="0" y="19447"/>
                  </a:lnTo>
                  <a:lnTo>
                    <a:pt x="0" y="9723"/>
                  </a:lnTo>
                  <a:lnTo>
                    <a:pt x="0" y="0"/>
                  </a:lnTo>
                </a:path>
              </a:pathLst>
            </a:custGeom>
            <a:noFill/>
            <a:ln w="38894">
              <a:solidFill>
                <a:srgbClr val="4E989D"/>
              </a:solidFill>
            </a:ln>
          </p:spPr>
        </p:sp>
        <p:sp>
          <p:nvSpPr>
            <p:cNvPr id="265" name="Target frameworks heading">
              <a:extLst>
                <a:ext uri="{FF2B5EF4-FFF2-40B4-BE49-F238E27FC236}">
                  <a16:creationId xmlns:a16="http://schemas.microsoft.com/office/drawing/2014/main" id="{0A97D0E9-01DD-43A9-8EA0-C510F6580056}"/>
                </a:ext>
              </a:extLst>
            </p:cNvPr>
            <p:cNvSpPr>
              <a:spLocks noGrp="1"/>
            </p:cNvSpPr>
            <p:nvPr/>
          </p:nvSpPr>
          <p:spPr>
            <a:xfrm>
              <a:off x="13449300" y="581025"/>
              <a:ext cx="2200275" cy="2857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1950" b="1">
                  <a:solidFill>
                    <a:srgbClr val="091322"/>
                  </a:solidFill>
                  <a:latin typeface="Arial Narrow"/>
                  <a:ea typeface="Arial Narrow"/>
                  <a:cs typeface="Arial Narrow"/>
                </a:defRPr>
              </a:pPr>
              <a:r>
                <a:rPr sz="1950" b="1">
                  <a:solidFill>
                    <a:srgbClr val="091322"/>
                  </a:solidFill>
                  <a:latin typeface="Times New Roman" panose="02020603050405020304" pitchFamily="18" charset="0"/>
                  <a:ea typeface="Arial Narrow"/>
                  <a:cs typeface="Times New Roman" panose="02020603050405020304" pitchFamily="18" charset="0"/>
                </a:rPr>
                <a:t>Target Frameworks</a:t>
              </a:r>
            </a:p>
          </p:txBody>
        </p:sp>
        <p:sp>
          <p:nvSpPr>
            <p:cNvPr id="266" name="Parallel execution subheading">
              <a:extLst>
                <a:ext uri="{FF2B5EF4-FFF2-40B4-BE49-F238E27FC236}">
                  <a16:creationId xmlns:a16="http://schemas.microsoft.com/office/drawing/2014/main" id="{B4692B9D-8E5E-47A7-BB0A-8426D19ADB95}"/>
                </a:ext>
              </a:extLst>
            </p:cNvPr>
            <p:cNvSpPr>
              <a:spLocks noGrp="1"/>
            </p:cNvSpPr>
            <p:nvPr/>
          </p:nvSpPr>
          <p:spPr>
            <a:xfrm>
              <a:off x="13582650" y="847725"/>
              <a:ext cx="2038350" cy="276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1650" b="1">
                  <a:solidFill>
                    <a:srgbClr val="091322"/>
                  </a:solidFill>
                  <a:latin typeface="Arial Narrow"/>
                  <a:ea typeface="Arial Narrow"/>
                  <a:cs typeface="Arial Narrow"/>
                </a:defRPr>
              </a:pPr>
              <a:r>
                <a:rPr sz="1650" b="1">
                  <a:solidFill>
                    <a:srgbClr val="091322"/>
                  </a:solidFill>
                  <a:latin typeface="Times New Roman" panose="02020603050405020304" pitchFamily="18" charset="0"/>
                  <a:ea typeface="Arial Narrow"/>
                  <a:cs typeface="Times New Roman" panose="02020603050405020304" pitchFamily="18" charset="0"/>
                </a:rPr>
                <a:t>(Parallel Execution)</a:t>
              </a:r>
            </a:p>
          </p:txBody>
        </p:sp>
      </p:grpSp>
      <p:sp>
        <p:nvSpPr>
          <p:cNvPr id="267" name="MindSpore outer card">
            <a:extLst>
              <a:ext uri="{FF2B5EF4-FFF2-40B4-BE49-F238E27FC236}">
                <a16:creationId xmlns:a16="http://schemas.microsoft.com/office/drawing/2014/main" id="{3669AF5F-AF4B-4D03-B12D-E3565C29F9C3}"/>
              </a:ext>
            </a:extLst>
          </p:cNvPr>
          <p:cNvSpPr>
            <a:spLocks noGrp="1"/>
          </p:cNvSpPr>
          <p:nvPr/>
        </p:nvSpPr>
        <p:spPr>
          <a:xfrm>
            <a:off x="12725400" y="1209675"/>
            <a:ext cx="2924175" cy="1590675"/>
          </a:xfrm>
          <a:prstGeom prst="roundRect">
            <a:avLst>
              <a:gd name="adj" fmla="val 8982"/>
            </a:avLst>
          </a:prstGeom>
          <a:solidFill>
            <a:srgbClr val="FCFEFF"/>
          </a:solidFill>
          <a:ln w="13335">
            <a:solidFill>
              <a:srgbClr val="C6E1E5"/>
            </a:solidFill>
          </a:ln>
        </p:spPr>
      </p:sp>
      <p:sp>
        <p:nvSpPr>
          <p:cNvPr id="268" name="MindSpore inner card">
            <a:extLst>
              <a:ext uri="{FF2B5EF4-FFF2-40B4-BE49-F238E27FC236}">
                <a16:creationId xmlns:a16="http://schemas.microsoft.com/office/drawing/2014/main" id="{D3142D9E-E528-4262-AC8C-4F83D607B587}"/>
              </a:ext>
            </a:extLst>
          </p:cNvPr>
          <p:cNvSpPr>
            <a:spLocks noGrp="1"/>
          </p:cNvSpPr>
          <p:nvPr/>
        </p:nvSpPr>
        <p:spPr>
          <a:xfrm>
            <a:off x="12811125" y="1285875"/>
            <a:ext cx="2743200" cy="1428750"/>
          </a:xfrm>
          <a:prstGeom prst="roundRect">
            <a:avLst>
              <a:gd name="adj" fmla="val 11333"/>
            </a:avLst>
          </a:prstGeom>
          <a:gradFill>
            <a:gsLst>
              <a:gs pos="0">
                <a:srgbClr val="EEF7FF"/>
              </a:gs>
              <a:gs pos="100000">
                <a:srgbClr val="E2F0FF"/>
              </a:gs>
            </a:gsLst>
            <a:lin ang="5400000"/>
          </a:gradFill>
          <a:ln w="0">
            <a:noFill/>
          </a:ln>
        </p:spPr>
      </p:sp>
      <p:pic>
        <p:nvPicPr>
          <p:cNvPr id="376" name="mindspore official logo" descr="https://www.mindspore.cn/_static/logo-zh-light.Bh-KLwUB.svg | Original SVG bytes; proportional crop of the official symbol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12963525" y="1457325"/>
            <a:ext cx="895350" cy="499730"/>
          </a:xfrm>
          <a:prstGeom prst="rect">
            <a:avLst/>
          </a:prstGeom>
        </p:spPr>
      </p:pic>
      <p:sp>
        <p:nvSpPr>
          <p:cNvPr id="271" name="MindSpore name">
            <a:extLst>
              <a:ext uri="{FF2B5EF4-FFF2-40B4-BE49-F238E27FC236}">
                <a16:creationId xmlns:a16="http://schemas.microsoft.com/office/drawing/2014/main" id="{5080076A-5E8D-4463-8A2E-7550D0FCD4B4}"/>
              </a:ext>
            </a:extLst>
          </p:cNvPr>
          <p:cNvSpPr>
            <a:spLocks noGrp="1"/>
          </p:cNvSpPr>
          <p:nvPr/>
        </p:nvSpPr>
        <p:spPr>
          <a:xfrm>
            <a:off x="13973175" y="1409700"/>
            <a:ext cx="15621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1">
                <a:solidFill>
                  <a:srgbClr val="0D1648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1">
                <a:solidFill>
                  <a:srgbClr val="0D1648"/>
                </a:solidFill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</a:rPr>
              <a:t>MindSpore</a:t>
            </a:r>
          </a:p>
        </p:txBody>
      </p:sp>
      <p:sp>
        <p:nvSpPr>
          <p:cNvPr id="272" name="MindSpore adapter">
            <a:extLst>
              <a:ext uri="{FF2B5EF4-FFF2-40B4-BE49-F238E27FC236}">
                <a16:creationId xmlns:a16="http://schemas.microsoft.com/office/drawing/2014/main" id="{5CCE402F-EA2D-448D-8A66-48D454A17690}"/>
              </a:ext>
            </a:extLst>
          </p:cNvPr>
          <p:cNvSpPr>
            <a:spLocks noGrp="1"/>
          </p:cNvSpPr>
          <p:nvPr/>
        </p:nvSpPr>
        <p:spPr>
          <a:xfrm>
            <a:off x="14020800" y="1685925"/>
            <a:ext cx="15240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0">
                <a:solidFill>
                  <a:srgbClr val="15306E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15306E"/>
                </a:solidFill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</a:rPr>
              <a:t>via torch4ms</a:t>
            </a:r>
          </a:p>
        </p:txBody>
      </p:sp>
      <p:sp>
        <p:nvSpPr>
          <p:cNvPr id="273" name="MindSpore run strip">
            <a:extLst>
              <a:ext uri="{FF2B5EF4-FFF2-40B4-BE49-F238E27FC236}">
                <a16:creationId xmlns:a16="http://schemas.microsoft.com/office/drawing/2014/main" id="{A3BC3642-E09E-4057-BC64-0EB2A66DB3C6}"/>
              </a:ext>
            </a:extLst>
          </p:cNvPr>
          <p:cNvSpPr>
            <a:spLocks noGrp="1"/>
          </p:cNvSpPr>
          <p:nvPr/>
        </p:nvSpPr>
        <p:spPr>
          <a:xfrm>
            <a:off x="12954000" y="2162175"/>
            <a:ext cx="2457450" cy="438150"/>
          </a:xfrm>
          <a:prstGeom prst="roundRect">
            <a:avLst>
              <a:gd name="adj" fmla="val 21739"/>
            </a:avLst>
          </a:prstGeom>
          <a:gradFill>
            <a:gsLst>
              <a:gs pos="0">
                <a:srgbClr val="D9E9FC"/>
              </a:gs>
              <a:gs pos="100000">
                <a:srgbClr val="DBEBFD"/>
              </a:gs>
            </a:gsLst>
            <a:lin ang="5400000"/>
          </a:gradFill>
          <a:ln w="0">
            <a:noFill/>
          </a:ln>
        </p:spPr>
      </p:sp>
      <p:sp>
        <p:nvSpPr>
          <p:cNvPr id="274" name="MindSpore code button">
            <a:extLst>
              <a:ext uri="{FF2B5EF4-FFF2-40B4-BE49-F238E27FC236}">
                <a16:creationId xmlns:a16="http://schemas.microsoft.com/office/drawing/2014/main" id="{4CC745E6-2021-499E-8D9C-7976F92487EB}"/>
              </a:ext>
            </a:extLst>
          </p:cNvPr>
          <p:cNvSpPr>
            <a:spLocks noGrp="1"/>
          </p:cNvSpPr>
          <p:nvPr/>
        </p:nvSpPr>
        <p:spPr>
          <a:xfrm>
            <a:off x="13134975" y="2247900"/>
            <a:ext cx="285750" cy="276225"/>
          </a:xfrm>
          <a:prstGeom prst="roundRect">
            <a:avLst>
              <a:gd name="adj" fmla="val 17241"/>
            </a:avLst>
          </a:prstGeom>
          <a:solidFill>
            <a:srgbClr val="EFF3F8"/>
          </a:solidFill>
          <a:ln w="13335">
            <a:solidFill>
              <a:srgbClr val="929DAA"/>
            </a:solidFill>
          </a:ln>
        </p:spPr>
      </p:sp>
      <p:sp>
        <p:nvSpPr>
          <p:cNvPr id="275" name="MindSpore run code glyph">
            <a:extLst>
              <a:ext uri="{FF2B5EF4-FFF2-40B4-BE49-F238E27FC236}">
                <a16:creationId xmlns:a16="http://schemas.microsoft.com/office/drawing/2014/main" id="{E491F369-7060-4B00-83BE-6A359A17C3D2}"/>
              </a:ext>
            </a:extLst>
          </p:cNvPr>
          <p:cNvSpPr>
            <a:spLocks noGrp="1"/>
          </p:cNvSpPr>
          <p:nvPr/>
        </p:nvSpPr>
        <p:spPr>
          <a:xfrm>
            <a:off x="13154025" y="2266950"/>
            <a:ext cx="257175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275" b="1">
                <a:solidFill>
                  <a:srgbClr val="626E7E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626E7E"/>
                </a:solidFill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</a:rPr>
              <a:t>&lt;/&gt;</a:t>
            </a:r>
          </a:p>
        </p:txBody>
      </p:sp>
      <p:sp>
        <p:nvSpPr>
          <p:cNvPr id="276" name="MindSpore run text">
            <a:extLst>
              <a:ext uri="{FF2B5EF4-FFF2-40B4-BE49-F238E27FC236}">
                <a16:creationId xmlns:a16="http://schemas.microsoft.com/office/drawing/2014/main" id="{D54E9745-0CCB-434F-A217-5ED94AC51AEF}"/>
              </a:ext>
            </a:extLst>
          </p:cNvPr>
          <p:cNvSpPr>
            <a:spLocks noGrp="1"/>
          </p:cNvSpPr>
          <p:nvPr/>
        </p:nvSpPr>
        <p:spPr>
          <a:xfrm>
            <a:off x="13611225" y="2266950"/>
            <a:ext cx="12763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575" b="0">
                <a:solidFill>
                  <a:srgbClr val="09204B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09204B"/>
                </a:solidFill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</a:rPr>
              <a:t>Run &amp; Verify</a:t>
            </a:r>
          </a:p>
        </p:txBody>
      </p:sp>
      <p:sp>
        <p:nvSpPr>
          <p:cNvPr id="277" name="MindSpore verified circle">
            <a:extLst>
              <a:ext uri="{FF2B5EF4-FFF2-40B4-BE49-F238E27FC236}">
                <a16:creationId xmlns:a16="http://schemas.microsoft.com/office/drawing/2014/main" id="{AE47E608-0EE5-4FE4-B621-8F26D4F40409}"/>
              </a:ext>
            </a:extLst>
          </p:cNvPr>
          <p:cNvSpPr>
            <a:spLocks noGrp="1"/>
          </p:cNvSpPr>
          <p:nvPr/>
        </p:nvSpPr>
        <p:spPr>
          <a:xfrm>
            <a:off x="14906625" y="2057400"/>
            <a:ext cx="485775" cy="485775"/>
          </a:xfrm>
          <a:prstGeom prst="ellipse">
            <a:avLst/>
          </a:prstGeom>
          <a:gradFill>
            <a:gsLst>
              <a:gs pos="0">
                <a:srgbClr val="65BC6A"/>
              </a:gs>
              <a:gs pos="100000">
                <a:srgbClr val="40914F"/>
              </a:gs>
            </a:gsLst>
            <a:lin ang="5400000"/>
          </a:gradFill>
          <a:ln w="10478">
            <a:solidFill>
              <a:srgbClr val="FFFFFF"/>
            </a:solidFill>
            <a:prstDash val="solid"/>
          </a:ln>
        </p:spPr>
      </p:sp>
      <p:sp>
        <p:nvSpPr>
          <p:cNvPr id="278" name="MindSpore verified tick">
            <a:extLst>
              <a:ext uri="{FF2B5EF4-FFF2-40B4-BE49-F238E27FC236}">
                <a16:creationId xmlns:a16="http://schemas.microsoft.com/office/drawing/2014/main" id="{E07FD45E-D41B-4ECA-A00C-953FE2488BE8}"/>
              </a:ext>
            </a:extLst>
          </p:cNvPr>
          <p:cNvSpPr>
            <a:spLocks noGrp="1"/>
          </p:cNvSpPr>
          <p:nvPr/>
        </p:nvSpPr>
        <p:spPr>
          <a:xfrm>
            <a:off x="15042642" y="2227421"/>
            <a:ext cx="223457" cy="155448"/>
          </a:xfrm>
          <a:custGeom>
            <a:avLst/>
            <a:gdLst/>
            <a:ahLst/>
            <a:cxnLst/>
            <a:rect l="0" t="0" r="0" b="0"/>
            <a:pathLst>
              <a:path w="223457" h="155448">
                <a:moveTo>
                  <a:pt x="0" y="82582"/>
                </a:moveTo>
                <a:lnTo>
                  <a:pt x="77724" y="155448"/>
                </a:lnTo>
                <a:lnTo>
                  <a:pt x="223457" y="0"/>
                </a:lnTo>
              </a:path>
            </a:pathLst>
          </a:custGeom>
          <a:noFill/>
          <a:ln w="53435">
            <a:solidFill>
              <a:srgbClr val="FFFFFF"/>
            </a:solidFill>
          </a:ln>
        </p:spPr>
      </p:sp>
      <p:sp>
        <p:nvSpPr>
          <p:cNvPr id="279" name="JAX outer card">
            <a:extLst>
              <a:ext uri="{FF2B5EF4-FFF2-40B4-BE49-F238E27FC236}">
                <a16:creationId xmlns:a16="http://schemas.microsoft.com/office/drawing/2014/main" id="{575C864E-6C4B-4315-920F-43AB5F087966}"/>
              </a:ext>
            </a:extLst>
          </p:cNvPr>
          <p:cNvSpPr>
            <a:spLocks noGrp="1"/>
          </p:cNvSpPr>
          <p:nvPr/>
        </p:nvSpPr>
        <p:spPr>
          <a:xfrm>
            <a:off x="12725400" y="3009900"/>
            <a:ext cx="2924175" cy="1581150"/>
          </a:xfrm>
          <a:prstGeom prst="roundRect">
            <a:avLst>
              <a:gd name="adj" fmla="val 9036"/>
            </a:avLst>
          </a:prstGeom>
          <a:solidFill>
            <a:srgbClr val="FCFEFF"/>
          </a:solidFill>
          <a:ln w="13335">
            <a:solidFill>
              <a:srgbClr val="C6E1E5"/>
            </a:solidFill>
          </a:ln>
        </p:spPr>
      </p:sp>
      <p:sp>
        <p:nvSpPr>
          <p:cNvPr id="280" name="JAX inner card">
            <a:extLst>
              <a:ext uri="{FF2B5EF4-FFF2-40B4-BE49-F238E27FC236}">
                <a16:creationId xmlns:a16="http://schemas.microsoft.com/office/drawing/2014/main" id="{BC0D58E0-432E-4141-8E01-156D21560FAD}"/>
              </a:ext>
            </a:extLst>
          </p:cNvPr>
          <p:cNvSpPr>
            <a:spLocks noGrp="1"/>
          </p:cNvSpPr>
          <p:nvPr/>
        </p:nvSpPr>
        <p:spPr>
          <a:xfrm>
            <a:off x="12811125" y="3086100"/>
            <a:ext cx="2743200" cy="1428750"/>
          </a:xfrm>
          <a:prstGeom prst="roundRect">
            <a:avLst>
              <a:gd name="adj" fmla="val 11333"/>
            </a:avLst>
          </a:prstGeom>
          <a:gradFill>
            <a:gsLst>
              <a:gs pos="0">
                <a:srgbClr val="EEECFF"/>
              </a:gs>
              <a:gs pos="100000">
                <a:srgbClr val="E9E6FC"/>
              </a:gs>
            </a:gsLst>
            <a:lin ang="5400000"/>
          </a:gradFill>
          <a:ln w="0">
            <a:noFill/>
          </a:ln>
        </p:spPr>
      </p:sp>
      <p:pic>
        <p:nvPicPr>
          <p:cNvPr id="377" name="jax official logo" descr="https://raw.githubusercontent.com/google/jax/main/images/jax_logo.svg | Original SVG bytes; proportional crop of the official symbol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2982575" y="3371850"/>
            <a:ext cx="781050" cy="451676"/>
          </a:xfrm>
          <a:prstGeom prst="rect">
            <a:avLst/>
          </a:prstGeom>
        </p:spPr>
      </p:pic>
      <p:sp>
        <p:nvSpPr>
          <p:cNvPr id="319" name="JAX name">
            <a:extLst>
              <a:ext uri="{FF2B5EF4-FFF2-40B4-BE49-F238E27FC236}">
                <a16:creationId xmlns:a16="http://schemas.microsoft.com/office/drawing/2014/main" id="{11538DCA-3CBB-4AD5-847A-F1321C58577D}"/>
              </a:ext>
            </a:extLst>
          </p:cNvPr>
          <p:cNvSpPr>
            <a:spLocks noGrp="1"/>
          </p:cNvSpPr>
          <p:nvPr/>
        </p:nvSpPr>
        <p:spPr>
          <a:xfrm>
            <a:off x="14001750" y="3238500"/>
            <a:ext cx="14097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25" b="1">
                <a:solidFill>
                  <a:srgbClr val="0B1534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1">
                <a:solidFill>
                  <a:srgbClr val="0B1534"/>
                </a:solidFill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</a:rPr>
              <a:t>JAX</a:t>
            </a:r>
          </a:p>
        </p:txBody>
      </p:sp>
      <p:sp>
        <p:nvSpPr>
          <p:cNvPr id="320" name="JAX adapter">
            <a:extLst>
              <a:ext uri="{FF2B5EF4-FFF2-40B4-BE49-F238E27FC236}">
                <a16:creationId xmlns:a16="http://schemas.microsoft.com/office/drawing/2014/main" id="{6BF94DA7-1C45-4311-8B5C-B70115D37635}"/>
              </a:ext>
            </a:extLst>
          </p:cNvPr>
          <p:cNvSpPr>
            <a:spLocks noGrp="1"/>
          </p:cNvSpPr>
          <p:nvPr/>
        </p:nvSpPr>
        <p:spPr>
          <a:xfrm>
            <a:off x="14030325" y="3514725"/>
            <a:ext cx="15240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0">
                <a:solidFill>
                  <a:srgbClr val="203570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203570"/>
                </a:solidFill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</a:rPr>
              <a:t>via TorchAX</a:t>
            </a:r>
          </a:p>
        </p:txBody>
      </p:sp>
      <p:sp>
        <p:nvSpPr>
          <p:cNvPr id="321" name="JAX run strip">
            <a:extLst>
              <a:ext uri="{FF2B5EF4-FFF2-40B4-BE49-F238E27FC236}">
                <a16:creationId xmlns:a16="http://schemas.microsoft.com/office/drawing/2014/main" id="{FC19397C-60B5-41C4-A104-843C66CA3697}"/>
              </a:ext>
            </a:extLst>
          </p:cNvPr>
          <p:cNvSpPr>
            <a:spLocks noGrp="1"/>
          </p:cNvSpPr>
          <p:nvPr/>
        </p:nvSpPr>
        <p:spPr>
          <a:xfrm>
            <a:off x="12954000" y="3971925"/>
            <a:ext cx="2457450" cy="438150"/>
          </a:xfrm>
          <a:prstGeom prst="roundRect">
            <a:avLst>
              <a:gd name="adj" fmla="val 21739"/>
            </a:avLst>
          </a:prstGeom>
          <a:gradFill>
            <a:gsLst>
              <a:gs pos="0">
                <a:srgbClr val="DFDDF8"/>
              </a:gs>
              <a:gs pos="100000">
                <a:srgbClr val="E0DCF7"/>
              </a:gs>
            </a:gsLst>
            <a:lin ang="5400000"/>
          </a:gradFill>
          <a:ln w="0">
            <a:noFill/>
          </a:ln>
        </p:spPr>
      </p:sp>
      <p:sp>
        <p:nvSpPr>
          <p:cNvPr id="322" name="JAX code button">
            <a:extLst>
              <a:ext uri="{FF2B5EF4-FFF2-40B4-BE49-F238E27FC236}">
                <a16:creationId xmlns:a16="http://schemas.microsoft.com/office/drawing/2014/main" id="{CDCF9260-0929-4705-8CAC-8A1B36A49948}"/>
              </a:ext>
            </a:extLst>
          </p:cNvPr>
          <p:cNvSpPr>
            <a:spLocks noGrp="1"/>
          </p:cNvSpPr>
          <p:nvPr/>
        </p:nvSpPr>
        <p:spPr>
          <a:xfrm>
            <a:off x="13134975" y="4067175"/>
            <a:ext cx="285750" cy="276225"/>
          </a:xfrm>
          <a:prstGeom prst="roundRect">
            <a:avLst>
              <a:gd name="adj" fmla="val 17241"/>
            </a:avLst>
          </a:prstGeom>
          <a:solidFill>
            <a:srgbClr val="F0EFF8"/>
          </a:solidFill>
          <a:ln w="13335">
            <a:solidFill>
              <a:srgbClr val="9293AA"/>
            </a:solidFill>
          </a:ln>
        </p:spPr>
      </p:sp>
      <p:sp>
        <p:nvSpPr>
          <p:cNvPr id="323" name="JAX run code glyph">
            <a:extLst>
              <a:ext uri="{FF2B5EF4-FFF2-40B4-BE49-F238E27FC236}">
                <a16:creationId xmlns:a16="http://schemas.microsoft.com/office/drawing/2014/main" id="{523AF5C8-0907-4E0C-94E0-3174699DA5B6}"/>
              </a:ext>
            </a:extLst>
          </p:cNvPr>
          <p:cNvSpPr>
            <a:spLocks noGrp="1"/>
          </p:cNvSpPr>
          <p:nvPr/>
        </p:nvSpPr>
        <p:spPr>
          <a:xfrm>
            <a:off x="13154025" y="4086225"/>
            <a:ext cx="257175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275" b="1">
                <a:solidFill>
                  <a:srgbClr val="666B80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666B80"/>
                </a:solidFill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</a:rPr>
              <a:t>&lt;/&gt;</a:t>
            </a:r>
          </a:p>
        </p:txBody>
      </p:sp>
      <p:sp>
        <p:nvSpPr>
          <p:cNvPr id="324" name="JAX run text">
            <a:extLst>
              <a:ext uri="{FF2B5EF4-FFF2-40B4-BE49-F238E27FC236}">
                <a16:creationId xmlns:a16="http://schemas.microsoft.com/office/drawing/2014/main" id="{6CBCCE78-8E76-4BDB-8CEF-77473D5B0BA6}"/>
              </a:ext>
            </a:extLst>
          </p:cNvPr>
          <p:cNvSpPr>
            <a:spLocks noGrp="1"/>
          </p:cNvSpPr>
          <p:nvPr/>
        </p:nvSpPr>
        <p:spPr>
          <a:xfrm>
            <a:off x="13611225" y="4086225"/>
            <a:ext cx="12763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575" b="0">
                <a:solidFill>
                  <a:srgbClr val="09204B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09204B"/>
                </a:solidFill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</a:rPr>
              <a:t>Run &amp; Verify</a:t>
            </a:r>
          </a:p>
        </p:txBody>
      </p:sp>
      <p:sp>
        <p:nvSpPr>
          <p:cNvPr id="325" name="JAX verified circle">
            <a:extLst>
              <a:ext uri="{FF2B5EF4-FFF2-40B4-BE49-F238E27FC236}">
                <a16:creationId xmlns:a16="http://schemas.microsoft.com/office/drawing/2014/main" id="{30748494-01BE-46CD-9F1B-C6E341B10C40}"/>
              </a:ext>
            </a:extLst>
          </p:cNvPr>
          <p:cNvSpPr>
            <a:spLocks noGrp="1"/>
          </p:cNvSpPr>
          <p:nvPr/>
        </p:nvSpPr>
        <p:spPr>
          <a:xfrm>
            <a:off x="14906625" y="3857625"/>
            <a:ext cx="485775" cy="485775"/>
          </a:xfrm>
          <a:prstGeom prst="ellipse">
            <a:avLst/>
          </a:prstGeom>
          <a:gradFill>
            <a:gsLst>
              <a:gs pos="0">
                <a:srgbClr val="65BC6A"/>
              </a:gs>
              <a:gs pos="100000">
                <a:srgbClr val="40914F"/>
              </a:gs>
            </a:gsLst>
            <a:lin ang="5400000"/>
          </a:gradFill>
          <a:ln w="10478">
            <a:solidFill>
              <a:srgbClr val="FFFFFF"/>
            </a:solidFill>
            <a:prstDash val="solid"/>
          </a:ln>
        </p:spPr>
      </p:sp>
      <p:sp>
        <p:nvSpPr>
          <p:cNvPr id="326" name="JAX verified tick">
            <a:extLst>
              <a:ext uri="{FF2B5EF4-FFF2-40B4-BE49-F238E27FC236}">
                <a16:creationId xmlns:a16="http://schemas.microsoft.com/office/drawing/2014/main" id="{5E8FA185-C09E-4C81-97CC-74116FC3AE41}"/>
              </a:ext>
            </a:extLst>
          </p:cNvPr>
          <p:cNvSpPr>
            <a:spLocks noGrp="1"/>
          </p:cNvSpPr>
          <p:nvPr/>
        </p:nvSpPr>
        <p:spPr>
          <a:xfrm>
            <a:off x="15042642" y="4027646"/>
            <a:ext cx="223457" cy="155448"/>
          </a:xfrm>
          <a:custGeom>
            <a:avLst/>
            <a:gdLst/>
            <a:ahLst/>
            <a:cxnLst/>
            <a:rect l="0" t="0" r="0" b="0"/>
            <a:pathLst>
              <a:path w="223457" h="155448">
                <a:moveTo>
                  <a:pt x="0" y="82582"/>
                </a:moveTo>
                <a:lnTo>
                  <a:pt x="77724" y="155448"/>
                </a:lnTo>
                <a:lnTo>
                  <a:pt x="223457" y="0"/>
                </a:lnTo>
              </a:path>
            </a:pathLst>
          </a:custGeom>
          <a:noFill/>
          <a:ln w="53435">
            <a:solidFill>
              <a:srgbClr val="FFFFFF"/>
            </a:solidFill>
          </a:ln>
        </p:spPr>
      </p:sp>
      <p:grpSp>
        <p:nvGrpSpPr>
          <p:cNvPr id="373" name="More frameworks"/>
          <p:cNvGrpSpPr/>
          <p:nvPr/>
        </p:nvGrpSpPr>
        <p:grpSpPr>
          <a:xfrm>
            <a:off x="12725400" y="4791075"/>
            <a:ext cx="2924175" cy="1504950"/>
            <a:chOff x="12725400" y="4791075"/>
            <a:chExt cx="2924175" cy="1504950"/>
          </a:xfrm>
        </p:grpSpPr>
        <p:sp>
          <p:nvSpPr>
            <p:cNvPr id="327" name="More frameworks outer card">
              <a:extLst>
                <a:ext uri="{FF2B5EF4-FFF2-40B4-BE49-F238E27FC236}">
                  <a16:creationId xmlns:a16="http://schemas.microsoft.com/office/drawing/2014/main" id="{01809FD7-A9A4-4231-9368-0D8BC7E210EB}"/>
                </a:ext>
              </a:extLst>
            </p:cNvPr>
            <p:cNvSpPr>
              <a:spLocks noGrp="1"/>
            </p:cNvSpPr>
            <p:nvPr/>
          </p:nvSpPr>
          <p:spPr>
            <a:xfrm>
              <a:off x="12725400" y="4791075"/>
              <a:ext cx="2924175" cy="1504950"/>
            </a:xfrm>
            <a:prstGeom prst="roundRect">
              <a:avLst>
                <a:gd name="adj" fmla="val 9494"/>
              </a:avLst>
            </a:prstGeom>
            <a:solidFill>
              <a:srgbClr val="FCFEFF"/>
            </a:solidFill>
            <a:ln w="13335">
              <a:solidFill>
                <a:srgbClr val="C6E1E5"/>
              </a:solidFill>
            </a:ln>
          </p:spPr>
        </p:sp>
        <p:sp>
          <p:nvSpPr>
            <p:cNvPr id="328" name="More frameworks inner card">
              <a:extLst>
                <a:ext uri="{FF2B5EF4-FFF2-40B4-BE49-F238E27FC236}">
                  <a16:creationId xmlns:a16="http://schemas.microsoft.com/office/drawing/2014/main" id="{FC8A95DA-0E71-4D85-A1EF-A4E84670335D}"/>
                </a:ext>
              </a:extLst>
            </p:cNvPr>
            <p:cNvSpPr>
              <a:spLocks noGrp="1"/>
            </p:cNvSpPr>
            <p:nvPr/>
          </p:nvSpPr>
          <p:spPr>
            <a:xfrm>
              <a:off x="12811125" y="4867275"/>
              <a:ext cx="2743200" cy="1333500"/>
            </a:xfrm>
            <a:prstGeom prst="roundRect">
              <a:avLst>
                <a:gd name="adj" fmla="val 12143"/>
              </a:avLst>
            </a:prstGeom>
            <a:gradFill>
              <a:gsLst>
                <a:gs pos="0">
                  <a:srgbClr val="F3EDFF"/>
                </a:gs>
                <a:gs pos="100000">
                  <a:srgbClr val="EBE8FB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329" name="More frameworks dots badge">
              <a:extLst>
                <a:ext uri="{FF2B5EF4-FFF2-40B4-BE49-F238E27FC236}">
                  <a16:creationId xmlns:a16="http://schemas.microsoft.com/office/drawing/2014/main" id="{3B3D3DAC-0EBA-470A-A2C7-F8B69FA781C6}"/>
                </a:ext>
              </a:extLst>
            </p:cNvPr>
            <p:cNvSpPr>
              <a:spLocks noGrp="1"/>
            </p:cNvSpPr>
            <p:nvPr/>
          </p:nvSpPr>
          <p:spPr>
            <a:xfrm>
              <a:off x="12944475" y="5048250"/>
              <a:ext cx="581025" cy="466725"/>
            </a:xfrm>
            <a:prstGeom prst="ellipse">
              <a:avLst/>
            </a:prstGeom>
            <a:solidFill>
              <a:srgbClr val="DBD1FB"/>
            </a:solidFill>
            <a:ln w="0">
              <a:noFill/>
              <a:prstDash val="solid"/>
            </a:ln>
          </p:spPr>
        </p:sp>
        <p:sp>
          <p:nvSpPr>
            <p:cNvPr id="330" name="More framework dots">
              <a:extLst>
                <a:ext uri="{FF2B5EF4-FFF2-40B4-BE49-F238E27FC236}">
                  <a16:creationId xmlns:a16="http://schemas.microsoft.com/office/drawing/2014/main" id="{45A92BA5-E641-4E88-86FD-271ADD10F540}"/>
                </a:ext>
              </a:extLst>
            </p:cNvPr>
            <p:cNvSpPr>
              <a:spLocks noGrp="1"/>
            </p:cNvSpPr>
            <p:nvPr/>
          </p:nvSpPr>
          <p:spPr>
            <a:xfrm>
              <a:off x="13087350" y="5143500"/>
              <a:ext cx="371475" cy="2476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1725" b="1">
                  <a:solidFill>
                    <a:srgbClr val="4E3294"/>
                  </a:solidFill>
                  <a:latin typeface="Arial"/>
                  <a:ea typeface="Arial"/>
                  <a:cs typeface="Arial"/>
                </a:defRPr>
              </a:pPr>
              <a:r>
                <a:rPr sz="1725" b="1">
                  <a:solidFill>
                    <a:srgbClr val="4E3294"/>
                  </a:solidFill>
                  <a:latin typeface="Times New Roman" panose="02020603050405020304" pitchFamily="18" charset="0"/>
                  <a:ea typeface="Arial"/>
                  <a:cs typeface="Times New Roman" panose="02020603050405020304" pitchFamily="18" charset="0"/>
                </a:rPr>
                <a:t>•••</a:t>
              </a:r>
            </a:p>
          </p:txBody>
        </p:sp>
        <p:sp>
          <p:nvSpPr>
            <p:cNvPr id="331" name="More frameworks heading">
              <a:extLst>
                <a:ext uri="{FF2B5EF4-FFF2-40B4-BE49-F238E27FC236}">
                  <a16:creationId xmlns:a16="http://schemas.microsoft.com/office/drawing/2014/main" id="{C3C73AF9-259E-42FA-AF94-B57B3CEC15B4}"/>
                </a:ext>
              </a:extLst>
            </p:cNvPr>
            <p:cNvSpPr>
              <a:spLocks noGrp="1"/>
            </p:cNvSpPr>
            <p:nvPr/>
          </p:nvSpPr>
          <p:spPr>
            <a:xfrm>
              <a:off x="13658850" y="5143500"/>
              <a:ext cx="1828800" cy="2571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1725" b="1">
                  <a:solidFill>
                    <a:srgbClr val="1A123A"/>
                  </a:solidFill>
                  <a:latin typeface="Arial Narrow"/>
                  <a:ea typeface="Arial Narrow"/>
                  <a:cs typeface="Arial Narrow"/>
                </a:defRPr>
              </a:pPr>
              <a:r>
                <a:rPr sz="1725" b="1">
                  <a:solidFill>
                    <a:srgbClr val="1A123A"/>
                  </a:solidFill>
                  <a:latin typeface="Times New Roman" panose="02020603050405020304" pitchFamily="18" charset="0"/>
                  <a:ea typeface="Arial Narrow"/>
                  <a:cs typeface="Times New Roman" panose="02020603050405020304" pitchFamily="18" charset="0"/>
                </a:rPr>
                <a:t>More Frameworks</a:t>
              </a:r>
            </a:p>
          </p:txBody>
        </p:sp>
        <p:sp>
          <p:nvSpPr>
            <p:cNvPr id="333" name="More frameworks run strip">
              <a:extLst>
                <a:ext uri="{FF2B5EF4-FFF2-40B4-BE49-F238E27FC236}">
                  <a16:creationId xmlns:a16="http://schemas.microsoft.com/office/drawing/2014/main" id="{AA00D604-EEF7-408D-9221-299B777D8012}"/>
                </a:ext>
              </a:extLst>
            </p:cNvPr>
            <p:cNvSpPr>
              <a:spLocks noGrp="1"/>
            </p:cNvSpPr>
            <p:nvPr/>
          </p:nvSpPr>
          <p:spPr>
            <a:xfrm>
              <a:off x="12954000" y="5667375"/>
              <a:ext cx="2457450" cy="428625"/>
            </a:xfrm>
            <a:prstGeom prst="roundRect">
              <a:avLst>
                <a:gd name="adj" fmla="val 20000"/>
              </a:avLst>
            </a:prstGeom>
            <a:gradFill>
              <a:gsLst>
                <a:gs pos="0">
                  <a:srgbClr val="E6E0F6"/>
                </a:gs>
                <a:gs pos="100000">
                  <a:srgbClr val="EFEBFA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334" name="More frameworks code button">
              <a:extLst>
                <a:ext uri="{FF2B5EF4-FFF2-40B4-BE49-F238E27FC236}">
                  <a16:creationId xmlns:a16="http://schemas.microsoft.com/office/drawing/2014/main" id="{A321C0DD-BB3D-4043-B23B-0059F3751F43}"/>
                </a:ext>
              </a:extLst>
            </p:cNvPr>
            <p:cNvSpPr>
              <a:spLocks noGrp="1"/>
            </p:cNvSpPr>
            <p:nvPr/>
          </p:nvSpPr>
          <p:spPr>
            <a:xfrm>
              <a:off x="13134975" y="5753100"/>
              <a:ext cx="285750" cy="276225"/>
            </a:xfrm>
            <a:prstGeom prst="roundRect">
              <a:avLst>
                <a:gd name="adj" fmla="val 17241"/>
              </a:avLst>
            </a:prstGeom>
            <a:solidFill>
              <a:srgbClr val="F4F2F9"/>
            </a:solidFill>
            <a:ln w="13335">
              <a:solidFill>
                <a:srgbClr val="9B97AD"/>
              </a:solidFill>
            </a:ln>
          </p:spPr>
        </p:sp>
        <p:sp>
          <p:nvSpPr>
            <p:cNvPr id="335" name="More frameworks code glyph">
              <a:extLst>
                <a:ext uri="{FF2B5EF4-FFF2-40B4-BE49-F238E27FC236}">
                  <a16:creationId xmlns:a16="http://schemas.microsoft.com/office/drawing/2014/main" id="{ACB70110-DF85-441E-A25A-42947458C0B2}"/>
                </a:ext>
              </a:extLst>
            </p:cNvPr>
            <p:cNvSpPr>
              <a:spLocks noGrp="1"/>
            </p:cNvSpPr>
            <p:nvPr/>
          </p:nvSpPr>
          <p:spPr>
            <a:xfrm>
              <a:off x="13154025" y="5772150"/>
              <a:ext cx="257175" cy="2190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>
                <a:defRPr sz="1275" b="1">
                  <a:solidFill>
                    <a:srgbClr val="706A85"/>
                  </a:solidFill>
                  <a:latin typeface="Consolas"/>
                  <a:ea typeface="Consolas"/>
                  <a:cs typeface="Consolas"/>
                </a:defRPr>
              </a:pPr>
              <a:r>
                <a:rPr sz="1275" b="1">
                  <a:solidFill>
                    <a:srgbClr val="706A85"/>
                  </a:solidFill>
                  <a:latin typeface="Times New Roman" panose="02020603050405020304" pitchFamily="18" charset="0"/>
                  <a:ea typeface="Consolas"/>
                  <a:cs typeface="Times New Roman" panose="02020603050405020304" pitchFamily="18" charset="0"/>
                </a:rPr>
                <a:t>&lt;/&gt;</a:t>
              </a:r>
            </a:p>
          </p:txBody>
        </p:sp>
        <p:sp>
          <p:nvSpPr>
            <p:cNvPr id="336" name="More frameworks run text">
              <a:extLst>
                <a:ext uri="{FF2B5EF4-FFF2-40B4-BE49-F238E27FC236}">
                  <a16:creationId xmlns:a16="http://schemas.microsoft.com/office/drawing/2014/main" id="{FB10B182-FBF0-4FDC-BB6D-89E8EBCE566A}"/>
                </a:ext>
              </a:extLst>
            </p:cNvPr>
            <p:cNvSpPr>
              <a:spLocks noGrp="1"/>
            </p:cNvSpPr>
            <p:nvPr/>
          </p:nvSpPr>
          <p:spPr>
            <a:xfrm>
              <a:off x="13611225" y="5772150"/>
              <a:ext cx="1276350" cy="2667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1575" b="0">
                  <a:solidFill>
                    <a:srgbClr val="09204B"/>
                  </a:solidFill>
                  <a:latin typeface="Arial Narrow"/>
                  <a:ea typeface="Arial Narrow"/>
                  <a:cs typeface="Arial Narrow"/>
                </a:defRPr>
              </a:pPr>
              <a:r>
                <a:rPr sz="1575" b="0">
                  <a:solidFill>
                    <a:srgbClr val="09204B"/>
                  </a:solidFill>
                  <a:latin typeface="Times New Roman" panose="02020603050405020304" pitchFamily="18" charset="0"/>
                  <a:ea typeface="Arial Narrow"/>
                  <a:cs typeface="Times New Roman" panose="02020603050405020304" pitchFamily="18" charset="0"/>
                </a:rPr>
                <a:t>Run &amp; Verify</a:t>
              </a:r>
            </a:p>
          </p:txBody>
        </p:sp>
        <p:sp>
          <p:nvSpPr>
            <p:cNvPr id="337" name="Future framework status">
              <a:extLst>
                <a:ext uri="{FF2B5EF4-FFF2-40B4-BE49-F238E27FC236}">
                  <a16:creationId xmlns:a16="http://schemas.microsoft.com/office/drawing/2014/main" id="{D9E2523E-C404-4D99-BE16-2A89891C92AD}"/>
                </a:ext>
              </a:extLst>
            </p:cNvPr>
            <p:cNvSpPr>
              <a:spLocks noGrp="1"/>
            </p:cNvSpPr>
            <p:nvPr/>
          </p:nvSpPr>
          <p:spPr>
            <a:xfrm>
              <a:off x="14897100" y="5638800"/>
              <a:ext cx="466725" cy="466725"/>
            </a:xfrm>
            <a:prstGeom prst="ellipse">
              <a:avLst/>
            </a:prstGeom>
            <a:solidFill>
              <a:srgbClr val="FAFCFE"/>
            </a:solidFill>
            <a:ln w="19050">
              <a:solidFill>
                <a:srgbClr val="677C8C"/>
              </a:solidFill>
              <a:prstDash val="dash"/>
            </a:ln>
          </p:spPr>
        </p:sp>
      </p:grpSp>
      <p:sp>
        <p:nvSpPr>
          <p:cNvPr id="338" name="Frameworks to verified targets">
            <a:extLst>
              <a:ext uri="{FF2B5EF4-FFF2-40B4-BE49-F238E27FC236}">
                <a16:creationId xmlns:a16="http://schemas.microsoft.com/office/drawing/2014/main" id="{80BC63DC-4BB2-44CD-8E58-1130622AC516}"/>
              </a:ext>
            </a:extLst>
          </p:cNvPr>
          <p:cNvSpPr>
            <a:spLocks noGrp="1"/>
          </p:cNvSpPr>
          <p:nvPr/>
        </p:nvSpPr>
        <p:spPr>
          <a:xfrm>
            <a:off x="13992225" y="6419850"/>
            <a:ext cx="438150" cy="342900"/>
          </a:xfrm>
          <a:custGeom>
            <a:avLst/>
            <a:gdLst/>
            <a:ahLst/>
            <a:cxnLst/>
            <a:rect l="0" t="0" r="0" b="0"/>
            <a:pathLst>
              <a:path w="438150" h="342900">
                <a:moveTo>
                  <a:pt x="122682" y="0"/>
                </a:moveTo>
                <a:lnTo>
                  <a:pt x="315468" y="0"/>
                </a:lnTo>
                <a:lnTo>
                  <a:pt x="315468" y="178308"/>
                </a:lnTo>
                <a:lnTo>
                  <a:pt x="438150" y="178308"/>
                </a:lnTo>
                <a:lnTo>
                  <a:pt x="219075" y="342900"/>
                </a:lnTo>
                <a:lnTo>
                  <a:pt x="0" y="178308"/>
                </a:lnTo>
                <a:lnTo>
                  <a:pt x="122682" y="178308"/>
                </a:lnTo>
                <a:close/>
              </a:path>
            </a:pathLst>
          </a:custGeom>
          <a:gradFill>
            <a:gsLst>
              <a:gs pos="0">
                <a:srgbClr val="CFD9E0"/>
              </a:gs>
              <a:gs pos="100000">
                <a:srgbClr val="879AA8"/>
              </a:gs>
            </a:gsLst>
            <a:lin ang="5400000"/>
          </a:gradFill>
          <a:ln w="19050">
            <a:solidFill>
              <a:srgbClr val="FFFFFF"/>
            </a:solidFill>
          </a:ln>
        </p:spPr>
      </p:sp>
      <p:grpSp>
        <p:nvGrpSpPr>
          <p:cNvPr id="374" name="Verified output"/>
          <p:cNvGrpSpPr/>
          <p:nvPr/>
        </p:nvGrpSpPr>
        <p:grpSpPr>
          <a:xfrm>
            <a:off x="12690022" y="6890658"/>
            <a:ext cx="2926140" cy="1405467"/>
            <a:chOff x="12820650" y="6896100"/>
            <a:chExt cx="2926140" cy="1405467"/>
          </a:xfrm>
        </p:grpSpPr>
        <p:sp>
          <p:nvSpPr>
            <p:cNvPr id="339" name="Verified file badge">
              <a:extLst>
                <a:ext uri="{FF2B5EF4-FFF2-40B4-BE49-F238E27FC236}">
                  <a16:creationId xmlns:a16="http://schemas.microsoft.com/office/drawing/2014/main" id="{15A2150C-B642-477B-A8A4-B52354A3864A}"/>
                </a:ext>
              </a:extLst>
            </p:cNvPr>
            <p:cNvSpPr>
              <a:spLocks noGrp="1"/>
            </p:cNvSpPr>
            <p:nvPr/>
          </p:nvSpPr>
          <p:spPr>
            <a:xfrm>
              <a:off x="12820650" y="6896100"/>
              <a:ext cx="657225" cy="676275"/>
            </a:xfrm>
            <a:prstGeom prst="ellipse">
              <a:avLst/>
            </a:prstGeom>
            <a:gradFill>
              <a:gsLst>
                <a:gs pos="0">
                  <a:srgbClr val="DFF9E0"/>
                </a:gs>
                <a:gs pos="100000">
                  <a:srgbClr val="C6EFCB"/>
                </a:gs>
              </a:gsLst>
              <a:lin ang="5400000"/>
            </a:gradFill>
            <a:ln w="0">
              <a:noFill/>
              <a:prstDash val="solid"/>
            </a:ln>
          </p:spPr>
        </p:sp>
        <p:sp>
          <p:nvSpPr>
            <p:cNvPr id="340" name="Verified file 0">
              <a:extLst>
                <a:ext uri="{FF2B5EF4-FFF2-40B4-BE49-F238E27FC236}">
                  <a16:creationId xmlns:a16="http://schemas.microsoft.com/office/drawing/2014/main" id="{20AE0CE1-C27E-47B5-978E-FB9719D933D1}"/>
                </a:ext>
              </a:extLst>
            </p:cNvPr>
            <p:cNvSpPr>
              <a:spLocks noGrp="1"/>
            </p:cNvSpPr>
            <p:nvPr/>
          </p:nvSpPr>
          <p:spPr>
            <a:xfrm>
              <a:off x="13022263" y="7048500"/>
              <a:ext cx="273050" cy="381000"/>
            </a:xfrm>
            <a:custGeom>
              <a:avLst/>
              <a:gdLst/>
              <a:ahLst/>
              <a:cxnLst/>
              <a:rect l="0" t="0" r="0" b="0"/>
              <a:pathLst>
                <a:path w="273050" h="381000">
                  <a:moveTo>
                    <a:pt x="34131" y="381000"/>
                  </a:moveTo>
                  <a:lnTo>
                    <a:pt x="25712" y="379832"/>
                  </a:lnTo>
                  <a:lnTo>
                    <a:pt x="17815" y="376373"/>
                  </a:lnTo>
                  <a:lnTo>
                    <a:pt x="10928" y="370842"/>
                  </a:lnTo>
                  <a:lnTo>
                    <a:pt x="5468" y="363593"/>
                  </a:lnTo>
                  <a:lnTo>
                    <a:pt x="1777" y="355066"/>
                  </a:lnTo>
                  <a:lnTo>
                    <a:pt x="96" y="345784"/>
                  </a:lnTo>
                  <a:lnTo>
                    <a:pt x="0" y="336292"/>
                  </a:lnTo>
                  <a:lnTo>
                    <a:pt x="0" y="326797"/>
                  </a:lnTo>
                  <a:lnTo>
                    <a:pt x="0" y="317302"/>
                  </a:lnTo>
                  <a:lnTo>
                    <a:pt x="0" y="307807"/>
                  </a:lnTo>
                  <a:lnTo>
                    <a:pt x="0" y="298312"/>
                  </a:lnTo>
                  <a:lnTo>
                    <a:pt x="0" y="288818"/>
                  </a:lnTo>
                  <a:lnTo>
                    <a:pt x="0" y="279323"/>
                  </a:lnTo>
                  <a:lnTo>
                    <a:pt x="0" y="269828"/>
                  </a:lnTo>
                  <a:lnTo>
                    <a:pt x="0" y="260333"/>
                  </a:lnTo>
                  <a:lnTo>
                    <a:pt x="0" y="250838"/>
                  </a:lnTo>
                  <a:lnTo>
                    <a:pt x="0" y="241343"/>
                  </a:lnTo>
                  <a:lnTo>
                    <a:pt x="0" y="231849"/>
                  </a:lnTo>
                  <a:lnTo>
                    <a:pt x="0" y="222354"/>
                  </a:lnTo>
                  <a:lnTo>
                    <a:pt x="0" y="212859"/>
                  </a:lnTo>
                  <a:lnTo>
                    <a:pt x="0" y="203364"/>
                  </a:lnTo>
                  <a:lnTo>
                    <a:pt x="0" y="193869"/>
                  </a:lnTo>
                  <a:lnTo>
                    <a:pt x="0" y="184374"/>
                  </a:lnTo>
                  <a:lnTo>
                    <a:pt x="0" y="174879"/>
                  </a:lnTo>
                  <a:lnTo>
                    <a:pt x="0" y="165385"/>
                  </a:lnTo>
                  <a:lnTo>
                    <a:pt x="0" y="155890"/>
                  </a:lnTo>
                  <a:lnTo>
                    <a:pt x="0" y="146395"/>
                  </a:lnTo>
                  <a:lnTo>
                    <a:pt x="0" y="136900"/>
                  </a:lnTo>
                  <a:lnTo>
                    <a:pt x="0" y="127405"/>
                  </a:lnTo>
                  <a:lnTo>
                    <a:pt x="0" y="117910"/>
                  </a:lnTo>
                  <a:lnTo>
                    <a:pt x="0" y="108416"/>
                  </a:lnTo>
                  <a:lnTo>
                    <a:pt x="0" y="98921"/>
                  </a:lnTo>
                  <a:lnTo>
                    <a:pt x="0" y="89426"/>
                  </a:lnTo>
                  <a:lnTo>
                    <a:pt x="0" y="79931"/>
                  </a:lnTo>
                  <a:lnTo>
                    <a:pt x="0" y="70436"/>
                  </a:lnTo>
                  <a:lnTo>
                    <a:pt x="0" y="60941"/>
                  </a:lnTo>
                  <a:lnTo>
                    <a:pt x="0" y="51446"/>
                  </a:lnTo>
                  <a:lnTo>
                    <a:pt x="0" y="41952"/>
                  </a:lnTo>
                  <a:lnTo>
                    <a:pt x="369" y="32477"/>
                  </a:lnTo>
                  <a:lnTo>
                    <a:pt x="2650" y="23356"/>
                  </a:lnTo>
                  <a:lnTo>
                    <a:pt x="6885" y="15150"/>
                  </a:lnTo>
                  <a:lnTo>
                    <a:pt x="12798" y="8358"/>
                  </a:lnTo>
                  <a:lnTo>
                    <a:pt x="20024" y="3397"/>
                  </a:lnTo>
                  <a:lnTo>
                    <a:pt x="28126" y="588"/>
                  </a:lnTo>
                  <a:lnTo>
                    <a:pt x="36601" y="0"/>
                  </a:lnTo>
                  <a:lnTo>
                    <a:pt x="45107" y="0"/>
                  </a:lnTo>
                  <a:lnTo>
                    <a:pt x="53612" y="0"/>
                  </a:lnTo>
                  <a:lnTo>
                    <a:pt x="62118" y="0"/>
                  </a:lnTo>
                  <a:lnTo>
                    <a:pt x="70624" y="0"/>
                  </a:lnTo>
                  <a:lnTo>
                    <a:pt x="79130" y="0"/>
                  </a:lnTo>
                  <a:lnTo>
                    <a:pt x="87636" y="0"/>
                  </a:lnTo>
                  <a:lnTo>
                    <a:pt x="96141" y="0"/>
                  </a:lnTo>
                  <a:lnTo>
                    <a:pt x="104647" y="0"/>
                  </a:lnTo>
                  <a:lnTo>
                    <a:pt x="113153" y="0"/>
                  </a:lnTo>
                  <a:lnTo>
                    <a:pt x="121659" y="0"/>
                  </a:lnTo>
                  <a:lnTo>
                    <a:pt x="130165" y="0"/>
                  </a:lnTo>
                  <a:lnTo>
                    <a:pt x="138670" y="0"/>
                  </a:lnTo>
                  <a:lnTo>
                    <a:pt x="147176" y="0"/>
                  </a:lnTo>
                  <a:lnTo>
                    <a:pt x="155682" y="0"/>
                  </a:lnTo>
                  <a:lnTo>
                    <a:pt x="164188" y="0"/>
                  </a:lnTo>
                  <a:lnTo>
                    <a:pt x="172693" y="53"/>
                  </a:lnTo>
                  <a:lnTo>
                    <a:pt x="181085" y="1488"/>
                  </a:lnTo>
                  <a:lnTo>
                    <a:pt x="189033" y="4823"/>
                  </a:lnTo>
                  <a:lnTo>
                    <a:pt x="196193" y="9916"/>
                  </a:lnTo>
                  <a:lnTo>
                    <a:pt x="202389" y="16411"/>
                  </a:lnTo>
                  <a:lnTo>
                    <a:pt x="208404" y="23125"/>
                  </a:lnTo>
                  <a:lnTo>
                    <a:pt x="214418" y="29839"/>
                  </a:lnTo>
                  <a:lnTo>
                    <a:pt x="220433" y="36553"/>
                  </a:lnTo>
                  <a:lnTo>
                    <a:pt x="226447" y="43267"/>
                  </a:lnTo>
                  <a:lnTo>
                    <a:pt x="232462" y="49980"/>
                  </a:lnTo>
                  <a:lnTo>
                    <a:pt x="238476" y="56694"/>
                  </a:lnTo>
                  <a:lnTo>
                    <a:pt x="244491" y="63408"/>
                  </a:lnTo>
                  <a:lnTo>
                    <a:pt x="250505" y="70122"/>
                  </a:lnTo>
                  <a:lnTo>
                    <a:pt x="256520" y="76836"/>
                  </a:lnTo>
                  <a:lnTo>
                    <a:pt x="262496" y="83591"/>
                  </a:lnTo>
                  <a:lnTo>
                    <a:pt x="267501" y="91247"/>
                  </a:lnTo>
                  <a:lnTo>
                    <a:pt x="270985" y="99890"/>
                  </a:lnTo>
                  <a:lnTo>
                    <a:pt x="272797" y="109150"/>
                  </a:lnTo>
                  <a:lnTo>
                    <a:pt x="273050" y="118634"/>
                  </a:lnTo>
                  <a:lnTo>
                    <a:pt x="273050" y="128129"/>
                  </a:lnTo>
                  <a:lnTo>
                    <a:pt x="273050" y="137624"/>
                  </a:lnTo>
                  <a:lnTo>
                    <a:pt x="273050" y="147119"/>
                  </a:lnTo>
                  <a:lnTo>
                    <a:pt x="273050" y="156613"/>
                  </a:lnTo>
                  <a:lnTo>
                    <a:pt x="273050" y="166108"/>
                  </a:lnTo>
                  <a:lnTo>
                    <a:pt x="273050" y="175603"/>
                  </a:lnTo>
                  <a:lnTo>
                    <a:pt x="273050" y="185098"/>
                  </a:lnTo>
                  <a:lnTo>
                    <a:pt x="273050" y="194593"/>
                  </a:lnTo>
                  <a:lnTo>
                    <a:pt x="273050" y="204088"/>
                  </a:lnTo>
                  <a:lnTo>
                    <a:pt x="273050" y="213583"/>
                  </a:lnTo>
                  <a:lnTo>
                    <a:pt x="273050" y="223077"/>
                  </a:lnTo>
                  <a:lnTo>
                    <a:pt x="273050" y="232572"/>
                  </a:lnTo>
                  <a:lnTo>
                    <a:pt x="273050" y="242067"/>
                  </a:lnTo>
                  <a:lnTo>
                    <a:pt x="273050" y="251562"/>
                  </a:lnTo>
                  <a:lnTo>
                    <a:pt x="273050" y="261057"/>
                  </a:lnTo>
                  <a:lnTo>
                    <a:pt x="273050" y="270552"/>
                  </a:lnTo>
                  <a:lnTo>
                    <a:pt x="273050" y="280046"/>
                  </a:lnTo>
                  <a:lnTo>
                    <a:pt x="273050" y="289541"/>
                  </a:lnTo>
                  <a:lnTo>
                    <a:pt x="273050" y="299036"/>
                  </a:lnTo>
                  <a:lnTo>
                    <a:pt x="273050" y="308531"/>
                  </a:lnTo>
                  <a:lnTo>
                    <a:pt x="273050" y="318026"/>
                  </a:lnTo>
                  <a:lnTo>
                    <a:pt x="273050" y="327521"/>
                  </a:lnTo>
                  <a:lnTo>
                    <a:pt x="273050" y="337016"/>
                  </a:lnTo>
                  <a:lnTo>
                    <a:pt x="272899" y="346505"/>
                  </a:lnTo>
                  <a:lnTo>
                    <a:pt x="271060" y="355750"/>
                  </a:lnTo>
                  <a:lnTo>
                    <a:pt x="267224" y="364197"/>
                  </a:lnTo>
                  <a:lnTo>
                    <a:pt x="261642" y="371329"/>
                  </a:lnTo>
                  <a:lnTo>
                    <a:pt x="254663" y="376713"/>
                  </a:lnTo>
                  <a:lnTo>
                    <a:pt x="246708" y="380003"/>
                  </a:lnTo>
                  <a:lnTo>
                    <a:pt x="238270" y="381000"/>
                  </a:lnTo>
                  <a:lnTo>
                    <a:pt x="229765" y="381000"/>
                  </a:lnTo>
                  <a:lnTo>
                    <a:pt x="221259" y="381000"/>
                  </a:lnTo>
                  <a:lnTo>
                    <a:pt x="212753" y="381000"/>
                  </a:lnTo>
                  <a:lnTo>
                    <a:pt x="204247" y="381000"/>
                  </a:lnTo>
                  <a:lnTo>
                    <a:pt x="195742" y="381000"/>
                  </a:lnTo>
                  <a:lnTo>
                    <a:pt x="187236" y="381000"/>
                  </a:lnTo>
                  <a:lnTo>
                    <a:pt x="178730" y="381000"/>
                  </a:lnTo>
                  <a:lnTo>
                    <a:pt x="170224" y="381000"/>
                  </a:lnTo>
                  <a:lnTo>
                    <a:pt x="161718" y="381000"/>
                  </a:lnTo>
                  <a:lnTo>
                    <a:pt x="153212" y="381000"/>
                  </a:lnTo>
                  <a:lnTo>
                    <a:pt x="144707" y="381000"/>
                  </a:lnTo>
                  <a:lnTo>
                    <a:pt x="136201" y="381000"/>
                  </a:lnTo>
                  <a:lnTo>
                    <a:pt x="127695" y="381000"/>
                  </a:lnTo>
                  <a:lnTo>
                    <a:pt x="119189" y="381000"/>
                  </a:lnTo>
                  <a:lnTo>
                    <a:pt x="110683" y="381000"/>
                  </a:lnTo>
                  <a:lnTo>
                    <a:pt x="102178" y="381000"/>
                  </a:lnTo>
                  <a:lnTo>
                    <a:pt x="93672" y="381000"/>
                  </a:lnTo>
                  <a:lnTo>
                    <a:pt x="85166" y="381000"/>
                  </a:lnTo>
                  <a:lnTo>
                    <a:pt x="76660" y="381000"/>
                  </a:lnTo>
                  <a:lnTo>
                    <a:pt x="68154" y="381000"/>
                  </a:lnTo>
                  <a:lnTo>
                    <a:pt x="59649" y="381000"/>
                  </a:lnTo>
                  <a:lnTo>
                    <a:pt x="51143" y="381000"/>
                  </a:lnTo>
                  <a:lnTo>
                    <a:pt x="42637" y="381000"/>
                  </a:lnTo>
                  <a:lnTo>
                    <a:pt x="34131" y="381000"/>
                  </a:lnTo>
                  <a:close/>
                </a:path>
              </a:pathLst>
            </a:custGeom>
            <a:noFill/>
            <a:ln w="34131">
              <a:solidFill>
                <a:srgbClr val="1B6370"/>
              </a:solidFill>
            </a:ln>
          </p:spPr>
        </p:sp>
        <p:sp>
          <p:nvSpPr>
            <p:cNvPr id="341" name="Verified file 1">
              <a:extLst>
                <a:ext uri="{FF2B5EF4-FFF2-40B4-BE49-F238E27FC236}">
                  <a16:creationId xmlns:a16="http://schemas.microsoft.com/office/drawing/2014/main" id="{F89CB34B-C93E-41FC-AD55-4E7E55022ABD}"/>
                </a:ext>
              </a:extLst>
            </p:cNvPr>
            <p:cNvSpPr>
              <a:spLocks noGrp="1"/>
            </p:cNvSpPr>
            <p:nvPr/>
          </p:nvSpPr>
          <p:spPr>
            <a:xfrm>
              <a:off x="13192919" y="7048500"/>
              <a:ext cx="102394" cy="114300"/>
            </a:xfrm>
            <a:custGeom>
              <a:avLst/>
              <a:gdLst/>
              <a:ahLst/>
              <a:cxnLst/>
              <a:rect l="0" t="0" r="0" b="0"/>
              <a:pathLst>
                <a:path w="102394" h="114300">
                  <a:moveTo>
                    <a:pt x="0" y="0"/>
                  </a:moveTo>
                  <a:lnTo>
                    <a:pt x="0" y="9184"/>
                  </a:lnTo>
                  <a:lnTo>
                    <a:pt x="0" y="18369"/>
                  </a:lnTo>
                  <a:lnTo>
                    <a:pt x="0" y="27553"/>
                  </a:lnTo>
                  <a:lnTo>
                    <a:pt x="0" y="36738"/>
                  </a:lnTo>
                  <a:lnTo>
                    <a:pt x="0" y="45922"/>
                  </a:lnTo>
                  <a:lnTo>
                    <a:pt x="0" y="55107"/>
                  </a:lnTo>
                  <a:lnTo>
                    <a:pt x="0" y="64291"/>
                  </a:lnTo>
                  <a:lnTo>
                    <a:pt x="0" y="73476"/>
                  </a:lnTo>
                  <a:lnTo>
                    <a:pt x="0" y="82660"/>
                  </a:lnTo>
                  <a:lnTo>
                    <a:pt x="0" y="91845"/>
                  </a:lnTo>
                  <a:lnTo>
                    <a:pt x="775" y="100942"/>
                  </a:lnTo>
                  <a:lnTo>
                    <a:pt x="4998" y="108720"/>
                  </a:lnTo>
                  <a:lnTo>
                    <a:pt x="11967" y="113435"/>
                  </a:lnTo>
                  <a:lnTo>
                    <a:pt x="20116" y="114300"/>
                  </a:lnTo>
                  <a:lnTo>
                    <a:pt x="28344" y="114300"/>
                  </a:lnTo>
                  <a:lnTo>
                    <a:pt x="36572" y="114300"/>
                  </a:lnTo>
                  <a:lnTo>
                    <a:pt x="44799" y="114300"/>
                  </a:lnTo>
                  <a:lnTo>
                    <a:pt x="53027" y="114300"/>
                  </a:lnTo>
                  <a:lnTo>
                    <a:pt x="61255" y="114300"/>
                  </a:lnTo>
                  <a:lnTo>
                    <a:pt x="69483" y="114300"/>
                  </a:lnTo>
                  <a:lnTo>
                    <a:pt x="77710" y="114300"/>
                  </a:lnTo>
                  <a:lnTo>
                    <a:pt x="85938" y="114300"/>
                  </a:lnTo>
                  <a:lnTo>
                    <a:pt x="94166" y="114300"/>
                  </a:lnTo>
                  <a:lnTo>
                    <a:pt x="102394" y="114300"/>
                  </a:lnTo>
                </a:path>
              </a:pathLst>
            </a:custGeom>
            <a:noFill/>
            <a:ln w="34131">
              <a:solidFill>
                <a:srgbClr val="1B6370"/>
              </a:solidFill>
            </a:ln>
          </p:spPr>
        </p:sp>
        <p:sp>
          <p:nvSpPr>
            <p:cNvPr id="342" name="Verified file 2">
              <a:extLst>
                <a:ext uri="{FF2B5EF4-FFF2-40B4-BE49-F238E27FC236}">
                  <a16:creationId xmlns:a16="http://schemas.microsoft.com/office/drawing/2014/main" id="{FE9245B3-705A-4992-A275-DD7C563ADC41}"/>
                </a:ext>
              </a:extLst>
            </p:cNvPr>
            <p:cNvSpPr>
              <a:spLocks noGrp="1"/>
            </p:cNvSpPr>
            <p:nvPr/>
          </p:nvSpPr>
          <p:spPr>
            <a:xfrm>
              <a:off x="13090525" y="7181850"/>
              <a:ext cx="34131" cy="953"/>
            </a:xfrm>
            <a:custGeom>
              <a:avLst/>
              <a:gdLst/>
              <a:ahLst/>
              <a:cxnLst/>
              <a:rect l="0" t="0" r="0" b="0"/>
              <a:pathLst>
                <a:path w="34131" h="953">
                  <a:moveTo>
                    <a:pt x="34131" y="0"/>
                  </a:moveTo>
                  <a:lnTo>
                    <a:pt x="25598" y="0"/>
                  </a:lnTo>
                  <a:lnTo>
                    <a:pt x="17066" y="0"/>
                  </a:lnTo>
                  <a:lnTo>
                    <a:pt x="8533" y="0"/>
                  </a:lnTo>
                  <a:lnTo>
                    <a:pt x="0" y="0"/>
                  </a:lnTo>
                </a:path>
              </a:pathLst>
            </a:custGeom>
            <a:noFill/>
            <a:ln w="34131">
              <a:solidFill>
                <a:srgbClr val="1B6370"/>
              </a:solidFill>
            </a:ln>
          </p:spPr>
        </p:sp>
        <p:sp>
          <p:nvSpPr>
            <p:cNvPr id="343" name="Verified file 3">
              <a:extLst>
                <a:ext uri="{FF2B5EF4-FFF2-40B4-BE49-F238E27FC236}">
                  <a16:creationId xmlns:a16="http://schemas.microsoft.com/office/drawing/2014/main" id="{91FB8400-9DE6-47B7-8BC0-0F45B9CF6BD8}"/>
                </a:ext>
              </a:extLst>
            </p:cNvPr>
            <p:cNvSpPr>
              <a:spLocks noGrp="1"/>
            </p:cNvSpPr>
            <p:nvPr/>
          </p:nvSpPr>
          <p:spPr>
            <a:xfrm>
              <a:off x="13090525" y="7258050"/>
              <a:ext cx="136525" cy="0"/>
            </a:xfrm>
            <a:custGeom>
              <a:avLst/>
              <a:gdLst/>
              <a:ahLst/>
              <a:cxnLst/>
              <a:rect l="0" t="0" r="0" b="0"/>
              <a:pathLst>
                <a:path w="136525">
                  <a:moveTo>
                    <a:pt x="136525" y="0"/>
                  </a:moveTo>
                  <a:lnTo>
                    <a:pt x="127992" y="0"/>
                  </a:lnTo>
                  <a:lnTo>
                    <a:pt x="119459" y="0"/>
                  </a:lnTo>
                  <a:lnTo>
                    <a:pt x="110927" y="0"/>
                  </a:lnTo>
                  <a:lnTo>
                    <a:pt x="102394" y="0"/>
                  </a:lnTo>
                  <a:lnTo>
                    <a:pt x="93861" y="0"/>
                  </a:lnTo>
                  <a:lnTo>
                    <a:pt x="85328" y="0"/>
                  </a:lnTo>
                  <a:lnTo>
                    <a:pt x="76795" y="0"/>
                  </a:lnTo>
                  <a:lnTo>
                    <a:pt x="68263" y="0"/>
                  </a:lnTo>
                  <a:lnTo>
                    <a:pt x="59730" y="0"/>
                  </a:lnTo>
                  <a:lnTo>
                    <a:pt x="51197" y="0"/>
                  </a:lnTo>
                  <a:lnTo>
                    <a:pt x="42664" y="0"/>
                  </a:lnTo>
                  <a:lnTo>
                    <a:pt x="34131" y="0"/>
                  </a:lnTo>
                  <a:lnTo>
                    <a:pt x="25598" y="0"/>
                  </a:lnTo>
                  <a:lnTo>
                    <a:pt x="17066" y="0"/>
                  </a:lnTo>
                  <a:lnTo>
                    <a:pt x="8533" y="0"/>
                  </a:lnTo>
                  <a:lnTo>
                    <a:pt x="0" y="0"/>
                  </a:lnTo>
                </a:path>
              </a:pathLst>
            </a:custGeom>
            <a:noFill/>
            <a:ln w="34131">
              <a:solidFill>
                <a:srgbClr val="1B6370"/>
              </a:solidFill>
            </a:ln>
          </p:spPr>
        </p:sp>
        <p:sp>
          <p:nvSpPr>
            <p:cNvPr id="344" name="Verified file 4">
              <a:extLst>
                <a:ext uri="{FF2B5EF4-FFF2-40B4-BE49-F238E27FC236}">
                  <a16:creationId xmlns:a16="http://schemas.microsoft.com/office/drawing/2014/main" id="{E6481955-8A38-41D5-9E07-BCCCB2616DEA}"/>
                </a:ext>
              </a:extLst>
            </p:cNvPr>
            <p:cNvSpPr>
              <a:spLocks noGrp="1"/>
            </p:cNvSpPr>
            <p:nvPr/>
          </p:nvSpPr>
          <p:spPr>
            <a:xfrm>
              <a:off x="13090525" y="7334250"/>
              <a:ext cx="136525" cy="953"/>
            </a:xfrm>
            <a:custGeom>
              <a:avLst/>
              <a:gdLst/>
              <a:ahLst/>
              <a:cxnLst/>
              <a:rect l="0" t="0" r="0" b="0"/>
              <a:pathLst>
                <a:path w="136525" h="953">
                  <a:moveTo>
                    <a:pt x="136525" y="0"/>
                  </a:moveTo>
                  <a:lnTo>
                    <a:pt x="127992" y="0"/>
                  </a:lnTo>
                  <a:lnTo>
                    <a:pt x="119459" y="0"/>
                  </a:lnTo>
                  <a:lnTo>
                    <a:pt x="110927" y="0"/>
                  </a:lnTo>
                  <a:lnTo>
                    <a:pt x="102394" y="0"/>
                  </a:lnTo>
                  <a:lnTo>
                    <a:pt x="93861" y="0"/>
                  </a:lnTo>
                  <a:lnTo>
                    <a:pt x="85328" y="0"/>
                  </a:lnTo>
                  <a:lnTo>
                    <a:pt x="76795" y="0"/>
                  </a:lnTo>
                  <a:lnTo>
                    <a:pt x="68263" y="0"/>
                  </a:lnTo>
                  <a:lnTo>
                    <a:pt x="59730" y="0"/>
                  </a:lnTo>
                  <a:lnTo>
                    <a:pt x="51197" y="0"/>
                  </a:lnTo>
                  <a:lnTo>
                    <a:pt x="42664" y="0"/>
                  </a:lnTo>
                  <a:lnTo>
                    <a:pt x="34131" y="0"/>
                  </a:lnTo>
                  <a:lnTo>
                    <a:pt x="25598" y="0"/>
                  </a:lnTo>
                  <a:lnTo>
                    <a:pt x="17066" y="0"/>
                  </a:lnTo>
                  <a:lnTo>
                    <a:pt x="8533" y="0"/>
                  </a:lnTo>
                  <a:lnTo>
                    <a:pt x="0" y="0"/>
                  </a:lnTo>
                </a:path>
              </a:pathLst>
            </a:custGeom>
            <a:noFill/>
            <a:ln w="34131">
              <a:solidFill>
                <a:srgbClr val="1B6370"/>
              </a:solidFill>
            </a:ln>
          </p:spPr>
        </p:sp>
        <p:sp>
          <p:nvSpPr>
            <p:cNvPr id="345" name="Verified output badge circle">
              <a:extLst>
                <a:ext uri="{FF2B5EF4-FFF2-40B4-BE49-F238E27FC236}">
                  <a16:creationId xmlns:a16="http://schemas.microsoft.com/office/drawing/2014/main" id="{95212B4A-C1B8-4030-8FAE-08AF2BD52344}"/>
                </a:ext>
              </a:extLst>
            </p:cNvPr>
            <p:cNvSpPr>
              <a:spLocks noGrp="1"/>
            </p:cNvSpPr>
            <p:nvPr/>
          </p:nvSpPr>
          <p:spPr>
            <a:xfrm>
              <a:off x="13287375" y="7324725"/>
              <a:ext cx="323850" cy="323850"/>
            </a:xfrm>
            <a:prstGeom prst="ellipse">
              <a:avLst/>
            </a:prstGeom>
            <a:gradFill>
              <a:gsLst>
                <a:gs pos="0">
                  <a:srgbClr val="65BC6A"/>
                </a:gs>
                <a:gs pos="100000">
                  <a:srgbClr val="43AE59"/>
                </a:gs>
              </a:gsLst>
              <a:lin ang="5400000"/>
            </a:gradFill>
            <a:ln w="10478">
              <a:solidFill>
                <a:srgbClr val="FFFFFF"/>
              </a:solidFill>
              <a:prstDash val="solid"/>
            </a:ln>
          </p:spPr>
        </p:sp>
        <p:sp>
          <p:nvSpPr>
            <p:cNvPr id="346" name="Verified output badge tick">
              <a:extLst>
                <a:ext uri="{FF2B5EF4-FFF2-40B4-BE49-F238E27FC236}">
                  <a16:creationId xmlns:a16="http://schemas.microsoft.com/office/drawing/2014/main" id="{E741A35C-CED6-4F74-B391-3FC7C25FAD79}"/>
                </a:ext>
              </a:extLst>
            </p:cNvPr>
            <p:cNvSpPr>
              <a:spLocks noGrp="1"/>
            </p:cNvSpPr>
            <p:nvPr/>
          </p:nvSpPr>
          <p:spPr>
            <a:xfrm>
              <a:off x="13378053" y="7438073"/>
              <a:ext cx="148971" cy="103632"/>
            </a:xfrm>
            <a:custGeom>
              <a:avLst/>
              <a:gdLst/>
              <a:ahLst/>
              <a:cxnLst/>
              <a:rect l="0" t="0" r="0" b="0"/>
              <a:pathLst>
                <a:path w="148971" h="103632">
                  <a:moveTo>
                    <a:pt x="0" y="55054"/>
                  </a:moveTo>
                  <a:lnTo>
                    <a:pt x="51816" y="103632"/>
                  </a:lnTo>
                  <a:lnTo>
                    <a:pt x="148971" y="0"/>
                  </a:lnTo>
                </a:path>
              </a:pathLst>
            </a:custGeom>
            <a:noFill/>
            <a:ln w="35624">
              <a:solidFill>
                <a:srgbClr val="FFFFFF"/>
              </a:solidFill>
            </a:ln>
          </p:spPr>
        </p:sp>
        <p:sp>
          <p:nvSpPr>
            <p:cNvPr id="347" name="Verified output title">
              <a:extLst>
                <a:ext uri="{FF2B5EF4-FFF2-40B4-BE49-F238E27FC236}">
                  <a16:creationId xmlns:a16="http://schemas.microsoft.com/office/drawing/2014/main" id="{2F5A8F37-50CC-4E32-B623-2CA8C19D3948}"/>
                </a:ext>
              </a:extLst>
            </p:cNvPr>
            <p:cNvSpPr>
              <a:spLocks noGrp="1"/>
            </p:cNvSpPr>
            <p:nvPr/>
          </p:nvSpPr>
          <p:spPr>
            <a:xfrm>
              <a:off x="13469938" y="6953250"/>
              <a:ext cx="2133600" cy="3048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1800" b="1">
                  <a:solidFill>
                    <a:srgbClr val="0B2852"/>
                  </a:solidFill>
                  <a:latin typeface="Arial Narrow"/>
                  <a:ea typeface="Arial Narrow"/>
                  <a:cs typeface="Arial Narrow"/>
                </a:defRPr>
              </a:pPr>
              <a:r>
                <a:rPr sz="1700" b="1" dirty="0">
                  <a:solidFill>
                    <a:srgbClr val="0B2852"/>
                  </a:solidFill>
                  <a:latin typeface="Times New Roman" panose="02020603050405020304" pitchFamily="18" charset="0"/>
                  <a:ea typeface="Arial Narrow"/>
                  <a:cs typeface="Times New Roman" panose="02020603050405020304" pitchFamily="18" charset="0"/>
                </a:rPr>
                <a:t>Verified Target Programs</a:t>
              </a:r>
            </a:p>
          </p:txBody>
        </p:sp>
        <p:sp>
          <p:nvSpPr>
            <p:cNvPr id="348" name="Verified checklist card">
              <a:extLst>
                <a:ext uri="{FF2B5EF4-FFF2-40B4-BE49-F238E27FC236}">
                  <a16:creationId xmlns:a16="http://schemas.microsoft.com/office/drawing/2014/main" id="{FF5EFA54-D87C-4AD5-A5FC-23D9AE2A0ACB}"/>
                </a:ext>
              </a:extLst>
            </p:cNvPr>
            <p:cNvSpPr>
              <a:spLocks noGrp="1"/>
            </p:cNvSpPr>
            <p:nvPr/>
          </p:nvSpPr>
          <p:spPr>
            <a:xfrm>
              <a:off x="13666258" y="7406217"/>
              <a:ext cx="2080532" cy="895350"/>
            </a:xfrm>
            <a:prstGeom prst="roundRect">
              <a:avLst>
                <a:gd name="adj" fmla="val 12766"/>
              </a:avLst>
            </a:prstGeom>
            <a:solidFill>
              <a:srgbClr val="FBFFFE"/>
            </a:solidFill>
            <a:ln w="12383">
              <a:solidFill>
                <a:srgbClr val="CFE7E7"/>
              </a:solidFill>
            </a:ln>
          </p:spPr>
        </p:sp>
        <p:sp>
          <p:nvSpPr>
            <p:cNvPr id="349" name="Verified list check 0 circle">
              <a:extLst>
                <a:ext uri="{FF2B5EF4-FFF2-40B4-BE49-F238E27FC236}">
                  <a16:creationId xmlns:a16="http://schemas.microsoft.com/office/drawing/2014/main" id="{B92AFC51-D5DD-4E39-A63D-F9A3B245D196}"/>
                </a:ext>
              </a:extLst>
            </p:cNvPr>
            <p:cNvSpPr>
              <a:spLocks noGrp="1"/>
            </p:cNvSpPr>
            <p:nvPr/>
          </p:nvSpPr>
          <p:spPr>
            <a:xfrm>
              <a:off x="13792200" y="7515225"/>
              <a:ext cx="171450" cy="171450"/>
            </a:xfrm>
            <a:prstGeom prst="ellipse">
              <a:avLst/>
            </a:prstGeom>
            <a:gradFill>
              <a:gsLst>
                <a:gs pos="0">
                  <a:srgbClr val="65BC6A"/>
                </a:gs>
                <a:gs pos="100000">
                  <a:srgbClr val="42AF5A"/>
                </a:gs>
              </a:gsLst>
              <a:lin ang="5400000"/>
            </a:gradFill>
            <a:ln w="10478">
              <a:solidFill>
                <a:srgbClr val="FFFFFF"/>
              </a:solidFill>
              <a:prstDash val="solid"/>
            </a:ln>
          </p:spPr>
        </p:sp>
        <p:sp>
          <p:nvSpPr>
            <p:cNvPr id="350" name="Verified list check 0 tick">
              <a:extLst>
                <a:ext uri="{FF2B5EF4-FFF2-40B4-BE49-F238E27FC236}">
                  <a16:creationId xmlns:a16="http://schemas.microsoft.com/office/drawing/2014/main" id="{3D4D61B8-A8C0-4642-A1D8-152B1FE46D1D}"/>
                </a:ext>
              </a:extLst>
            </p:cNvPr>
            <p:cNvSpPr>
              <a:spLocks noGrp="1"/>
            </p:cNvSpPr>
            <p:nvPr/>
          </p:nvSpPr>
          <p:spPr>
            <a:xfrm>
              <a:off x="13840206" y="7575233"/>
              <a:ext cx="78867" cy="54864"/>
            </a:xfrm>
            <a:custGeom>
              <a:avLst/>
              <a:gdLst/>
              <a:ahLst/>
              <a:cxnLst/>
              <a:rect l="0" t="0" r="0" b="0"/>
              <a:pathLst>
                <a:path w="78867" h="54864">
                  <a:moveTo>
                    <a:pt x="0" y="29147"/>
                  </a:moveTo>
                  <a:lnTo>
                    <a:pt x="27432" y="54864"/>
                  </a:lnTo>
                  <a:lnTo>
                    <a:pt x="78867" y="0"/>
                  </a:lnTo>
                </a:path>
              </a:pathLst>
            </a:custGeom>
            <a:noFill/>
            <a:ln w="18860">
              <a:solidFill>
                <a:srgbClr val="FFFFFF"/>
              </a:solidFill>
            </a:ln>
          </p:spPr>
        </p:sp>
        <p:sp>
          <p:nvSpPr>
            <p:cNvPr id="351" name="Verified list detail 0">
              <a:extLst>
                <a:ext uri="{FF2B5EF4-FFF2-40B4-BE49-F238E27FC236}">
                  <a16:creationId xmlns:a16="http://schemas.microsoft.com/office/drawing/2014/main" id="{B4EA62DE-9915-42DC-AB9E-84CCC2D56764}"/>
                </a:ext>
              </a:extLst>
            </p:cNvPr>
            <p:cNvSpPr>
              <a:spLocks noGrp="1"/>
            </p:cNvSpPr>
            <p:nvPr/>
          </p:nvSpPr>
          <p:spPr>
            <a:xfrm>
              <a:off x="14049375" y="7515225"/>
              <a:ext cx="1447800" cy="2095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1163" b="0">
                  <a:solidFill>
                    <a:srgbClr val="1E4664"/>
                  </a:solidFill>
                  <a:latin typeface="Arial Narrow"/>
                  <a:ea typeface="Arial Narrow"/>
                  <a:cs typeface="Arial Narrow"/>
                </a:defRPr>
              </a:pPr>
              <a:r>
                <a:rPr sz="1163" b="0">
                  <a:solidFill>
                    <a:srgbClr val="1E4664"/>
                  </a:solidFill>
                  <a:latin typeface="Times New Roman" panose="02020603050405020304" pitchFamily="18" charset="0"/>
                  <a:ea typeface="Arial Narrow"/>
                  <a:cs typeface="Times New Roman" panose="02020603050405020304" pitchFamily="18" charset="0"/>
                </a:rPr>
                <a:t>Pass verification</a:t>
              </a:r>
            </a:p>
          </p:txBody>
        </p:sp>
        <p:sp>
          <p:nvSpPr>
            <p:cNvPr id="352" name="Verified list check 1 circle">
              <a:extLst>
                <a:ext uri="{FF2B5EF4-FFF2-40B4-BE49-F238E27FC236}">
                  <a16:creationId xmlns:a16="http://schemas.microsoft.com/office/drawing/2014/main" id="{8CA32B13-3D65-4D1B-AD48-87E6FAA5B8F6}"/>
                </a:ext>
              </a:extLst>
            </p:cNvPr>
            <p:cNvSpPr>
              <a:spLocks noGrp="1"/>
            </p:cNvSpPr>
            <p:nvPr/>
          </p:nvSpPr>
          <p:spPr>
            <a:xfrm>
              <a:off x="13792200" y="7772400"/>
              <a:ext cx="171450" cy="171450"/>
            </a:xfrm>
            <a:prstGeom prst="ellipse">
              <a:avLst/>
            </a:prstGeom>
            <a:gradFill>
              <a:gsLst>
                <a:gs pos="0">
                  <a:srgbClr val="65BC6A"/>
                </a:gs>
                <a:gs pos="100000">
                  <a:srgbClr val="42AF5A"/>
                </a:gs>
              </a:gsLst>
              <a:lin ang="5400000"/>
            </a:gradFill>
            <a:ln w="10478">
              <a:solidFill>
                <a:srgbClr val="FFFFFF"/>
              </a:solidFill>
              <a:prstDash val="solid"/>
            </a:ln>
          </p:spPr>
        </p:sp>
        <p:sp>
          <p:nvSpPr>
            <p:cNvPr id="353" name="Verified list check 1 tick">
              <a:extLst>
                <a:ext uri="{FF2B5EF4-FFF2-40B4-BE49-F238E27FC236}">
                  <a16:creationId xmlns:a16="http://schemas.microsoft.com/office/drawing/2014/main" id="{A71ACE90-4767-423B-A368-BB100ECABAAA}"/>
                </a:ext>
              </a:extLst>
            </p:cNvPr>
            <p:cNvSpPr>
              <a:spLocks noGrp="1"/>
            </p:cNvSpPr>
            <p:nvPr/>
          </p:nvSpPr>
          <p:spPr>
            <a:xfrm>
              <a:off x="13840206" y="7832408"/>
              <a:ext cx="78867" cy="54864"/>
            </a:xfrm>
            <a:custGeom>
              <a:avLst/>
              <a:gdLst/>
              <a:ahLst/>
              <a:cxnLst/>
              <a:rect l="0" t="0" r="0" b="0"/>
              <a:pathLst>
                <a:path w="78867" h="54864">
                  <a:moveTo>
                    <a:pt x="0" y="29147"/>
                  </a:moveTo>
                  <a:lnTo>
                    <a:pt x="27432" y="54864"/>
                  </a:lnTo>
                  <a:lnTo>
                    <a:pt x="78867" y="0"/>
                  </a:lnTo>
                </a:path>
              </a:pathLst>
            </a:custGeom>
            <a:noFill/>
            <a:ln w="18860">
              <a:solidFill>
                <a:srgbClr val="FFFFFF"/>
              </a:solidFill>
            </a:ln>
          </p:spPr>
        </p:sp>
        <p:sp>
          <p:nvSpPr>
            <p:cNvPr id="354" name="Verified list detail 1">
              <a:extLst>
                <a:ext uri="{FF2B5EF4-FFF2-40B4-BE49-F238E27FC236}">
                  <a16:creationId xmlns:a16="http://schemas.microsoft.com/office/drawing/2014/main" id="{373DA156-F047-49CD-A2FC-35AE28BC7923}"/>
                </a:ext>
              </a:extLst>
            </p:cNvPr>
            <p:cNvSpPr>
              <a:spLocks noGrp="1"/>
            </p:cNvSpPr>
            <p:nvPr/>
          </p:nvSpPr>
          <p:spPr>
            <a:xfrm>
              <a:off x="14049375" y="7772400"/>
              <a:ext cx="1447800" cy="2095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1163" b="0">
                  <a:solidFill>
                    <a:srgbClr val="1E4664"/>
                  </a:solidFill>
                  <a:latin typeface="Arial Narrow"/>
                  <a:ea typeface="Arial Narrow"/>
                  <a:cs typeface="Arial Narrow"/>
                </a:defRPr>
              </a:pPr>
              <a:r>
                <a:rPr sz="1163" b="0">
                  <a:solidFill>
                    <a:srgbClr val="1E4664"/>
                  </a:solidFill>
                  <a:latin typeface="Times New Roman" panose="02020603050405020304" pitchFamily="18" charset="0"/>
                  <a:ea typeface="Arial Narrow"/>
                  <a:cs typeface="Times New Roman" panose="02020603050405020304" pitchFamily="18" charset="0"/>
                </a:rPr>
                <a:t>Preserve training behavior</a:t>
              </a:r>
            </a:p>
          </p:txBody>
        </p:sp>
        <p:sp>
          <p:nvSpPr>
            <p:cNvPr id="355" name="Verified list check 2 circle">
              <a:extLst>
                <a:ext uri="{FF2B5EF4-FFF2-40B4-BE49-F238E27FC236}">
                  <a16:creationId xmlns:a16="http://schemas.microsoft.com/office/drawing/2014/main" id="{C2F23040-1DA7-43AC-ABE6-322DEAB972E3}"/>
                </a:ext>
              </a:extLst>
            </p:cNvPr>
            <p:cNvSpPr>
              <a:spLocks noGrp="1"/>
            </p:cNvSpPr>
            <p:nvPr/>
          </p:nvSpPr>
          <p:spPr>
            <a:xfrm>
              <a:off x="13792200" y="8029575"/>
              <a:ext cx="171450" cy="171450"/>
            </a:xfrm>
            <a:prstGeom prst="ellipse">
              <a:avLst/>
            </a:prstGeom>
            <a:gradFill>
              <a:gsLst>
                <a:gs pos="0">
                  <a:srgbClr val="65BC6A"/>
                </a:gs>
                <a:gs pos="100000">
                  <a:srgbClr val="42AF5A"/>
                </a:gs>
              </a:gsLst>
              <a:lin ang="5400000"/>
            </a:gradFill>
            <a:ln w="10478">
              <a:solidFill>
                <a:srgbClr val="FFFFFF"/>
              </a:solidFill>
              <a:prstDash val="solid"/>
            </a:ln>
          </p:spPr>
        </p:sp>
        <p:sp>
          <p:nvSpPr>
            <p:cNvPr id="356" name="Verified list check 2 tick">
              <a:extLst>
                <a:ext uri="{FF2B5EF4-FFF2-40B4-BE49-F238E27FC236}">
                  <a16:creationId xmlns:a16="http://schemas.microsoft.com/office/drawing/2014/main" id="{61BCDFD1-091E-4F65-A7CC-0AE8721325D3}"/>
                </a:ext>
              </a:extLst>
            </p:cNvPr>
            <p:cNvSpPr>
              <a:spLocks noGrp="1"/>
            </p:cNvSpPr>
            <p:nvPr/>
          </p:nvSpPr>
          <p:spPr>
            <a:xfrm>
              <a:off x="13840206" y="8089583"/>
              <a:ext cx="78867" cy="54864"/>
            </a:xfrm>
            <a:custGeom>
              <a:avLst/>
              <a:gdLst/>
              <a:ahLst/>
              <a:cxnLst/>
              <a:rect l="0" t="0" r="0" b="0"/>
              <a:pathLst>
                <a:path w="78867" h="54864">
                  <a:moveTo>
                    <a:pt x="0" y="29147"/>
                  </a:moveTo>
                  <a:lnTo>
                    <a:pt x="27432" y="54864"/>
                  </a:lnTo>
                  <a:lnTo>
                    <a:pt x="78867" y="0"/>
                  </a:lnTo>
                </a:path>
              </a:pathLst>
            </a:custGeom>
            <a:noFill/>
            <a:ln w="18860">
              <a:solidFill>
                <a:srgbClr val="FFFFFF"/>
              </a:solidFill>
            </a:ln>
          </p:spPr>
        </p:sp>
        <p:sp>
          <p:nvSpPr>
            <p:cNvPr id="357" name="Verified list detail 2">
              <a:extLst>
                <a:ext uri="{FF2B5EF4-FFF2-40B4-BE49-F238E27FC236}">
                  <a16:creationId xmlns:a16="http://schemas.microsoft.com/office/drawing/2014/main" id="{4D3EA922-E2CF-499D-B618-EA9FE6FCA055}"/>
                </a:ext>
              </a:extLst>
            </p:cNvPr>
            <p:cNvSpPr>
              <a:spLocks noGrp="1"/>
            </p:cNvSpPr>
            <p:nvPr/>
          </p:nvSpPr>
          <p:spPr>
            <a:xfrm>
              <a:off x="14049375" y="8029575"/>
              <a:ext cx="1447800" cy="2095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>
                <a:defRPr sz="1163" b="0">
                  <a:solidFill>
                    <a:srgbClr val="1E4664"/>
                  </a:solidFill>
                  <a:latin typeface="Arial Narrow"/>
                  <a:ea typeface="Arial Narrow"/>
                  <a:cs typeface="Arial Narrow"/>
                </a:defRPr>
              </a:pPr>
              <a:r>
                <a:rPr sz="1163" b="0">
                  <a:solidFill>
                    <a:srgbClr val="1E4664"/>
                  </a:solidFill>
                  <a:latin typeface="Times New Roman" panose="02020603050405020304" pitchFamily="18" charset="0"/>
                  <a:ea typeface="Arial Narrow"/>
                  <a:cs typeface="Times New Roman" panose="02020603050405020304" pitchFamily="18" charset="0"/>
                </a:rPr>
                <a:t>Ready for downstream use</a:t>
              </a: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3C0A73BE-E9A9-9A91-3082-6CEE2C351297}"/>
              </a:ext>
            </a:extLst>
          </p:cNvPr>
          <p:cNvSpPr txBox="1"/>
          <p:nvPr/>
        </p:nvSpPr>
        <p:spPr>
          <a:xfrm>
            <a:off x="10126663" y="5022850"/>
            <a:ext cx="147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········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9616124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614</TotalTime>
  <Words>373</Words>
  <Application>Microsoft Office PowerPoint</Application>
  <DocSecurity>0</DocSecurity>
  <PresentationFormat>自定义</PresentationFormat>
  <Paragraphs>94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Calibri</vt:lpstr>
      <vt:lpstr>Consolas</vt:lpstr>
      <vt:lpstr>Times New Roman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jayus X</cp:lastModifiedBy>
  <cp:revision>3</cp:revision>
  <dcterms:created xsi:type="dcterms:W3CDTF">2026-09-11T08:42:40Z</dcterms:created>
  <dcterms:modified xsi:type="dcterms:W3CDTF">2026-09-24T15:43:51Z</dcterms:modified>
</cp:coreProperties>
</file>