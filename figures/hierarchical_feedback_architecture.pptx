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68000" cy="4762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90500" y="190500"/>
            <a:ext cx="2000250" cy="2428875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90500" y="190500"/>
            <a:ext cx="2000250" cy="3048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t>  Source Codebase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5900" y="247649"/>
            <a:ext cx="628650" cy="17145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(Ls, Fs)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" y="552450"/>
            <a:ext cx="1857375" cy="9048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E293B"/>
                </a:solidFill>
                <a:latin typeface="Times New Roman"/>
              </a:defRPr>
            </a:pPr>
            <a:r>
              <a:t>Multi-File Repository P:</a:t>
            </a:r>
            <a:br/>
            <a:r>
              <a:t>├── models/ (nn.Module / layers)</a:t>
            </a:r>
            <a:br/>
            <a:r>
              <a:t>├── train_step.py (forward &amp; loss)</a:t>
            </a:r>
            <a:br/>
            <a:r>
              <a:t>├── optim.py (optimizer &amp; lr)</a:t>
            </a:r>
            <a:br/>
            <a:r>
              <a:t>└── pipeline.ipynb (notebook cells)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" y="1571625"/>
            <a:ext cx="1857375" cy="333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50" b="1">
                <a:solidFill>
                  <a:srgbClr val="334155"/>
                </a:solidFill>
                <a:latin typeface="Times New Roman"/>
              </a:defRPr>
            </a:pPr>
            <a:r>
              <a:t>Cross-Language &amp; Framework:</a:t>
            </a:r>
            <a:br/>
            <a:r>
              <a:t>Python (PyTorch) • Java (DJL) • C++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" y="2000250"/>
            <a:ext cx="1857375" cy="428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4338CA"/>
                </a:solidFill>
                <a:latin typeface="Times New Roman"/>
              </a:defRPr>
            </a:pPr>
            <a:r>
              <a:t>Migration Task Specification:</a:t>
            </a:r>
            <a:br/>
            <a:r>
              <a:t>T = (P, Ls, Fs, Lt, Ft, 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8875" y="190500"/>
            <a:ext cx="1666875" cy="2428875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28875" y="190500"/>
            <a:ext cx="1666875" cy="3048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72A"/>
                </a:solidFill>
                <a:latin typeface="Times New Roman"/>
              </a:defRPr>
            </a:pPr>
            <a:r>
              <a:t>  Translator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150" y="247649"/>
            <a:ext cx="533400" cy="17145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Role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075" y="590550"/>
            <a:ext cx="1524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E293B"/>
                </a:solidFill>
                <a:latin typeface="Times New Roman"/>
              </a:defRPr>
            </a:pPr>
            <a:r>
              <a:t>Zero-Shot Translation:</a:t>
            </a:r>
            <a:br/>
            <a:r>
              <a:t>• Cross-framework API map</a:t>
            </a:r>
            <a:br/>
            <a:r>
              <a:t>• Target syntax synthesis</a:t>
            </a:r>
            <a:br/>
            <a:r>
              <a:t>• Module topology preserve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19375" y="1571625"/>
            <a:ext cx="1285875" cy="20955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166534"/>
                </a:solidFill>
                <a:latin typeface="Times New Roman"/>
              </a:defRPr>
            </a:pPr>
            <a:r>
              <a:t>Initial Candidate P̂^(0)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5075" y="1857375"/>
            <a:ext cx="1524000" cy="428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15803D"/>
                </a:solidFill>
                <a:latin typeface="Times New Roman"/>
              </a:defRPr>
            </a:pPr>
            <a:r>
              <a:t>Executable target code</a:t>
            </a:r>
            <a:br/>
            <a:r>
              <a:t>May contain semantic drift</a:t>
            </a:r>
            <a:br/>
            <a:r>
              <a:t>Forward to Verifier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3875" y="190500"/>
            <a:ext cx="3571875" cy="2428875"/>
          </a:xfrm>
          <a:prstGeom prst="roundRect">
            <a:avLst/>
          </a:prstGeom>
          <a:solidFill>
            <a:srgbClr val="F0F7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3875" y="190500"/>
            <a:ext cx="3571875" cy="304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1E40AF"/>
                </a:solidFill>
                <a:latin typeface="Times New Roman"/>
              </a:defRPr>
            </a:pPr>
            <a:r>
              <a:t>  Verifier Agent: Layered Diagnosis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2750" y="247649"/>
            <a:ext cx="523874" cy="17145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Role AV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4250" y="247649"/>
            <a:ext cx="495299" cy="17145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Read-Only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9125" y="571500"/>
            <a:ext cx="3381375" cy="304800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86275" y="609600"/>
            <a:ext cx="1000125" cy="20955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FFFFF"/>
                </a:solidFill>
                <a:latin typeface="Times New Roman"/>
              </a:defRPr>
            </a:pPr>
            <a:r>
              <a:t>1. Execution d_exec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2125" y="619125"/>
            <a:ext cx="5715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Times New Roman"/>
              </a:defRPr>
            </a:pPr>
            <a:r>
              <a:t>1[e_t ≠ ê_t]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8875" y="619125"/>
            <a:ext cx="15240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Times New Roman"/>
              </a:defRPr>
            </a:pPr>
            <a:r>
              <a:t>Exceptions, missing APIs, shape errors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9125" y="952500"/>
            <a:ext cx="3381375" cy="30480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86275" y="990599"/>
            <a:ext cx="1000125" cy="20955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FFFFF"/>
                </a:solidFill>
                <a:latin typeface="Times New Roman"/>
              </a:defRPr>
            </a:pPr>
            <a:r>
              <a:t>2. Forward d_fwd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2125" y="1000125"/>
            <a:ext cx="5715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Times New Roman"/>
              </a:defRPr>
            </a:pPr>
            <a:r>
              <a:t>v_t − v̂_t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8875" y="1000125"/>
            <a:ext cx="15240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92400E"/>
                </a:solidFill>
                <a:latin typeface="Times New Roman"/>
              </a:defRPr>
            </a:pPr>
            <a:r>
              <a:t>Loss divergence, activations, reductions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29125" y="1333500"/>
            <a:ext cx="3381375" cy="304800"/>
          </a:xfrm>
          <a:prstGeom prst="roundRect">
            <a:avLst/>
          </a:prstGeom>
          <a:solidFill>
            <a:srgbClr val="FAF5FF"/>
          </a:solidFill>
          <a:ln w="1016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86275" y="1371600"/>
            <a:ext cx="1000125" cy="20955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FFFFF"/>
                </a:solidFill>
                <a:latin typeface="Times New Roman"/>
              </a:defRPr>
            </a:pPr>
            <a:r>
              <a:t>3. Gradient d_grad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2125" y="1381125"/>
            <a:ext cx="5715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B21A8"/>
                </a:solidFill>
                <a:latin typeface="Times New Roman"/>
              </a:defRPr>
            </a:pPr>
            <a:r>
              <a:t>g_t − ĝ_t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8875" y="1381125"/>
            <a:ext cx="15240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B21A8"/>
                </a:solidFill>
                <a:latin typeface="Times New Roman"/>
              </a:defRPr>
            </a:pPr>
            <a:r>
              <a:t>Autodiff graph cuts, parameter registration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29125" y="1714500"/>
            <a:ext cx="3381375" cy="3048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6275" y="1752600"/>
            <a:ext cx="1000125" cy="20955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FFFFF"/>
                </a:solidFill>
                <a:latin typeface="Times New Roman"/>
              </a:defRPr>
            </a:pPr>
            <a:r>
              <a:t>4. Update d_upd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2125" y="1762125"/>
            <a:ext cx="5715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166534"/>
                </a:solidFill>
                <a:latin typeface="Times New Roman"/>
              </a:defRPr>
            </a:pPr>
            <a:r>
              <a:t>Δθ_t − Δθ̂_t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8875" y="1762125"/>
            <a:ext cx="1524000" cy="190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166534"/>
                </a:solidFill>
                <a:latin typeface="Times New Roman"/>
              </a:defRPr>
            </a:pPr>
            <a:r>
              <a:t>Optimizer rules, momentum, weight decay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29125" y="2143125"/>
            <a:ext cx="3381375" cy="2381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50" b="1">
                <a:solidFill>
                  <a:srgbClr val="1E40AF"/>
                </a:solidFill>
                <a:latin typeface="Times New Roman"/>
              </a:defRPr>
            </a:pPr>
            <a:r>
              <a:t>Synthesizes scratch tests • Isolates root cause &amp; emits Evidence 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29625" y="190500"/>
            <a:ext cx="2047875" cy="2428875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29625" y="190500"/>
            <a:ext cx="2047875" cy="304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15803D"/>
                </a:solidFill>
                <a:latin typeface="Times New Roman"/>
              </a:defRPr>
            </a:pPr>
            <a:r>
              <a:t>  Repair 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5950" y="247649"/>
            <a:ext cx="457200" cy="17145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Role 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01250" y="247649"/>
            <a:ext cx="428625" cy="17145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Scope 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4875" y="590550"/>
            <a:ext cx="1857375" cy="476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E293B"/>
                </a:solidFill>
                <a:latin typeface="Times New Roman"/>
              </a:defRPr>
            </a:pPr>
            <a:r>
              <a:t>Attributed Evidence E:</a:t>
            </a:r>
            <a:br/>
            <a:r>
              <a:t>• Verified fault location &amp; cause</a:t>
            </a:r>
            <a:br/>
            <a:r>
              <a:t>• Distinguishing test assertions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4875" y="1162050"/>
            <a:ext cx="1857375" cy="6191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E293B"/>
                </a:solidFill>
                <a:latin typeface="Times New Roman"/>
              </a:defRPr>
            </a:pPr>
            <a:r>
              <a:t>Interactive Code Patching:</a:t>
            </a:r>
            <a:br/>
            <a:r>
              <a:t>• Edits files in scope W</a:t>
            </a:r>
            <a:br/>
            <a:r>
              <a:t>• Local syntax &amp; unit tests</a:t>
            </a:r>
            <a:br/>
            <a:r>
              <a:t>• Validates candidate invariants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72500" y="1905000"/>
            <a:ext cx="1762125" cy="26670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Times New Roman"/>
              </a:defRPr>
            </a:pPr>
            <a:r>
              <a:t>Submit Candidate P̂^(k)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0500" y="2857500"/>
            <a:ext cx="5524500" cy="17145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0500" y="2857500"/>
            <a:ext cx="5524500" cy="3048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92400E"/>
                </a:solidFill>
                <a:latin typeface="Times New Roman"/>
              </a:defRPr>
            </a:pPr>
            <a:r>
              <a:t>  Orchestrator O (Differential Verification Engine)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76625" y="2914650"/>
            <a:ext cx="1524000" cy="17145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Deterministic Harness (No LLM)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67300" y="2914650"/>
            <a:ext cx="571500" cy="171450"/>
          </a:xfrm>
          <a:prstGeom prst="round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Budget 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5750" y="3257550"/>
            <a:ext cx="2143125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1E293B"/>
                </a:solidFill>
                <a:latin typeface="Times New Roman"/>
              </a:defRPr>
            </a:pPr>
            <a:r>
              <a:t>Target Execution (Lt, Ft):</a:t>
            </a:r>
            <a:br/>
            <a:r>
              <a:t>• MindSpore, JAX, PyTorch adapters</a:t>
            </a:r>
            <a:br/>
            <a:r>
              <a:t>• Per-step synchronization with (Ls, Fs)</a:t>
            </a:r>
            <a:br/>
            <a:r>
              <a:t>• Extracts (e_t, v_t, g_t, Δθ_t) vs (ê_t, v̂_t, ĝ_t, Δθ̂_t)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24125" y="3257550"/>
            <a:ext cx="3095625" cy="428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E293B"/>
                </a:solidFill>
                <a:latin typeface="Times New Roman"/>
              </a:defRPr>
            </a:pPr>
            <a:r>
              <a:t>Multi-Stage Tolerance Verification:</a:t>
            </a:r>
            <a:br/>
            <a:r>
              <a:t>Numerical bounds: |d_j| ≤ α + β |x_j| for all training tensors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00325" y="3695700"/>
            <a:ext cx="1428750" cy="247649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Times New Roman"/>
              </a:defRPr>
            </a:pPr>
            <a:r>
              <a:t>✓ Accepted Migration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0" y="3695700"/>
            <a:ext cx="1428750" cy="24764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Times New Roman"/>
              </a:defRPr>
            </a:pPr>
            <a:r>
              <a:t>Measurements S.m (d ≄ 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5750" y="4210050"/>
            <a:ext cx="5334000" cy="2381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92400E"/>
                </a:solidFill>
                <a:latin typeface="Times New Roman"/>
              </a:defRPr>
            </a:pPr>
            <a:r>
              <a:t>Manages shared model call allowance b and task submission budget 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05500" y="2857500"/>
            <a:ext cx="4572000" cy="1714500"/>
          </a:xfrm>
          <a:prstGeom prst="roundRect">
            <a:avLst/>
          </a:prstGeom>
          <a:solidFill>
            <a:srgbClr val="FAF5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05500" y="2857500"/>
            <a:ext cx="4572000" cy="3048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5B21B6"/>
                </a:solidFill>
                <a:latin typeface="Times New Roman"/>
              </a:defRPr>
            </a:pPr>
            <a:r>
              <a:t>  Repository Coordination &amp; Context Management 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29750" y="2914650"/>
            <a:ext cx="971550" cy="17145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  <a:latin typeface="Times New Roman"/>
              </a:defRPr>
            </a:pPr>
            <a:r>
              <a:t>Multi-File Scope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00750" y="3257550"/>
            <a:ext cx="2143125" cy="523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1E293B"/>
                </a:solidFill>
                <a:latin typeface="Times New Roman"/>
              </a:defRPr>
            </a:pPr>
            <a:r>
              <a:t>1. Dependency Graph Map(T):</a:t>
            </a:r>
            <a:br/>
            <a:r>
              <a:t>Multi-file symbols, imports, calls</a:t>
            </a:r>
            <a:br/>
            <a:r>
              <a:t>Shared interfaces &amp; notebook cells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9124" y="3257550"/>
            <a:ext cx="2143125" cy="523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1E293B"/>
                </a:solidFill>
                <a:latin typeface="Times New Roman"/>
              </a:defRPr>
            </a:pPr>
            <a:r>
              <a:t>2. Work Units &amp; Scopes:</a:t>
            </a:r>
            <a:br/>
            <a:r>
              <a:t>Proposed sub-task decomposition</a:t>
            </a:r>
            <a:br/>
            <a:r>
              <a:t>Prerequisite checkpoint ordering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00750" y="3886200"/>
            <a:ext cx="2143125" cy="523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1E293B"/>
                </a:solidFill>
                <a:latin typeface="Times New Roman"/>
              </a:defRPr>
            </a:pPr>
            <a:r>
              <a:t>3. Caller Invalidation:</a:t>
            </a:r>
            <a:br/>
            <a:r>
              <a:t>Code edit invalidates affected callers</a:t>
            </a:r>
            <a:br/>
            <a:r>
              <a:t>Checkpoints mark verified invariants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39124" y="3886200"/>
            <a:ext cx="2143125" cy="523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1E293B"/>
                </a:solidFill>
                <a:latin typeface="Times New Roman"/>
              </a:defRPr>
            </a:pPr>
            <a:r>
              <a:t>4. Context Archiving &amp; Rebuilding:</a:t>
            </a:r>
            <a:br/>
            <a:r>
              <a:t>Archives observations across limit</a:t>
            </a:r>
            <a:br/>
            <a:r>
              <a:t>Rebuilds active context around plan &amp;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