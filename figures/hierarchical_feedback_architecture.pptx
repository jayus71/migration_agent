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972800" cy="4983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aDiM: autonomous investigation and repair"/>
          <p:cNvSpPr txBox="1"/>
          <p:nvPr/>
        </p:nvSpPr>
        <p:spPr>
          <a:xfrm>
            <a:off x="146304" y="9144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7212B"/>
                </a:solidFill>
                <a:latin typeface="Times New Roman"/>
              </a:defRPr>
            </a:pPr>
            <a:r>
              <a:t>LaDiM: autonomous investigation and repair</a:t>
            </a:r>
          </a:p>
        </p:txBody>
      </p:sp>
      <p:sp>
        <p:nvSpPr>
          <p:cNvPr id="3" name="Public inputs"/>
          <p:cNvSpPr/>
          <p:nvPr/>
        </p:nvSpPr>
        <p:spPr>
          <a:xfrm>
            <a:off x="137160" y="731520"/>
            <a:ext cx="2834640" cy="1508760"/>
          </a:xfrm>
          <a:prstGeom prst="rect">
            <a:avLst/>
          </a:prstGeom>
          <a:solidFill>
            <a:srgbClr val="F1F3F5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ublic inputs"/>
          <p:cNvSpPr txBox="1"/>
          <p:nvPr/>
        </p:nvSpPr>
        <p:spPr>
          <a:xfrm>
            <a:off x="283464" y="841248"/>
            <a:ext cx="254203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Public inputs</a:t>
            </a:r>
          </a:p>
        </p:txBody>
      </p:sp>
      <p:sp>
        <p:nvSpPr>
          <p:cNvPr id="5" name="Source program when available | Initial candidate and library | Public task contract"/>
          <p:cNvSpPr txBox="1"/>
          <p:nvPr/>
        </p:nvSpPr>
        <p:spPr>
          <a:xfrm>
            <a:off x="283464" y="1325880"/>
            <a:ext cx="254203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Source program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Initial target candidate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Public task contract</a:t>
            </a:r>
          </a:p>
        </p:txBody>
      </p:sp>
      <p:sp>
        <p:nvSpPr>
          <p:cNvPr id="6" name="Independent Verifier"/>
          <p:cNvSpPr/>
          <p:nvPr/>
        </p:nvSpPr>
        <p:spPr>
          <a:xfrm>
            <a:off x="3657600" y="731520"/>
            <a:ext cx="2971800" cy="1508760"/>
          </a:xfrm>
          <a:prstGeom prst="rect">
            <a:avLst/>
          </a:prstGeom>
          <a:solidFill>
            <a:srgbClr val="E8F2F9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dependent Verifier"/>
          <p:cNvSpPr txBox="1"/>
          <p:nvPr/>
        </p:nvSpPr>
        <p:spPr>
          <a:xfrm>
            <a:off x="3803904" y="841248"/>
            <a:ext cx="26791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Independent Verifier</a:t>
            </a:r>
          </a:p>
        </p:txBody>
      </p:sp>
      <p:sp>
        <p:nvSpPr>
          <p:cNvPr id="8" name="Read and search public code | Run tests; write scratch tests | Infer hypotheses and locations"/>
          <p:cNvSpPr txBox="1"/>
          <p:nvPr/>
        </p:nvSpPr>
        <p:spPr>
          <a:xfrm>
            <a:off x="3803904" y="1325880"/>
            <a:ext cx="267919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Read and search public code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Run tests; write scratch tests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Infer hypotheses and locations</a:t>
            </a:r>
          </a:p>
        </p:txBody>
      </p:sp>
      <p:sp>
        <p:nvSpPr>
          <p:cNvPr id="9" name="Fixer"/>
          <p:cNvSpPr/>
          <p:nvPr/>
        </p:nvSpPr>
        <p:spPr>
          <a:xfrm>
            <a:off x="7315200" y="731520"/>
            <a:ext cx="3383280" cy="1508760"/>
          </a:xfrm>
          <a:prstGeom prst="rect">
            <a:avLst/>
          </a:prstGeom>
          <a:solidFill>
            <a:srgbClr val="EDF5EC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xer"/>
          <p:cNvSpPr txBox="1"/>
          <p:nvPr/>
        </p:nvSpPr>
        <p:spPr>
          <a:xfrm>
            <a:off x="7461504" y="841248"/>
            <a:ext cx="30906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Fixer</a:t>
            </a:r>
          </a:p>
        </p:txBody>
      </p:sp>
      <p:sp>
        <p:nvSpPr>
          <p:cNvPr id="11" name="Inspect the verifier's evidence | Edit candidate or library | Retain history across retries"/>
          <p:cNvSpPr txBox="1"/>
          <p:nvPr/>
        </p:nvSpPr>
        <p:spPr>
          <a:xfrm>
            <a:off x="7461504" y="1325880"/>
            <a:ext cx="309067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Inspect the verifier's evidence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Edit permitted program code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Retain history across retries</a:t>
            </a:r>
          </a:p>
        </p:txBody>
      </p:sp>
      <p:sp>
        <p:nvSpPr>
          <p:cNvPr id="12" name="Target execution"/>
          <p:cNvSpPr/>
          <p:nvPr/>
        </p:nvSpPr>
        <p:spPr>
          <a:xfrm>
            <a:off x="137160" y="3017520"/>
            <a:ext cx="2834640" cy="1508760"/>
          </a:xfrm>
          <a:prstGeom prst="rect">
            <a:avLst/>
          </a:prstGeom>
          <a:solidFill>
            <a:srgbClr val="F1F3F5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arget execution"/>
          <p:cNvSpPr txBox="1"/>
          <p:nvPr/>
        </p:nvSpPr>
        <p:spPr>
          <a:xfrm>
            <a:off x="283464" y="3127248"/>
            <a:ext cx="254203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Target execution</a:t>
            </a:r>
          </a:p>
        </p:txBody>
      </p:sp>
      <p:sp>
        <p:nvSpPr>
          <p:cNvPr id="14" name="MindSpore via torch4ms | JAX via TorchAX | Observe actual backend execution"/>
          <p:cNvSpPr txBox="1"/>
          <p:nvPr/>
        </p:nvSpPr>
        <p:spPr>
          <a:xfrm>
            <a:off x="283464" y="3611879"/>
            <a:ext cx="254203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MindSpore and PyTorch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JAX via TorchAX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Measure backend computations</a:t>
            </a:r>
          </a:p>
        </p:txBody>
      </p:sp>
      <p:sp>
        <p:nvSpPr>
          <p:cNvPr id="15" name="External acceptance"/>
          <p:cNvSpPr/>
          <p:nvPr/>
        </p:nvSpPr>
        <p:spPr>
          <a:xfrm>
            <a:off x="3657600" y="3017520"/>
            <a:ext cx="2971800" cy="1508760"/>
          </a:xfrm>
          <a:prstGeom prst="rect">
            <a:avLst/>
          </a:prstGeom>
          <a:solidFill>
            <a:srgbClr val="FFF2DF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ternal acceptance"/>
          <p:cNvSpPr txBox="1"/>
          <p:nvPr/>
        </p:nvSpPr>
        <p:spPr>
          <a:xfrm>
            <a:off x="3803904" y="3127248"/>
            <a:ext cx="26791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External acceptance</a:t>
            </a:r>
          </a:p>
        </p:txBody>
      </p:sp>
      <p:sp>
        <p:nvSpPr>
          <p:cNvPr id="17" name="Execution and forward values | Gradients and parameter updates | Contract and confirmation checks"/>
          <p:cNvSpPr txBox="1"/>
          <p:nvPr/>
        </p:nvSpPr>
        <p:spPr>
          <a:xfrm>
            <a:off x="3803904" y="3611879"/>
            <a:ext cx="267919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Execution and forward values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Gradients and parameter updates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Contract and confirmation checks</a:t>
            </a:r>
          </a:p>
        </p:txBody>
      </p:sp>
      <p:sp>
        <p:nvSpPr>
          <p:cNvPr id="18" name="Workspace and history"/>
          <p:cNvSpPr/>
          <p:nvPr/>
        </p:nvSpPr>
        <p:spPr>
          <a:xfrm>
            <a:off x="7315200" y="3017520"/>
            <a:ext cx="3383280" cy="1508760"/>
          </a:xfrm>
          <a:prstGeom prst="rect">
            <a:avLst/>
          </a:prstGeom>
          <a:solidFill>
            <a:srgbClr val="F1F3F5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Workspace and history"/>
          <p:cNvSpPr txBox="1"/>
          <p:nvPr/>
        </p:nvSpPr>
        <p:spPr>
          <a:xfrm>
            <a:off x="7461504" y="3127248"/>
            <a:ext cx="30906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Workspace and history</a:t>
            </a:r>
          </a:p>
        </p:txBody>
      </p:sp>
      <p:sp>
        <p:nvSpPr>
          <p:cNvPr id="20" name="Current candidate and library | Recorded edits and observations | Shared lifetime budget"/>
          <p:cNvSpPr txBox="1"/>
          <p:nvPr/>
        </p:nvSpPr>
        <p:spPr>
          <a:xfrm>
            <a:off x="7461504" y="3611879"/>
            <a:ext cx="309067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Current candidate and tests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Recorded edits and observations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Shared lifetime budget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71800" y="1554480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629400" y="1554480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vidence"/>
          <p:cNvSpPr txBox="1"/>
          <p:nvPr/>
        </p:nvSpPr>
        <p:spPr>
          <a:xfrm>
            <a:off x="6656832" y="1115568"/>
            <a:ext cx="65836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7212B"/>
                </a:solidFill>
                <a:latin typeface="Times New Roman"/>
              </a:defRPr>
            </a:pPr>
            <a:r>
              <a:t>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06840" y="2240280"/>
            <a:ext cx="0" cy="77724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yntax-checked edits"/>
          <p:cNvSpPr txBox="1"/>
          <p:nvPr/>
        </p:nvSpPr>
        <p:spPr>
          <a:xfrm>
            <a:off x="9134856" y="2432304"/>
            <a:ext cx="15087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7212B"/>
                </a:solidFill>
                <a:latin typeface="Times New Roman"/>
              </a:defRPr>
            </a:pPr>
            <a:r>
              <a:t>syntax-checked edits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629400" y="3977639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971800" y="3749039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629400" y="3337560"/>
            <a:ext cx="329184" cy="0"/>
          </a:xfrm>
          <a:prstGeom prst="line">
            <a:avLst/>
          </a:prstGeom>
          <a:ln w="19050">
            <a:solidFill>
              <a:srgbClr val="465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958584" y="1874519"/>
            <a:ext cx="0" cy="1463041"/>
          </a:xfrm>
          <a:prstGeom prst="line">
            <a:avLst/>
          </a:prstGeom>
          <a:ln w="19050">
            <a:solidFill>
              <a:srgbClr val="465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8584" y="1874519"/>
            <a:ext cx="356616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ailed checks | and measurements"/>
          <p:cNvSpPr txBox="1"/>
          <p:nvPr/>
        </p:nvSpPr>
        <p:spPr>
          <a:xfrm>
            <a:off x="4846320" y="2340864"/>
            <a:ext cx="2057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7212B"/>
                </a:solidFill>
                <a:latin typeface="Times New Roman"/>
              </a:defRPr>
            </a:pPr>
            <a:r>
              <a:t>failed checks</a:t>
            </a:r>
          </a:p>
          <a:p>
            <a:pPr>
              <a:spcAft>
                <a:spcPts val="500"/>
              </a:spcAft>
              <a:defRPr sz="1200" b="0">
                <a:solidFill>
                  <a:srgbClr val="17212B"/>
                </a:solidFill>
                <a:latin typeface="Times New Roman"/>
              </a:defRPr>
            </a:pPr>
            <a:r>
              <a:t>and measurements</a:t>
            </a:r>
          </a:p>
        </p:txBody>
      </p:sp>
      <p:sp>
        <p:nvSpPr>
          <p:cNvPr id="32" name="Accept after passing checks; stop when the shared budget is exhausted."/>
          <p:cNvSpPr txBox="1"/>
          <p:nvPr/>
        </p:nvSpPr>
        <p:spPr>
          <a:xfrm>
            <a:off x="1920240" y="4645152"/>
            <a:ext cx="8778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7212B"/>
                </a:solidFill>
                <a:latin typeface="Times New Roman"/>
              </a:defRPr>
            </a:pPr>
            <a:r>
              <a:t>Accept after passing checks; stop when the shared budget is exhausted.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